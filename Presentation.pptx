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76" r:id="rId4"/>
    <p:sldId id="259" r:id="rId5"/>
    <p:sldId id="279" r:id="rId6"/>
    <p:sldId id="277" r:id="rId7"/>
    <p:sldId id="280" r:id="rId8"/>
    <p:sldId id="282" r:id="rId9"/>
    <p:sldId id="283" r:id="rId10"/>
    <p:sldId id="284" r:id="rId11"/>
    <p:sldId id="285" r:id="rId12"/>
    <p:sldId id="286" r:id="rId13"/>
    <p:sldId id="287" r:id="rId14"/>
    <p:sldId id="288" r:id="rId15"/>
    <p:sldId id="290" r:id="rId16"/>
    <p:sldId id="291" r:id="rId17"/>
    <p:sldId id="292" r:id="rId18"/>
    <p:sldId id="293" r:id="rId19"/>
    <p:sldId id="294" r:id="rId20"/>
    <p:sldId id="267" r:id="rId21"/>
    <p:sldId id="295" r:id="rId22"/>
    <p:sldId id="296" r:id="rId23"/>
    <p:sldId id="297" r:id="rId24"/>
    <p:sldId id="298" r:id="rId25"/>
    <p:sldId id="299" r:id="rId26"/>
    <p:sldId id="301" r:id="rId27"/>
    <p:sldId id="275" r:id="rId28"/>
    <p:sldId id="302" r:id="rId29"/>
    <p:sldId id="304" r:id="rId30"/>
    <p:sldId id="278" r:id="rId31"/>
    <p:sldId id="307" r:id="rId32"/>
    <p:sldId id="306" r:id="rId33"/>
    <p:sldId id="30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451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Chào hỏi, giới thiệu tên đề tài và 3 thành viên. Nói ngắn gọn: nhóm áp dụng 3 kỹ thuật Data Mining trên cùng 1 bộ dữ liệu thật.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[0:20–0:35] Lướt nhanh mục lục, nói rõ sẽ đi theo đúng quy trình CRISP-DM.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nghiệp là một đơn vị bán lẻ/bán buôn trực tuyến tại Anh. Câu hỏi trung tâm là hiểu và giữ chân khách hàng. Nhóm chia thành 3 góc nhìn bổ trợ: MBA trả lời sản phẩm nào đi cùng nhau, RFM trả lời khách nào đáng giá, Churn trả lời khách nào sắp rời bỏ. Ba câu hỏi này liên kết chặt: phân khúc cho biết 'ai', churn cho biết 'khi nào', MBA cho biết 'bán gì'.</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 Thành viên: Huân]
Đây là bảng chuyển hoá từ mục tiêu nghiệp vụ sang mục tiêu khai phá dữ liệu — bước đầu tiên của CRISP-DM.
Ví dụ: doanh nghiệp muốn tăng giá trị đơn hàng → mục tiêu khai phá là tìm tập sản phẩm hay được mua cùng nhau → dùng Apriori/FP-Growth.
Phạm vi: nhóm tập trung vào phân tích trên dữ liệu lịch sử và đề xuất hành động; không triển khai hệ thống thời gian thực, không kiểm chứng A/B test, và không kết luận nhân quả.
[Ghi chú: phần 'ngoài phạm vi' là do nhóm tự xác định để giữ dự án khả thi trong thời gian còn lại của học kỳ.]</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giây — Thành viên: Huân]
Nhóm theo CRISP-DM. Các pha 1, 2, 3 — hiểu nghiệp vụ, hiểu dữ liệu, chuẩn bị dữ liệu — đã hoàn thành và có minh chứng bằng code chạy được. Pha Modeling và Evaluation đã có kết quả sơ bộ; nhóm sẽ trình bày ở phần sau.
Sơ đồ dưới cho thấy luồng dữ liệu: một file Excel thô → Notebook 1 khám phá → Notebook 2 làm sạch và sinh ra 3 file CSV, mỗi file phục vụ một kỹ thuật → Notebook 6 tổng hợp và đối chiếu chéo.
Toàn bộ code dùng chung được tổ chức theo module trong thư mục Source, các notebook chỉ gọi hàm — đảm bảo pipeline chạy lại được từ đầu đến cuối.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dữ liệu là Online Retail II của UCI, hơn 1 triệu dòng giao dịch thật trong 2 năm. Phạm vi được chốt rõ ràng: 3 pipeline khai phá trên cùng một nguồn. Tính khả thi đã được chứng minh vì toàn bộ pipeline hiện đã chạy được từ đầu đến cuối.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Data Understanding — trọng số 40% ở rubric giữa kỳ. Nhóm đã phân tích 7 nhóm vấn đề chất lượng dữ liệu, mỗi vấn đề đều có số liệu định lượng và quyết định xử lý có căn cứ. Điểm đáng chú ý: mã phi sản phẩm chỉ chiếm 0.55% số dòng nhưng chiếm 4.05% giá trị giao dịch dương, vì vậy nếu không loại sẽ làm sai lệch cả MBA lẫn Monetary của RFM.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1 là biểu đồ missing values — Customer ID thiếu 22.77%. Đây là quyết định quan trọng vì MBA không cần Customer ID nên giữ lại để không mất 22.8% dữ liệu, còn RFM và Churn bắt buộc loại. Hình 2: dữ liệu tập trung 91.94% ở UK, nên kết luận cần được diễn giải với lưu ý này — đây cũng là một hạn chế của dự án.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giây — Thành viên: Khang]
Hai vấn đề chất lượng dữ liệu đầu tiên. Thứ nhất, 34,335 dòng trùng lặp, 3.22%. Nhóm kiểm tra trùng trên tất cả các cột, trừ cột Sheet vì đó là cột nhóm tự thêm để truy vết.
Thứ hai, hoá đơn huỷ — mã bắt đầu bằng chữ C. Có 8,292 hoá đơn huỷ trên tổng 53,628 — 15.46% số hoá đơn. Nhưng chỉ chiếm 1.83% số dòng, vì hoá đơn huỷ thường có ít dòng. Đây là một chi tiết dễ gây hiểu nhầm nếu chỉ nhìn một tỷ lệ.
[Câu hỏi có thể gặp: tại sao không giữ hoá đơn huỷ để tính doanh thu thuần? → Vì mục tiêu MBA và RFM là hành vi mua thành công; hoá đơn huỷ nhiều khả năng làm sai lệch Frequency và Monetary.]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giây — Thành viên: Khang]
Đây là phát hiện nhóm cho là đáng chú ý nhất ở giai đoạn hiểu dữ liệu. Có 22,950 dòng Quantity âm. Ban đầu dễ nghĩ tất cả là hoá đơn huỷ. Nhưng thực tế 19,493 dòng thuộc hoá đơn huỷ, còn 3,457 dòng KHÔNG phải hoá đơn huỷ.
Nhóm kiểm tra đặc điểm của 3,457 dòng này: 100% có Price bằng 0 và 100% thiếu Customer ID. Trong đó 481 dòng có mô tả chứa các từ như damage, missing, check, thrown away — tức là bút toán kiểm kê kho, hàng hỏng, thất lạc.
Ngoài ra có 6 dòng 'Adjust bad debt' — bút toán xoá nợ xấu kế toán, giá trị rất lớn, ví dụ âm hơn 53 nghìn bảng. Nếu để lọt vào tính Monetary sẽ làm sai lệch rất nhiều.
[Lưu ý trung thực: 481 dòng là các dòng có từ khoá, không phải toàn bộ 3,457 dòng — một phần dòng có Description trống hoặc ghi chú tự do khác.]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giây — Thành viên: Khang]
Một số StockCode không phải sản phẩm vật lý mà là phí, phụ phí, hoặc nghiệp vụ kế toán — như phí bưu điện, chiết khấu, phí ngân hàng, dữ liệu test.
Nhóm này chỉ chiếm 0.55% số dòng nhưng lại chiếm 4.05% tổng giá trị giao dịch dương — khoảng 849 nghìn trên hơn 20.9 triệu bảng. Nếu không loại, luật kết hợp sẽ bị chi phối bởi phí vận chuyển, và Monetary của khách hàng bị tính cả phí.
[Ghi chú: bảng hiển thị 12 mã chính; 5 mã còn lại nhỏ (PADS, CRUK, TEST001, TEST002) gộp vào dòng 'Còn lại'. Tổng 5,821 dòng khớp với output notebook. Pipeline thực tế loại 4,613 dòng ở bước này vì một phần đã bị loại ở các bước trước (hoá đơn huỷ, Quantity âm).]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 Thành viên: Khang]
Nhóm so sánh hai phương pháp phát hiện outlier trên biến Quantity: IQR và Z-score.
Quantity có độ lệch — skewness — là 459.99, cực kỳ lệch phải, do vài đơn bán buôn với số lượng rất lớn. Kết quả: IQR bắt được 10.69% là outlier, nhưng Z-score trên dữ liệu gốc chỉ bắt được 0.15%. Lý do là độ lệch chuẩn bị vài giá trị cực lớn kéo giãn ra nên ngưỡng ±3 sigma quá rộng.
Sau log1p, skewness giảm xuống 1.06 và Z-score bắt được 0.95%. Kết luận kỹ thuật của nhóm: nếu dùng Z-score thì phải log-transform trước.
[Câu hỏi có thể gặp: vậy cuối cùng nhóm có xoá outlier không? → Không xoá tự động. Xem slide tiếp theo.]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 Thành viên: Khang]
Câu hỏi tiếp theo: các dòng Quantity rất cao là lỗi nhập liệu hay bán buôn hợp lệ? Nhóm đặt giả thuyết: nếu nhóm Quantity cao có giá trung vị thấp hơn giá trung vị chung thì ủng hộ giả thuyết bán buôn.
Kết quả: ngưỡng P99 của Quantity là 100 đơn vị, có 13,524 dòng. Giá trung vị của nhóm này là £1.06, thấp hơn £2.10 của toàn bộ dữ liệu. Ví dụ hoá đơn 497946 bán hơn 19 nghìn chiếc cốc với giá chỉ 10 pence — điển hình của bán buôn.
Do đó nhóm không xoá tự động các outlier Quantity cao.
[Ghi chú trung thực: đây là bằng chứng ỦNG HỘ giả thuyết, chưa phải chứng minh tuyệt đối. Vẫn có thể có vài dòng thật sự là lỗi nhập liệu — ví dụ 80,995 chiếc 'Paper craft, little birdie' ở hoá đơn 581483 là một giao dịch bất thường đáng kiểm tra riêng.]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giây — Thành viên: Khang]
Đây là pipeline làm sạch 5 bước, mỗi bước dựa trực tiếp trên một phát hiện ở phần Data Understanding. Tổng cộng loại 61,358 dòng, tương đương 5.75%, còn lại 1,006,013 dòng.
Thứ tự: loại hoá đơn huỷ (19,494), loại 6 dòng bad debt, loại 3,457 dòng Quantity âm bất thường, loại 4,613 dòng StockCode phi sản phẩm, cuối cùng loại 33,788 dòng trùng lặp.
Có thể có bạn thắc mắc: ở phần khám phá là 34,335 dòng trùng, ở đây là 33,788. Chênh lệch do khám phá đếm trên dữ liệu thô, còn ở đây trùng lặp được loại sau các bước khác nên một số dòng trùng đã bị loại trước đó.
Tương tự, StockCode phi sản phẩm ở khám phá là 5,821 dòng nhưng ở đây chỉ loại 4,613 vì phần còn lại đã bị loại ở các bước trước (ví dụ nằm trong hoá đơn huỷ).</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 Thành viên: Khang]
Từ cùng một pipeline làm sạch, nhóm xuất ra 3 bộ dữ liệu, vì mỗi kỹ thuật có yêu cầu khác nhau.
Một: Transactions_Clean cho Market Basket — giữ nguyên các dòng thiếu Customer ID.
Hai: Customer_RFM cho phân cụm — RFM tính trên toàn kỳ. Phân khúc chỉ mô tả khách hàng, không dự đoán tương lai nên dùng toàn bộ lịch sử là hợp lệ.
Ba: Customer_Churn_Features cho dự đoán churn — RFM chỉ tính đến một mốc snapshot sớm hơn. Đây là điểm kỹ thuật quan trọng nhất để chống rò rỉ dữ liệu.
Bảng nhỏ phía dưới cho thấy hai bộ RFM thực sự khác nhau: số khách giảm từ 5,853 xuống 5,472, Frequency và Monetary trung bình cũng thấp hơn. Nếu dùng nhầm bảng toàn kỳ cho bài toán churn, các giao dịch sau thời điểm dự đoán sẽ lọt vào đặc trưng.
[Ghi chú quan trọng cho người trình bày: Notebook 5 sau đó KHÔNG dùng file Customer_Churn_Features.csv này, mà tính lại RFM tại 2 mốc Snapshot riêng (Train/Test) để tách theo thời gian. File này ở Notebook 2 dùng mốc placeholder 62 ngày. Nếu bị hỏi, giải thích rõ điều này.]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giây — Thành viên: Huân (Churn)]
Đây là phần nhóm đầu tư nhiều nhất về mặt phương pháp luận. Churn là bài toán dự đoán tương lai từ quá khứ, nên phải chống rò rỉ dữ liệu.
Trục thời gian: nhóm dùng hai mốc Snapshot liên tiếp. Tập Train có snapshot 22/07/2011, nhãn được quan sát trong 70 ngày sau đó. Tập Test có snapshot 30/09/2011, nhãn quan sát 70 ngày tiếp theo đến hết dữ liệu. Hai cửa sổ nhãn không chồng lấn. Đặc trưng chỉ dùng giao dịch trước hoặc bằng snapshot; nhãn chỉ dùng giao dịch sau snapshot.
Ba nguyên tắc: một, tách theo thời gian thay vì chia ngẫu nhiên. Hai, SMOTE chỉ áp trên Train. Ba, cửa sổ churn 70 ngày dựa trên phân vị P75 của khoảng cách giữa hai lần mua liên tiếp.
[Điểm trung thực nhóm đã ghi nhận trong notebook: P75 hiện tính trên toàn bộ dữ liệu, kể cả giai đoạn sau Train — nghiêm ngặt hơn thì phải tính chỉ trên dữ liệu Train. Đây là một hạn chế còn lại, sẽ nêu ở slide hạn chế.]</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giây — Thành viên: Huân]
Bảng tổng quan: ba kỹ thuật, mỗi kỹ thuật so sánh từ hai thuật toán trở lên. MBA so sánh Apriori và FP-Growth. Phân cụm so sánh K-Means và K-Medoids tự cài đặt. Phân lớp so sánh ba họ: cây đơn, tập hợp Bagging, và xác suất Bayes.
Nguyên tắc nhóm dùng xuyên suốt: không giả định thuật toán nào 'luôn tốt hơn' mà đo trực tiếp trên dữ liệu — và như sẽ thấy, có những kết quả khác với kỳ vọng ban đầu.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giây — Thành viên: Lực (Pattern Mining)]
Nhóm chạy Apriori và FP-Growth trên ma trận one-hot 41,383 hoá đơn × 4,971 sản phẩm, ở ba ngưỡng min_support: 0.02, 0.01 và 0.005.
Đầu tiên, kiểm chứng tính đúng đắn: cả hai thuật toán tìm ra cùng số itemsets — 290, 1,223 và 6,863 — ở mọi ngưỡng, như lý thuyết dự đoán vì chúng giải cùng một bài toán.
Về tốc độ, kết quả ngược với kỳ vọng thông thường: ở ngưỡng cao, Apriori nhanh hơn — 0.97 giây so với 3.00 giây. Chỉ khi hạ ngưỡng xuống 0.005 thì FP-Growth mới nhanh hơn: 13.10 giây so với 21.65 giây.
Nhóm chọn FP-Growth cho bước sinh luật, nhưng lý do là số liệu benchmark ở ngưỡng thấp, không phải giả định lý thuyết. Hiệu năng còn phụ thuộc cài đặt thư viện — ở đây là mlxtend.
[Lưu ý quan trọng khi trả lời phản biện: phần nhận xét trong notebook 3 ghi một số con số hơi khác (2.37s, 5.16s, 14.72s) — đó là từ một lần chạy khác. Slide này dùng con số từ output bảng benchmark (0.97/3.00, 5.33/6.45, 21.65/13.10). Thời gian chạy có dao động giữa các lần, kết luận xu hướng vẫn giữ nguyên.]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 Thành viên: Lực]
Từ tập phổ biến của FP-Growth, nhóm sinh ra 8,777 luật với confidence tối thiểu 0.3. Bên cạnh Support, Confidence và Lift, nhóm bổ sung thêm độ đo Kulczynski.
Vì sao? Lift và Confidence là các độ đo bất đối xứng hoặc bị ảnh hưởng bởi số giao dịch không chứa cả hai sản phẩm. Kulczynski là trung bình của hai chiều confidence, đối xứng và null-invariant. Một luật có Lift cao nhưng Kulczynski thấp cho thấy quan hệ không cân bằng giữa hai chiều.
Ví dụ luật nổi bật: khách mua húng tây và rau mùi tây thì mua thêm hương thảo — Lift 157, Kulczynski 0.90.
[Điểm cần thành thật: Lift ~157 xuất hiện ở support rất thấp (0.0051), chủ yếu là các sản phẩm cùng bộ sưu tập, khác màu. Ở mức support ≥ 0.02, Lift cao nhất chỉ khoảng 25 (ví dụ các bộ tách trà Regency). Nhóm xem đây là gợi ý cho bán theo bộ, chưa phải luật suy ra được quan hệ nhân quả.]</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[4:45–5:15] (Người: A hoặc D) Đây là slide bắc cầu — giải thích RÕ RÀNG vì sao cần 2 mốc snapshot khác nhau. Đây là câu hỏi phản biện hầu như CHẮC CHẮN sẽ được hỏi.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RFM gồm 3 biến: Recency, Frequency, Monetary. Frequency có median 3 nhưng max 373; Monetary median £856 nhưng max hơn £580 nghìn. Vì thuật toán phân cụm dựa trên khoảng cách nên nhóm áp dụng log1p cho Frequency và Monetary rồi chuẩn hoá. Recency được giữ nguyên để giữ ý nghĩa số ngày. Đây là minh chứng tác động của tiền xử lý lên kết quả cuối.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chọn k nhóm dùng cả hai phương pháp. Silhouette cao nhất toàn dải là k=2, nhưng với mục tiêu phân khúc marketing thì 2 nhóm là quá thô. Nhóm giới hạn phạm vi 3 đến 5 cụm và trong phạm vi đó k=3 có Silhouette cao nhất. Nhóm nói rõ đây là quyết định kết hợp kỹ thuật và nghiệp vụ, không che giấu việc k=2 có điểm cao hơn.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PAM do nhóm tự cài đặt. Hai thuật toán cho Silhouette 0.4017 và 0.4012, chênh chỉ 0.0005, và ARI = 0.9565 cho thấy hai cách phân cụm gần như trùng nhau. Nhóm chọn K-Means làm kết quả chính vì tương đương về chất lượng và không cần ma trận khoảng cách toàn cặp — 5853 nhân 5853, khoảng 261 MB RAM. Ưu điểm của PAM là medoid là một khách hàng thật, giúp Marketing hình dung dễ hơn.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phân khúc được đặt tên nghiệp vụ dựa trên đặc điểm RFM trung bình: VIP gồm 1,675 khách, mua gần đây và chi tiêu vượt trội, đóng góp khoảng 79% tổng Monetary của ba phân khúc; nhóm trung thành đông nhất với 2,354 khách; nhóm nguy cơ rời bỏ có Recency trung bình 470 ngày. Mỗi phân khúc đi kèm một hành động marketing riêng.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không có nhãn sẵn nên nhóm phải tự định nghĩa dựa trên phân phối inter-purchase gap. P75 bằng 70 ngày được chọn làm cửa sổ churn: không quá ngắn để tránh gán nhầm, không quá dài để hành động giữ chân còn kịp thời. Nhóm cũng nêu rõ hạn chế: ngưỡng này dùng chung cho mọi khách hàng và P75 hiện được tính trên toàn bộ dữ liệu nên có rủi ro nhỏ về rò rỉ — đây là mục nhóm sẽ khắc phục ở giai đoạn sau. Ở bước Data Understanding có một phép tính placeholder P75 = 62 ngày trên dữ liệu chưa sinh nhãn; con số chính thức là 70 ngày.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EA295-9DB4-F544-4162-B8AE825ED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E459F-74D5-B620-FC68-FF7AB0E7F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92320-D343-8529-0D33-B46DDBFD9956}"/>
              </a:ext>
            </a:extLst>
          </p:cNvPr>
          <p:cNvSpPr>
            <a:spLocks noGrp="1"/>
          </p:cNvSpPr>
          <p:nvPr>
            <p:ph type="body" idx="1"/>
          </p:nvPr>
        </p:nvSpPr>
        <p:spPr/>
        <p:txBody>
          <a:bodyPr/>
          <a:lstStyle/>
          <a:p>
            <a:r>
              <a:rPr lang="en-US" dirty="0"/>
              <a:t>Bài toán churn về bản chất là dự đoán tương lai từ quá khứ nên nhóm không chia ngẫu nhiên mà dùng hai snapshot liên tiếp với cửa sổ nhãn không chồng lấn: Train tại 22/07/2011, Test tại 30/09/2011. Một phát hiện khác kỳ vọng: churn là lớp đa số chứ không phải thiểu số. Nhóm không giấu điều này mà điều chỉnh cách đánh giá: đưa Naive Baseline 0.6062 làm mốc tham chiếu và không dùng Accuracy đơn lẻ. SMOTE chỉ áp trên tập Train.</a:t>
            </a:r>
          </a:p>
        </p:txBody>
      </p:sp>
      <p:sp>
        <p:nvSpPr>
          <p:cNvPr id="4" name="Slide Number Placeholder 3">
            <a:extLst>
              <a:ext uri="{FF2B5EF4-FFF2-40B4-BE49-F238E27FC236}">
                <a16:creationId xmlns:a16="http://schemas.microsoft.com/office/drawing/2014/main" id="{B1AFFB40-C16D-989E-4280-35A1F10AE95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6803387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trên tập Test. Cả ba mô hình đều vượt Naive Baseline, nhưng mức cải thiện chỉ khoảng 11 đến 13 điểm phần trăm. Bất ngờ là Naive Bayes đạt F1 cao nhất 0.7973 mặc dù giả định độc lập không thoả. Nguyên nhân là Recall rất cao 0.9164 kéo F1 lên nhưng Precision chỉ 0.7057. Random Forest có AUC cao nhất 0.7872 nhưng chênh lệch với Naive Bayes chỉ 0.0025 nên không kết luận vượt trội rõ ràng. Không có mô hình tối ưu cho mọi mục tiêu nghiệp vụ.</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cho thấy rõ đánh đổi: Naive Bayes chỉ bỏ sót 274 khách churn nhưng báo động nhầm 1,252 khách; Random Forest và Decision Tree cân bằng hơn. Đường ROC của Random Forest và Naive Bayes gần như chồng nhau. Về đặc trưng, Recency là quan trọng nhất (0.326), tiếp theo là Monetary và AvgGapDays — phù hợp trực giác nghiệp vụ. Nhóm lưu ý feature importance không chứng minh quan hệ nhân quả.</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tích hợp — điểm khiến 3 kỹ thuật trở thành một dự án thống nhất chứ không phải ba bài rời rạc. Đối chiếu phân khúc RFM với xác suất churn cho thấy hai phương pháp độc lập cho cùng xu hướng ở hai cực. Ở nhóm Khách trung thành, mô hình dự đoán 81% nhưng thực tế chỉ 54.8%, cho thấy mô hình cảnh báo quá tay — nhóm coi đây là điểm cần cải thiện, không che giấu.</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ba kỹ thuật bổ trợ nhau: MBA cho biết bán gì, RFM cho biết ai đáng giá, Churn cho biết khi nào cần can thiệp. Từ đó nhóm đề xuất hành động riêng cho từng phân khúc: giữ chân VIP, tăng giá trị đơn hàng cho nhóm trung thành thông qua cross-sell dựa trên luật MBA, và tái kích hoạt cho nhóm nguy cơ rời bỏ.</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 Thành viên: cả 3 bạn, mỗi bạn nói về phần của mình khoảng 20 giây]
Khang: em phụ trách hạ tầng dữ liệu — Notebook 1 và 2, các module dùng chung, và xuất ba file dữ liệu đầu ra. Giai đoạn còn lại em hỗ trợ kiểm tra rò rỉ dữ liệu, hoàn thiện tài liệu pipeline và chuẩn bị demo.
Lực: em phụ trách khai phá mẫu — Notebook 3 và 4, gồm Market Basket và phân cụm RFM, kể cả phần cài đặt K-Medoids thủ công. Còn lại em sẽ làm MBA riêng cho từng phân khúc và đánh giá độ ổn định phân cụm.
Huân: em phụ trách phân lớp và tích hợp — Notebook 5 và 6. Giai đoạn còn lại em sẽ tinh chỉnh siêu tham số, thêm cross-validation, tối ưu threshold và kiểm chứng Permutation Importance.
[GHI CHÚ QUAN TRỌNG cho nhóm: Rubric quy định Track B là nhóm 4–5 người, còn notebook chỉ ghi 3 thành viên. Bạn cần xác nhận lại số lượng thành viên thực tế của nhóm và bổ sung slide này nếu nhóm có thêm người — để đáp ứng tiêu chí 'phân công cụ thể đến từng thành viên'. Không bịa thêm tên.]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 Thành viên: Huân]
Nhóm chủ động nêu ra sáu hạn chế. Đáng chú ý nhất: một, cửa sổ churn 70 ngày dùng chung cho mọi khách hàng trong khi chu kỳ mua rất khác nhau. Hai, giá trị P75 hiện tính trên toàn bộ dữ liệu, kể cả sau giai đoạn Train — nếu chặt chẽ phải tính chỉ trên Train. Ba, chưa tinh chỉnh siêu tham số và chưa cross-validation — đây chính là phần việc ưu tiên trong giai đoạn còn lại.
Các hạn chế còn lại: luật MBA chưa gắn với phân khúc, nhóm khách mua một lần chiếm 28.6% và dữ liệu tập trung ở UK, và cửa sổ nhãn Test kết thúc đúng vào ngày cuối của dữ liệu.
Nhóm coi việc nêu rõ hạn chế là một phần của tự đánh giá trung thực, và mỗi hạn chế đều đã có hướng xử lý đi kèm.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hỏi đáp: 5–7 phút. Nhớ ghi lại góp ý vào slide 34.]</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572000" cy="4572000"/>
          </a:xfrm>
          <a:prstGeom prst="ellipse">
            <a:avLst/>
          </a:prstGeom>
          <a:solidFill>
            <a:srgbClr val="028090">
              <a:alpha val="45000"/>
            </a:srgbClr>
          </a:solidFill>
          <a:ln/>
        </p:spPr>
      </p:sp>
      <p:sp>
        <p:nvSpPr>
          <p:cNvPr id="3" name="Shape 1"/>
          <p:cNvSpPr/>
          <p:nvPr/>
        </p:nvSpPr>
        <p:spPr>
          <a:xfrm>
            <a:off x="11430000" y="4480560"/>
            <a:ext cx="2743200" cy="2743200"/>
          </a:xfrm>
          <a:prstGeom prst="ellipse">
            <a:avLst/>
          </a:prstGeom>
          <a:solidFill>
            <a:srgbClr val="02C39A">
              <a:alpha val="35000"/>
            </a:srgbClr>
          </a:solidFill>
          <a:ln/>
        </p:spPr>
      </p:sp>
      <p:sp>
        <p:nvSpPr>
          <p:cNvPr id="5" name="Text 3"/>
          <p:cNvSpPr txBox="1"/>
          <p:nvPr/>
        </p:nvSpPr>
        <p:spPr>
          <a:xfrm>
            <a:off x="822960" y="580363"/>
            <a:ext cx="10786187" cy="10515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Customer </a:t>
            </a:r>
            <a:r>
              <a:rPr lang="en-US" sz="4000" b="1" dirty="0">
                <a:latin typeface="Times New Roman" panose="02020603050405020304" pitchFamily="18" charset="0"/>
                <a:ea typeface="Cambria" pitchFamily="34" charset="-122"/>
                <a:cs typeface="Times New Roman" panose="02020603050405020304" pitchFamily="18" charset="0"/>
              </a:rPr>
              <a:t>Analytics</a:t>
            </a:r>
            <a:r>
              <a:rPr lang="en-US" sz="3800" b="1" dirty="0">
                <a:latin typeface="Cambria" pitchFamily="34" charset="0"/>
                <a:ea typeface="Cambria" pitchFamily="34" charset="-122"/>
                <a:cs typeface="Cambria" pitchFamily="34" charset="-120"/>
              </a:rPr>
              <a:t> </a:t>
            </a:r>
            <a:r>
              <a:rPr lang="vi-VN" sz="3800" b="1" dirty="0">
                <a:latin typeface="Cambria" pitchFamily="34" charset="0"/>
                <a:ea typeface="Cambria" pitchFamily="34" charset="-122"/>
                <a:cs typeface="Cambria" pitchFamily="34" charset="-120"/>
              </a:rPr>
              <a:t>for</a:t>
            </a:r>
            <a:r>
              <a:rPr lang="en-US" sz="3800" b="1" dirty="0">
                <a:latin typeface="Cambria" pitchFamily="34" charset="0"/>
                <a:ea typeface="Cambria" pitchFamily="34" charset="-122"/>
                <a:cs typeface="Cambria" pitchFamily="34" charset="-120"/>
              </a:rPr>
              <a:t> E-Commerce</a:t>
            </a:r>
            <a:endParaRPr lang="en-US" sz="3800" dirty="0"/>
          </a:p>
        </p:txBody>
      </p:sp>
      <p:sp>
        <p:nvSpPr>
          <p:cNvPr id="6" name="Text 4"/>
          <p:cNvSpPr txBox="1"/>
          <p:nvPr/>
        </p:nvSpPr>
        <p:spPr>
          <a:xfrm>
            <a:off x="115693" y="2509940"/>
            <a:ext cx="11864810" cy="729654"/>
          </a:xfrm>
          <a:prstGeom prst="rect">
            <a:avLst/>
          </a:prstGeom>
          <a:noFill/>
          <a:ln/>
        </p:spPr>
        <p:txBody>
          <a:bodyPr wrap="square" lIns="0" tIns="0" rIns="0" bIns="0" rtlCol="0" anchor="ctr"/>
          <a:lstStyle/>
          <a:p>
            <a:pPr marL="0" indent="0">
              <a:buNone/>
            </a:pPr>
            <a:r>
              <a:rPr lang="vi-VN" i="1" dirty="0">
                <a:latin typeface="Times New Roman" panose="02020603050405020304" pitchFamily="18" charset="0"/>
                <a:ea typeface="Calibri" pitchFamily="34" charset="-122"/>
                <a:cs typeface="Times New Roman" panose="02020603050405020304" pitchFamily="18" charset="0"/>
              </a:rPr>
              <a:t>Khai phá dữ liệu khách hàng bán lẻ trực tuyến: </a:t>
            </a:r>
            <a:r>
              <a:rPr lang="en-US" i="1" dirty="0">
                <a:latin typeface="Times New Roman" panose="02020603050405020304" pitchFamily="18" charset="0"/>
                <a:ea typeface="Calibri" pitchFamily="34" charset="-122"/>
                <a:cs typeface="Times New Roman" panose="02020603050405020304" pitchFamily="18" charset="0"/>
              </a:rPr>
              <a:t>Market Basket Analysis  •  RFM Customer Segmentation  •  Churn Classification</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442269" y="3310128"/>
            <a:ext cx="10698480" cy="0"/>
          </a:xfrm>
          <a:prstGeom prst="line">
            <a:avLst/>
          </a:prstGeom>
          <a:noFill/>
          <a:ln w="25400">
            <a:solidFill>
              <a:srgbClr val="00A896"/>
            </a:solidFill>
            <a:prstDash val="solid"/>
          </a:ln>
        </p:spPr>
      </p:sp>
      <p:sp>
        <p:nvSpPr>
          <p:cNvPr id="9" name="Shape 7"/>
          <p:cNvSpPr/>
          <p:nvPr/>
        </p:nvSpPr>
        <p:spPr>
          <a:xfrm>
            <a:off x="731520" y="4169664"/>
            <a:ext cx="91440" cy="91440"/>
          </a:xfrm>
          <a:prstGeom prst="ellipse">
            <a:avLst/>
          </a:prstGeom>
          <a:solidFill>
            <a:srgbClr val="02C39A"/>
          </a:solidFill>
          <a:ln/>
        </p:spPr>
      </p:sp>
      <p:sp>
        <p:nvSpPr>
          <p:cNvPr id="10" name="Text 8"/>
          <p:cNvSpPr txBox="1"/>
          <p:nvPr/>
        </p:nvSpPr>
        <p:spPr>
          <a:xfrm>
            <a:off x="960120" y="4023360"/>
            <a:ext cx="2743200" cy="32004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Trần Văn Khang</a:t>
            </a:r>
            <a:endParaRPr lang="en-US" dirty="0">
              <a:latin typeface="Times New Roman" panose="02020603050405020304" pitchFamily="18" charset="0"/>
              <a:cs typeface="Times New Roman" panose="02020603050405020304" pitchFamily="18" charset="0"/>
            </a:endParaRPr>
          </a:p>
        </p:txBody>
      </p:sp>
      <p:sp>
        <p:nvSpPr>
          <p:cNvPr id="11" name="Text 9"/>
          <p:cNvSpPr txBox="1"/>
          <p:nvPr/>
        </p:nvSpPr>
        <p:spPr>
          <a:xfrm>
            <a:off x="3703320" y="4023360"/>
            <a:ext cx="1188720" cy="320040"/>
          </a:xfrm>
          <a:prstGeom prst="rect">
            <a:avLst/>
          </a:prstGeom>
          <a:noFill/>
          <a:ln/>
        </p:spPr>
        <p:txBody>
          <a:bodyPr wrap="square" lIns="0" tIns="0" rIns="0" bIns="0" rtlCol="0" anchor="ctr"/>
          <a:lstStyle/>
          <a:p>
            <a:pPr marL="0" indent="0">
              <a:buNone/>
            </a:pPr>
            <a:r>
              <a:rPr lang="en-US" dirty="0">
                <a:solidFill>
                  <a:srgbClr val="002060"/>
                </a:solidFill>
                <a:latin typeface="Times New Roman" panose="02020603050405020304" pitchFamily="18" charset="0"/>
                <a:ea typeface="Calibri" pitchFamily="34" charset="-122"/>
                <a:cs typeface="Times New Roman" panose="02020603050405020304" pitchFamily="18" charset="0"/>
              </a:rPr>
              <a:t>52400199</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2" name="Text 10"/>
          <p:cNvSpPr txBox="1"/>
          <p:nvPr/>
        </p:nvSpPr>
        <p:spPr>
          <a:xfrm>
            <a:off x="4937760" y="4023360"/>
            <a:ext cx="4572000" cy="320040"/>
          </a:xfrm>
          <a:prstGeom prst="rect">
            <a:avLst/>
          </a:prstGeom>
          <a:noFill/>
          <a:ln/>
        </p:spPr>
        <p:txBody>
          <a:bodyPr wrap="square" lIns="0" tIns="0" rIns="0" bIns="0" rtlCol="0" anchor="ctr"/>
          <a:lstStyle/>
          <a:p>
            <a:pPr marL="0" indent="0">
              <a:buNone/>
            </a:pPr>
            <a:r>
              <a:rPr lang="en-US" dirty="0">
                <a:solidFill>
                  <a:srgbClr val="002060"/>
                </a:solidFill>
                <a:latin typeface="Times New Roman" panose="02020603050405020304" pitchFamily="18" charset="0"/>
                <a:ea typeface="Calibri" pitchFamily="34" charset="-122"/>
                <a:cs typeface="Times New Roman" panose="02020603050405020304" pitchFamily="18" charset="0"/>
              </a:rPr>
              <a:t>Data &amp; Infrastructure Lead</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3" name="Shape 11"/>
          <p:cNvSpPr/>
          <p:nvPr/>
        </p:nvSpPr>
        <p:spPr>
          <a:xfrm>
            <a:off x="731520" y="4553712"/>
            <a:ext cx="91440" cy="91440"/>
          </a:xfrm>
          <a:prstGeom prst="ellipse">
            <a:avLst/>
          </a:prstGeom>
          <a:solidFill>
            <a:srgbClr val="02C39A"/>
          </a:solidFill>
          <a:ln/>
        </p:spPr>
      </p:sp>
      <p:sp>
        <p:nvSpPr>
          <p:cNvPr id="14" name="Text 12"/>
          <p:cNvSpPr txBox="1"/>
          <p:nvPr/>
        </p:nvSpPr>
        <p:spPr>
          <a:xfrm>
            <a:off x="960120" y="4407408"/>
            <a:ext cx="2743200" cy="32004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Trần Tấn Lực</a:t>
            </a:r>
            <a:endParaRPr lang="en-US" dirty="0">
              <a:latin typeface="Times New Roman" panose="02020603050405020304" pitchFamily="18" charset="0"/>
              <a:cs typeface="Times New Roman" panose="02020603050405020304" pitchFamily="18" charset="0"/>
            </a:endParaRPr>
          </a:p>
        </p:txBody>
      </p:sp>
      <p:sp>
        <p:nvSpPr>
          <p:cNvPr id="15" name="Text 13"/>
          <p:cNvSpPr txBox="1"/>
          <p:nvPr/>
        </p:nvSpPr>
        <p:spPr>
          <a:xfrm>
            <a:off x="3703320" y="4407408"/>
            <a:ext cx="1188720" cy="320040"/>
          </a:xfrm>
          <a:prstGeom prst="rect">
            <a:avLst/>
          </a:prstGeom>
          <a:noFill/>
          <a:ln/>
        </p:spPr>
        <p:txBody>
          <a:bodyPr wrap="square" lIns="0" tIns="0" rIns="0" bIns="0" rtlCol="0" anchor="ctr"/>
          <a:lstStyle/>
          <a:p>
            <a:pPr marL="0" indent="0">
              <a:buNone/>
            </a:pPr>
            <a:r>
              <a:rPr lang="en-US" dirty="0">
                <a:solidFill>
                  <a:srgbClr val="002060"/>
                </a:solidFill>
                <a:latin typeface="Times New Roman" panose="02020603050405020304" pitchFamily="18" charset="0"/>
                <a:ea typeface="Calibri" pitchFamily="34" charset="-122"/>
                <a:cs typeface="Times New Roman" panose="02020603050405020304" pitchFamily="18" charset="0"/>
              </a:rPr>
              <a:t>52400055</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6" name="Text 14"/>
          <p:cNvSpPr txBox="1"/>
          <p:nvPr/>
        </p:nvSpPr>
        <p:spPr>
          <a:xfrm>
            <a:off x="4937760" y="4407408"/>
            <a:ext cx="4572000" cy="320040"/>
          </a:xfrm>
          <a:prstGeom prst="rect">
            <a:avLst/>
          </a:prstGeom>
          <a:noFill/>
          <a:ln/>
        </p:spPr>
        <p:txBody>
          <a:bodyPr wrap="square" lIns="0" tIns="0" rIns="0" bIns="0" rtlCol="0" anchor="ctr"/>
          <a:lstStyle/>
          <a:p>
            <a:pPr marL="0" indent="0">
              <a:buNone/>
            </a:pPr>
            <a:r>
              <a:rPr lang="en-US" dirty="0">
                <a:solidFill>
                  <a:srgbClr val="002060"/>
                </a:solidFill>
                <a:latin typeface="Times New Roman" panose="02020603050405020304" pitchFamily="18" charset="0"/>
                <a:ea typeface="Calibri" pitchFamily="34" charset="-122"/>
                <a:cs typeface="Times New Roman" panose="02020603050405020304" pitchFamily="18" charset="0"/>
              </a:rPr>
              <a:t>Pattern Mining &amp; Clustering Lead</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7" name="Shape 15"/>
          <p:cNvSpPr/>
          <p:nvPr/>
        </p:nvSpPr>
        <p:spPr>
          <a:xfrm>
            <a:off x="731520" y="4937760"/>
            <a:ext cx="91440" cy="91440"/>
          </a:xfrm>
          <a:prstGeom prst="ellipse">
            <a:avLst/>
          </a:prstGeom>
          <a:solidFill>
            <a:srgbClr val="02C39A"/>
          </a:solidFill>
          <a:ln/>
        </p:spPr>
      </p:sp>
      <p:sp>
        <p:nvSpPr>
          <p:cNvPr id="18" name="Text 16"/>
          <p:cNvSpPr txBox="1"/>
          <p:nvPr/>
        </p:nvSpPr>
        <p:spPr>
          <a:xfrm>
            <a:off x="960120" y="4791456"/>
            <a:ext cx="2743200" cy="32004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Ngô Đức Huân</a:t>
            </a:r>
            <a:endParaRPr lang="en-US" dirty="0">
              <a:latin typeface="Times New Roman" panose="02020603050405020304" pitchFamily="18" charset="0"/>
              <a:cs typeface="Times New Roman" panose="02020603050405020304" pitchFamily="18" charset="0"/>
            </a:endParaRPr>
          </a:p>
        </p:txBody>
      </p:sp>
      <p:sp>
        <p:nvSpPr>
          <p:cNvPr id="19" name="Text 17"/>
          <p:cNvSpPr txBox="1"/>
          <p:nvPr/>
        </p:nvSpPr>
        <p:spPr>
          <a:xfrm>
            <a:off x="3703320" y="4791456"/>
            <a:ext cx="1188720" cy="320040"/>
          </a:xfrm>
          <a:prstGeom prst="rect">
            <a:avLst/>
          </a:prstGeom>
          <a:noFill/>
          <a:ln/>
        </p:spPr>
        <p:txBody>
          <a:bodyPr wrap="square" lIns="0" tIns="0" rIns="0" bIns="0" rtlCol="0" anchor="ctr"/>
          <a:lstStyle/>
          <a:p>
            <a:pPr marL="0" indent="0">
              <a:buNone/>
            </a:pPr>
            <a:r>
              <a:rPr lang="en-US" dirty="0">
                <a:solidFill>
                  <a:srgbClr val="002060"/>
                </a:solidFill>
                <a:latin typeface="Times New Roman" panose="02020603050405020304" pitchFamily="18" charset="0"/>
                <a:ea typeface="Calibri" pitchFamily="34" charset="-122"/>
                <a:cs typeface="Times New Roman" panose="02020603050405020304" pitchFamily="18" charset="0"/>
              </a:rPr>
              <a:t>52400192</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20" name="Text 18"/>
          <p:cNvSpPr txBox="1"/>
          <p:nvPr/>
        </p:nvSpPr>
        <p:spPr>
          <a:xfrm>
            <a:off x="4937760" y="4791456"/>
            <a:ext cx="4572000" cy="320040"/>
          </a:xfrm>
          <a:prstGeom prst="rect">
            <a:avLst/>
          </a:prstGeom>
          <a:noFill/>
          <a:ln/>
        </p:spPr>
        <p:txBody>
          <a:bodyPr wrap="square" lIns="0" tIns="0" rIns="0" bIns="0" rtlCol="0" anchor="ctr"/>
          <a:lstStyle/>
          <a:p>
            <a:pPr marL="0" indent="0">
              <a:buNone/>
            </a:pPr>
            <a:r>
              <a:rPr lang="en-US" dirty="0">
                <a:solidFill>
                  <a:srgbClr val="002060"/>
                </a:solidFill>
                <a:latin typeface="Times New Roman" panose="02020603050405020304" pitchFamily="18" charset="0"/>
                <a:ea typeface="Calibri" pitchFamily="34" charset="-122"/>
                <a:cs typeface="Times New Roman" panose="02020603050405020304" pitchFamily="18" charset="0"/>
              </a:rPr>
              <a:t>Classification &amp; Integration Lead</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25" name="Text 17">
            <a:extLst>
              <a:ext uri="{FF2B5EF4-FFF2-40B4-BE49-F238E27FC236}">
                <a16:creationId xmlns:a16="http://schemas.microsoft.com/office/drawing/2014/main" id="{2D561892-5797-8C3C-4F61-2056B2CBF273}"/>
              </a:ext>
            </a:extLst>
          </p:cNvPr>
          <p:cNvSpPr txBox="1"/>
          <p:nvPr/>
        </p:nvSpPr>
        <p:spPr>
          <a:xfrm>
            <a:off x="731520" y="5407090"/>
            <a:ext cx="8229600" cy="601824"/>
          </a:xfrm>
          <a:prstGeom prst="rect">
            <a:avLst/>
          </a:prstGeom>
          <a:noFill/>
          <a:ln/>
        </p:spPr>
        <p:txBody>
          <a:bodyPr wrap="square" lIns="0" tIns="0" rIns="0" bIns="0" rtlCol="0" anchor="ctr"/>
          <a:lstStyle/>
          <a:p>
            <a:pPr marL="0" indent="0">
              <a:buNone/>
            </a:pPr>
            <a:r>
              <a:rPr lang="en-US" dirty="0">
                <a:latin typeface="Times New Roman" pitchFamily="34" charset="0"/>
                <a:ea typeface="Times New Roman" pitchFamily="34" charset="-122"/>
                <a:cs typeface="Times New Roman" pitchFamily="34" charset="-120"/>
              </a:rPr>
              <a:t>Bộ dữ liệu: Online Retail II — UCI Machine Learning Repository</a:t>
            </a:r>
            <a:endParaRPr lang="en-US" dirty="0"/>
          </a:p>
        </p:txBody>
      </p:sp>
      <p:sp>
        <p:nvSpPr>
          <p:cNvPr id="8" name="Shape 1">
            <a:extLst>
              <a:ext uri="{FF2B5EF4-FFF2-40B4-BE49-F238E27FC236}">
                <a16:creationId xmlns:a16="http://schemas.microsoft.com/office/drawing/2014/main" id="{1911E8B0-59C8-4C0C-00C3-5727B712EE15}"/>
              </a:ext>
            </a:extLst>
          </p:cNvPr>
          <p:cNvSpPr/>
          <p:nvPr/>
        </p:nvSpPr>
        <p:spPr>
          <a:xfrm>
            <a:off x="-929331" y="-1111277"/>
            <a:ext cx="2743200" cy="2743200"/>
          </a:xfrm>
          <a:prstGeom prst="ellipse">
            <a:avLst/>
          </a:prstGeom>
          <a:solidFill>
            <a:srgbClr val="02C39A">
              <a:alpha val="35000"/>
            </a:srgbClr>
          </a:solidFill>
          <a:ln/>
        </p:spPr>
      </p:sp>
      <p:sp>
        <p:nvSpPr>
          <p:cNvPr id="22" name="Shape 0">
            <a:extLst>
              <a:ext uri="{FF2B5EF4-FFF2-40B4-BE49-F238E27FC236}">
                <a16:creationId xmlns:a16="http://schemas.microsoft.com/office/drawing/2014/main" id="{8B362915-9CD4-966D-8FD9-03A0C1CDC36D}"/>
              </a:ext>
            </a:extLst>
          </p:cNvPr>
          <p:cNvSpPr/>
          <p:nvPr/>
        </p:nvSpPr>
        <p:spPr>
          <a:xfrm>
            <a:off x="-1259205" y="3374898"/>
            <a:ext cx="4572000" cy="4572000"/>
          </a:xfrm>
          <a:prstGeom prst="ellipse">
            <a:avLst/>
          </a:prstGeom>
          <a:solidFill>
            <a:srgbClr val="028090">
              <a:alpha val="4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84096" y="384048"/>
            <a:ext cx="4183847" cy="594360"/>
          </a:xfrm>
          <a:prstGeom prst="rect">
            <a:avLst/>
          </a:prstGeom>
          <a:noFill/>
          <a:ln/>
        </p:spPr>
        <p:txBody>
          <a:bodyPr wrap="square" lIns="0" tIns="0" rIns="0" bIns="0" rtlCol="0" anchor="ctr"/>
          <a:lstStyle/>
          <a:p>
            <a:pPr marL="0" indent="0">
              <a:buNone/>
            </a:pPr>
            <a:r>
              <a:rPr lang="en-US" sz="3000" b="1" dirty="0">
                <a:solidFill>
                  <a:srgbClr val="2C3E50"/>
                </a:solidFill>
                <a:latin typeface="Times New Roman" panose="02020603050405020304" pitchFamily="18" charset="0"/>
                <a:ea typeface="Cambria" pitchFamily="34" charset="-122"/>
                <a:cs typeface="Times New Roman" panose="02020603050405020304" pitchFamily="18" charset="0"/>
              </a:rPr>
              <a:t>Nội dung trình bày</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559145"/>
            <a:ext cx="5488266" cy="960120"/>
          </a:xfrm>
          <a:prstGeom prst="roundRect">
            <a:avLst>
              <a:gd name="adj" fmla="val 7619"/>
            </a:avLst>
          </a:prstGeom>
          <a:solidFill>
            <a:srgbClr val="F4F6F7"/>
          </a:solidFill>
          <a:ln/>
        </p:spPr>
      </p:sp>
      <p:sp>
        <p:nvSpPr>
          <p:cNvPr id="5" name="Text 3"/>
          <p:cNvSpPr txBox="1"/>
          <p:nvPr/>
        </p:nvSpPr>
        <p:spPr>
          <a:xfrm>
            <a:off x="574763" y="1554480"/>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01</a:t>
            </a:r>
            <a:endParaRPr lang="en-US" sz="2800" dirty="0">
              <a:latin typeface="Times New Roman" panose="02020603050405020304" pitchFamily="18" charset="0"/>
              <a:cs typeface="Times New Roman" panose="02020603050405020304" pitchFamily="18" charset="0"/>
            </a:endParaRPr>
          </a:p>
        </p:txBody>
      </p:sp>
      <p:sp>
        <p:nvSpPr>
          <p:cNvPr id="6" name="Shape 4"/>
          <p:cNvSpPr/>
          <p:nvPr/>
        </p:nvSpPr>
        <p:spPr>
          <a:xfrm>
            <a:off x="5457491" y="1791476"/>
            <a:ext cx="411480" cy="411480"/>
          </a:xfrm>
          <a:prstGeom prst="ellipse">
            <a:avLst/>
          </a:prstGeom>
          <a:solidFill>
            <a:srgbClr val="FFFFFF"/>
          </a:solidFill>
          <a:ln/>
        </p:spPr>
      </p:sp>
      <p:pic>
        <p:nvPicPr>
          <p:cNvPr id="7" name="Image 0" descr="/home/claude/pptx_build/icons/bullseye_028090.png"/>
          <p:cNvPicPr>
            <a:picLocks noChangeAspect="1"/>
          </p:cNvPicPr>
          <p:nvPr/>
        </p:nvPicPr>
        <p:blipFill>
          <a:blip r:embed="rId3"/>
          <a:stretch>
            <a:fillRect/>
          </a:stretch>
        </p:blipFill>
        <p:spPr>
          <a:xfrm>
            <a:off x="5546915" y="1890231"/>
            <a:ext cx="213970" cy="213970"/>
          </a:xfrm>
          <a:prstGeom prst="rect">
            <a:avLst/>
          </a:prstGeom>
        </p:spPr>
      </p:pic>
      <p:sp>
        <p:nvSpPr>
          <p:cNvPr id="8" name="Text 5"/>
          <p:cNvSpPr txBox="1"/>
          <p:nvPr/>
        </p:nvSpPr>
        <p:spPr>
          <a:xfrm>
            <a:off x="1390261" y="1554480"/>
            <a:ext cx="4067230"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Business Understanding</a:t>
            </a:r>
            <a:endParaRPr lang="en-US" dirty="0">
              <a:latin typeface="Times New Roman" panose="02020603050405020304" pitchFamily="18" charset="0"/>
              <a:cs typeface="Times New Roman" panose="02020603050405020304" pitchFamily="18" charset="0"/>
            </a:endParaRPr>
          </a:p>
        </p:txBody>
      </p:sp>
      <p:sp>
        <p:nvSpPr>
          <p:cNvPr id="9" name="Shape 6"/>
          <p:cNvSpPr/>
          <p:nvPr/>
        </p:nvSpPr>
        <p:spPr>
          <a:xfrm>
            <a:off x="548640" y="2724912"/>
            <a:ext cx="5488266" cy="960120"/>
          </a:xfrm>
          <a:prstGeom prst="roundRect">
            <a:avLst>
              <a:gd name="adj" fmla="val 7619"/>
            </a:avLst>
          </a:prstGeom>
          <a:solidFill>
            <a:srgbClr val="F4F6F7"/>
          </a:solidFill>
          <a:ln/>
        </p:spPr>
      </p:sp>
      <p:sp>
        <p:nvSpPr>
          <p:cNvPr id="10" name="Text 7"/>
          <p:cNvSpPr txBox="1"/>
          <p:nvPr/>
        </p:nvSpPr>
        <p:spPr>
          <a:xfrm>
            <a:off x="574763" y="2724912"/>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02</a:t>
            </a:r>
            <a:endParaRPr lang="en-US" sz="2800" dirty="0">
              <a:latin typeface="Times New Roman" panose="02020603050405020304" pitchFamily="18" charset="0"/>
              <a:cs typeface="Times New Roman" panose="02020603050405020304" pitchFamily="18" charset="0"/>
            </a:endParaRPr>
          </a:p>
        </p:txBody>
      </p:sp>
      <p:sp>
        <p:nvSpPr>
          <p:cNvPr id="11" name="Shape 8"/>
          <p:cNvSpPr/>
          <p:nvPr/>
        </p:nvSpPr>
        <p:spPr>
          <a:xfrm>
            <a:off x="5457491" y="2915253"/>
            <a:ext cx="411480" cy="411480"/>
          </a:xfrm>
          <a:prstGeom prst="ellipse">
            <a:avLst/>
          </a:prstGeom>
          <a:solidFill>
            <a:srgbClr val="FFFFFF"/>
          </a:solidFill>
          <a:ln/>
        </p:spPr>
      </p:sp>
      <p:pic>
        <p:nvPicPr>
          <p:cNvPr id="12" name="Image 1" descr="/home/claude/pptx_build/icons/search_028090.png"/>
          <p:cNvPicPr>
            <a:picLocks noChangeAspect="1"/>
          </p:cNvPicPr>
          <p:nvPr/>
        </p:nvPicPr>
        <p:blipFill>
          <a:blip r:embed="rId4"/>
          <a:stretch>
            <a:fillRect/>
          </a:stretch>
        </p:blipFill>
        <p:spPr>
          <a:xfrm>
            <a:off x="5546915" y="3014008"/>
            <a:ext cx="213970" cy="213970"/>
          </a:xfrm>
          <a:prstGeom prst="rect">
            <a:avLst/>
          </a:prstGeom>
        </p:spPr>
      </p:pic>
      <p:sp>
        <p:nvSpPr>
          <p:cNvPr id="13" name="Text 9"/>
          <p:cNvSpPr txBox="1"/>
          <p:nvPr/>
        </p:nvSpPr>
        <p:spPr>
          <a:xfrm>
            <a:off x="1390261" y="2724912"/>
            <a:ext cx="4067230"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Data Un</a:t>
            </a:r>
            <a:r>
              <a:rPr lang="vi-VN" b="1" dirty="0">
                <a:latin typeface="Times New Roman" panose="02020603050405020304" pitchFamily="18" charset="0"/>
                <a:ea typeface="Calibri" pitchFamily="34" charset="-122"/>
                <a:cs typeface="Times New Roman" panose="02020603050405020304" pitchFamily="18" charset="0"/>
              </a:rPr>
              <a:t>derstanding</a:t>
            </a:r>
            <a:endParaRPr lang="en-US" dirty="0">
              <a:latin typeface="Times New Roman" panose="02020603050405020304" pitchFamily="18" charset="0"/>
              <a:cs typeface="Times New Roman" panose="02020603050405020304" pitchFamily="18" charset="0"/>
            </a:endParaRPr>
          </a:p>
        </p:txBody>
      </p:sp>
      <p:sp>
        <p:nvSpPr>
          <p:cNvPr id="14" name="Shape 10"/>
          <p:cNvSpPr/>
          <p:nvPr/>
        </p:nvSpPr>
        <p:spPr>
          <a:xfrm>
            <a:off x="548640" y="3895344"/>
            <a:ext cx="5488266" cy="960120"/>
          </a:xfrm>
          <a:prstGeom prst="roundRect">
            <a:avLst>
              <a:gd name="adj" fmla="val 7619"/>
            </a:avLst>
          </a:prstGeom>
          <a:solidFill>
            <a:srgbClr val="F4F6F7"/>
          </a:solidFill>
          <a:ln/>
        </p:spPr>
      </p:sp>
      <p:sp>
        <p:nvSpPr>
          <p:cNvPr id="15" name="Text 11"/>
          <p:cNvSpPr txBox="1"/>
          <p:nvPr/>
        </p:nvSpPr>
        <p:spPr>
          <a:xfrm>
            <a:off x="565432" y="3895344"/>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03</a:t>
            </a:r>
            <a:endParaRPr lang="en-US" sz="2800" dirty="0">
              <a:latin typeface="Times New Roman" panose="02020603050405020304" pitchFamily="18" charset="0"/>
              <a:cs typeface="Times New Roman" panose="02020603050405020304" pitchFamily="18" charset="0"/>
            </a:endParaRPr>
          </a:p>
        </p:txBody>
      </p:sp>
      <p:sp>
        <p:nvSpPr>
          <p:cNvPr id="16" name="Shape 12"/>
          <p:cNvSpPr/>
          <p:nvPr/>
        </p:nvSpPr>
        <p:spPr>
          <a:xfrm>
            <a:off x="5457491" y="4123013"/>
            <a:ext cx="411480" cy="411480"/>
          </a:xfrm>
          <a:prstGeom prst="ellipse">
            <a:avLst/>
          </a:prstGeom>
          <a:solidFill>
            <a:srgbClr val="FFFFFF"/>
          </a:solidFill>
          <a:ln/>
        </p:spPr>
      </p:sp>
      <p:pic>
        <p:nvPicPr>
          <p:cNvPr id="17" name="Image 2" descr="/home/claude/pptx_build/icons/broom_028090.png"/>
          <p:cNvPicPr>
            <a:picLocks noChangeAspect="1"/>
          </p:cNvPicPr>
          <p:nvPr/>
        </p:nvPicPr>
        <p:blipFill>
          <a:blip r:embed="rId5"/>
          <a:stretch>
            <a:fillRect/>
          </a:stretch>
        </p:blipFill>
        <p:spPr>
          <a:xfrm>
            <a:off x="5546915" y="4221768"/>
            <a:ext cx="213970" cy="213970"/>
          </a:xfrm>
          <a:prstGeom prst="rect">
            <a:avLst/>
          </a:prstGeom>
        </p:spPr>
      </p:pic>
      <p:sp>
        <p:nvSpPr>
          <p:cNvPr id="18" name="Text 13"/>
          <p:cNvSpPr txBox="1"/>
          <p:nvPr/>
        </p:nvSpPr>
        <p:spPr>
          <a:xfrm>
            <a:off x="1390261" y="3895344"/>
            <a:ext cx="4067230"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Data Preparation</a:t>
            </a:r>
            <a:endParaRPr lang="en-US" dirty="0">
              <a:latin typeface="Times New Roman" panose="02020603050405020304" pitchFamily="18" charset="0"/>
              <a:cs typeface="Times New Roman" panose="02020603050405020304" pitchFamily="18" charset="0"/>
            </a:endParaRPr>
          </a:p>
        </p:txBody>
      </p:sp>
      <p:sp>
        <p:nvSpPr>
          <p:cNvPr id="19" name="Shape 14"/>
          <p:cNvSpPr/>
          <p:nvPr/>
        </p:nvSpPr>
        <p:spPr>
          <a:xfrm>
            <a:off x="548640" y="5065776"/>
            <a:ext cx="5488266" cy="960120"/>
          </a:xfrm>
          <a:prstGeom prst="roundRect">
            <a:avLst>
              <a:gd name="adj" fmla="val 7619"/>
            </a:avLst>
          </a:prstGeom>
          <a:solidFill>
            <a:srgbClr val="F4F6F7"/>
          </a:solidFill>
          <a:ln/>
        </p:spPr>
      </p:sp>
      <p:sp>
        <p:nvSpPr>
          <p:cNvPr id="20" name="Text 15"/>
          <p:cNvSpPr txBox="1"/>
          <p:nvPr/>
        </p:nvSpPr>
        <p:spPr>
          <a:xfrm>
            <a:off x="574763" y="5065776"/>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04</a:t>
            </a:r>
            <a:endParaRPr lang="en-US" sz="2800" dirty="0">
              <a:latin typeface="Times New Roman" panose="02020603050405020304" pitchFamily="18" charset="0"/>
              <a:cs typeface="Times New Roman" panose="02020603050405020304" pitchFamily="18" charset="0"/>
            </a:endParaRPr>
          </a:p>
        </p:txBody>
      </p:sp>
      <p:sp>
        <p:nvSpPr>
          <p:cNvPr id="21" name="Shape 16"/>
          <p:cNvSpPr/>
          <p:nvPr/>
        </p:nvSpPr>
        <p:spPr>
          <a:xfrm>
            <a:off x="5457491" y="5284114"/>
            <a:ext cx="411480" cy="411480"/>
          </a:xfrm>
          <a:prstGeom prst="ellipse">
            <a:avLst/>
          </a:prstGeom>
          <a:solidFill>
            <a:srgbClr val="FFFFFF"/>
          </a:solidFill>
          <a:ln/>
        </p:spPr>
      </p:sp>
      <p:pic>
        <p:nvPicPr>
          <p:cNvPr id="22" name="Image 3" descr="/home/claude/pptx_build/icons/shoppingCart_028090.png"/>
          <p:cNvPicPr>
            <a:picLocks noChangeAspect="1"/>
          </p:cNvPicPr>
          <p:nvPr/>
        </p:nvPicPr>
        <p:blipFill>
          <a:blip r:embed="rId6"/>
          <a:stretch>
            <a:fillRect/>
          </a:stretch>
        </p:blipFill>
        <p:spPr>
          <a:xfrm>
            <a:off x="5546915" y="5382869"/>
            <a:ext cx="213970" cy="213970"/>
          </a:xfrm>
          <a:prstGeom prst="rect">
            <a:avLst/>
          </a:prstGeom>
        </p:spPr>
      </p:pic>
      <p:sp>
        <p:nvSpPr>
          <p:cNvPr id="23" name="Text 17"/>
          <p:cNvSpPr txBox="1"/>
          <p:nvPr/>
        </p:nvSpPr>
        <p:spPr>
          <a:xfrm>
            <a:off x="1390261" y="5065776"/>
            <a:ext cx="4067229"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Kết quả Market Basket Analysis</a:t>
            </a:r>
            <a:endParaRPr lang="en-US" dirty="0">
              <a:latin typeface="Times New Roman" panose="02020603050405020304" pitchFamily="18" charset="0"/>
              <a:cs typeface="Times New Roman" panose="02020603050405020304" pitchFamily="18" charset="0"/>
            </a:endParaRPr>
          </a:p>
        </p:txBody>
      </p:sp>
      <p:sp>
        <p:nvSpPr>
          <p:cNvPr id="24" name="Shape 18"/>
          <p:cNvSpPr/>
          <p:nvPr/>
        </p:nvSpPr>
        <p:spPr>
          <a:xfrm>
            <a:off x="6355080" y="1554480"/>
            <a:ext cx="5541450" cy="960120"/>
          </a:xfrm>
          <a:prstGeom prst="roundRect">
            <a:avLst>
              <a:gd name="adj" fmla="val 7619"/>
            </a:avLst>
          </a:prstGeom>
          <a:solidFill>
            <a:srgbClr val="F4F6F7"/>
          </a:solidFill>
          <a:ln/>
        </p:spPr>
      </p:sp>
      <p:sp>
        <p:nvSpPr>
          <p:cNvPr id="25" name="Text 19"/>
          <p:cNvSpPr txBox="1"/>
          <p:nvPr/>
        </p:nvSpPr>
        <p:spPr>
          <a:xfrm>
            <a:off x="6446520" y="1554480"/>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05</a:t>
            </a:r>
            <a:endParaRPr lang="en-US" sz="2800" dirty="0">
              <a:latin typeface="Times New Roman" panose="02020603050405020304" pitchFamily="18" charset="0"/>
              <a:cs typeface="Times New Roman" panose="02020603050405020304" pitchFamily="18" charset="0"/>
            </a:endParaRPr>
          </a:p>
        </p:txBody>
      </p:sp>
      <p:sp>
        <p:nvSpPr>
          <p:cNvPr id="26" name="Shape 20"/>
          <p:cNvSpPr/>
          <p:nvPr/>
        </p:nvSpPr>
        <p:spPr>
          <a:xfrm>
            <a:off x="11263931" y="1828800"/>
            <a:ext cx="411480" cy="411480"/>
          </a:xfrm>
          <a:prstGeom prst="ellipse">
            <a:avLst/>
          </a:prstGeom>
          <a:solidFill>
            <a:srgbClr val="FFFFFF"/>
          </a:solidFill>
          <a:ln/>
        </p:spPr>
      </p:sp>
      <p:pic>
        <p:nvPicPr>
          <p:cNvPr id="27" name="Image 4" descr="/home/claude/pptx_build/icons/usersCog_028090.png"/>
          <p:cNvPicPr>
            <a:picLocks noChangeAspect="1"/>
          </p:cNvPicPr>
          <p:nvPr/>
        </p:nvPicPr>
        <p:blipFill>
          <a:blip r:embed="rId7"/>
          <a:stretch>
            <a:fillRect/>
          </a:stretch>
        </p:blipFill>
        <p:spPr>
          <a:xfrm>
            <a:off x="11353355" y="1927555"/>
            <a:ext cx="213970" cy="213970"/>
          </a:xfrm>
          <a:prstGeom prst="rect">
            <a:avLst/>
          </a:prstGeom>
        </p:spPr>
      </p:pic>
      <p:sp>
        <p:nvSpPr>
          <p:cNvPr id="28" name="Text 21"/>
          <p:cNvSpPr txBox="1"/>
          <p:nvPr/>
        </p:nvSpPr>
        <p:spPr>
          <a:xfrm>
            <a:off x="7406640" y="1554480"/>
            <a:ext cx="3847960"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Kết quả RFM Customer Segmentation</a:t>
            </a:r>
            <a:endParaRPr lang="en-US" dirty="0">
              <a:latin typeface="Times New Roman" panose="02020603050405020304" pitchFamily="18" charset="0"/>
              <a:cs typeface="Times New Roman" panose="02020603050405020304" pitchFamily="18" charset="0"/>
            </a:endParaRPr>
          </a:p>
        </p:txBody>
      </p:sp>
      <p:sp>
        <p:nvSpPr>
          <p:cNvPr id="29" name="Shape 22"/>
          <p:cNvSpPr/>
          <p:nvPr/>
        </p:nvSpPr>
        <p:spPr>
          <a:xfrm>
            <a:off x="6355080" y="2724912"/>
            <a:ext cx="5541450" cy="960120"/>
          </a:xfrm>
          <a:prstGeom prst="roundRect">
            <a:avLst>
              <a:gd name="adj" fmla="val 7619"/>
            </a:avLst>
          </a:prstGeom>
          <a:solidFill>
            <a:srgbClr val="F4F6F7"/>
          </a:solidFill>
          <a:ln/>
        </p:spPr>
      </p:sp>
      <p:sp>
        <p:nvSpPr>
          <p:cNvPr id="30" name="Text 23"/>
          <p:cNvSpPr txBox="1"/>
          <p:nvPr/>
        </p:nvSpPr>
        <p:spPr>
          <a:xfrm>
            <a:off x="6446520" y="2724912"/>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06</a:t>
            </a:r>
            <a:endParaRPr lang="en-US" sz="2800" dirty="0">
              <a:latin typeface="Times New Roman" panose="02020603050405020304" pitchFamily="18" charset="0"/>
              <a:cs typeface="Times New Roman" panose="02020603050405020304" pitchFamily="18" charset="0"/>
            </a:endParaRPr>
          </a:p>
        </p:txBody>
      </p:sp>
      <p:sp>
        <p:nvSpPr>
          <p:cNvPr id="31" name="Shape 24"/>
          <p:cNvSpPr/>
          <p:nvPr/>
        </p:nvSpPr>
        <p:spPr>
          <a:xfrm>
            <a:off x="11254600" y="2999232"/>
            <a:ext cx="411480" cy="411480"/>
          </a:xfrm>
          <a:prstGeom prst="ellipse">
            <a:avLst/>
          </a:prstGeom>
          <a:solidFill>
            <a:srgbClr val="FFFFFF"/>
          </a:solidFill>
          <a:ln/>
        </p:spPr>
      </p:sp>
      <p:pic>
        <p:nvPicPr>
          <p:cNvPr id="32" name="Image 5" descr="/home/claude/pptx_build/icons/userClock_028090.png"/>
          <p:cNvPicPr>
            <a:picLocks noChangeAspect="1"/>
          </p:cNvPicPr>
          <p:nvPr/>
        </p:nvPicPr>
        <p:blipFill>
          <a:blip r:embed="rId8"/>
          <a:stretch>
            <a:fillRect/>
          </a:stretch>
        </p:blipFill>
        <p:spPr>
          <a:xfrm>
            <a:off x="11362686" y="3097987"/>
            <a:ext cx="213970" cy="213970"/>
          </a:xfrm>
          <a:prstGeom prst="rect">
            <a:avLst/>
          </a:prstGeom>
        </p:spPr>
      </p:pic>
      <p:sp>
        <p:nvSpPr>
          <p:cNvPr id="33" name="Text 25"/>
          <p:cNvSpPr txBox="1"/>
          <p:nvPr/>
        </p:nvSpPr>
        <p:spPr>
          <a:xfrm>
            <a:off x="7406640" y="2724912"/>
            <a:ext cx="3291840"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Kết quả Churn Classification</a:t>
            </a:r>
            <a:endParaRPr lang="en-US" dirty="0">
              <a:latin typeface="Times New Roman" panose="02020603050405020304" pitchFamily="18" charset="0"/>
              <a:cs typeface="Times New Roman" panose="02020603050405020304" pitchFamily="18" charset="0"/>
            </a:endParaRPr>
          </a:p>
        </p:txBody>
      </p:sp>
      <p:sp>
        <p:nvSpPr>
          <p:cNvPr id="34" name="Shape 26"/>
          <p:cNvSpPr/>
          <p:nvPr/>
        </p:nvSpPr>
        <p:spPr>
          <a:xfrm>
            <a:off x="6355080" y="3895344"/>
            <a:ext cx="5541450" cy="960120"/>
          </a:xfrm>
          <a:prstGeom prst="roundRect">
            <a:avLst>
              <a:gd name="adj" fmla="val 7619"/>
            </a:avLst>
          </a:prstGeom>
          <a:solidFill>
            <a:srgbClr val="F4F6F7"/>
          </a:solidFill>
          <a:ln/>
        </p:spPr>
      </p:sp>
      <p:sp>
        <p:nvSpPr>
          <p:cNvPr id="35" name="Text 27"/>
          <p:cNvSpPr txBox="1"/>
          <p:nvPr/>
        </p:nvSpPr>
        <p:spPr>
          <a:xfrm>
            <a:off x="6446520" y="3895344"/>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07</a:t>
            </a:r>
            <a:endParaRPr lang="en-US" sz="2800" dirty="0">
              <a:latin typeface="Times New Roman" panose="02020603050405020304" pitchFamily="18" charset="0"/>
              <a:cs typeface="Times New Roman" panose="02020603050405020304" pitchFamily="18" charset="0"/>
            </a:endParaRPr>
          </a:p>
        </p:txBody>
      </p:sp>
      <p:sp>
        <p:nvSpPr>
          <p:cNvPr id="36" name="Shape 28"/>
          <p:cNvSpPr/>
          <p:nvPr/>
        </p:nvSpPr>
        <p:spPr>
          <a:xfrm>
            <a:off x="11263931" y="4169664"/>
            <a:ext cx="411480" cy="411480"/>
          </a:xfrm>
          <a:prstGeom prst="ellipse">
            <a:avLst/>
          </a:prstGeom>
          <a:solidFill>
            <a:srgbClr val="FFFFFF"/>
          </a:solidFill>
          <a:ln/>
        </p:spPr>
      </p:sp>
      <p:pic>
        <p:nvPicPr>
          <p:cNvPr id="37" name="Image 6" descr="/home/claude/pptx_build/icons/link_028090.png"/>
          <p:cNvPicPr>
            <a:picLocks noChangeAspect="1"/>
          </p:cNvPicPr>
          <p:nvPr/>
        </p:nvPicPr>
        <p:blipFill>
          <a:blip r:embed="rId9"/>
          <a:stretch>
            <a:fillRect/>
          </a:stretch>
        </p:blipFill>
        <p:spPr>
          <a:xfrm>
            <a:off x="11353355" y="4268419"/>
            <a:ext cx="213970" cy="213970"/>
          </a:xfrm>
          <a:prstGeom prst="rect">
            <a:avLst/>
          </a:prstGeom>
        </p:spPr>
      </p:pic>
      <p:sp>
        <p:nvSpPr>
          <p:cNvPr id="38" name="Text 29"/>
          <p:cNvSpPr txBox="1"/>
          <p:nvPr/>
        </p:nvSpPr>
        <p:spPr>
          <a:xfrm>
            <a:off x="7406640" y="3895344"/>
            <a:ext cx="3847960"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Tổng hợp — 1 </a:t>
            </a:r>
            <a:r>
              <a:rPr lang="vi-VN" b="1" dirty="0">
                <a:latin typeface="Times New Roman" panose="02020603050405020304" pitchFamily="18" charset="0"/>
                <a:ea typeface="Calibri" pitchFamily="34" charset="-122"/>
                <a:cs typeface="Times New Roman" panose="02020603050405020304" pitchFamily="18" charset="0"/>
              </a:rPr>
              <a:t>B</a:t>
            </a:r>
            <a:r>
              <a:rPr lang="en-US" b="1" dirty="0" err="1">
                <a:latin typeface="Times New Roman" panose="02020603050405020304" pitchFamily="18" charset="0"/>
                <a:ea typeface="Calibri" pitchFamily="34" charset="-122"/>
                <a:cs typeface="Times New Roman" panose="02020603050405020304" pitchFamily="18" charset="0"/>
              </a:rPr>
              <a:t>ài</a:t>
            </a:r>
            <a:r>
              <a:rPr lang="en-US" b="1" dirty="0">
                <a:latin typeface="Times New Roman" panose="02020603050405020304" pitchFamily="18" charset="0"/>
                <a:ea typeface="Calibri" pitchFamily="34" charset="-122"/>
                <a:cs typeface="Times New Roman" panose="02020603050405020304" pitchFamily="18" charset="0"/>
              </a:rPr>
              <a:t> toán, 3 </a:t>
            </a:r>
            <a:r>
              <a:rPr lang="vi-VN" b="1" dirty="0">
                <a:latin typeface="Times New Roman" panose="02020603050405020304" pitchFamily="18" charset="0"/>
                <a:ea typeface="Calibri" pitchFamily="34" charset="-122"/>
                <a:cs typeface="Times New Roman" panose="02020603050405020304" pitchFamily="18" charset="0"/>
              </a:rPr>
              <a:t>G</a:t>
            </a:r>
            <a:r>
              <a:rPr lang="en-US" b="1" dirty="0" err="1">
                <a:latin typeface="Times New Roman" panose="02020603050405020304" pitchFamily="18" charset="0"/>
                <a:ea typeface="Calibri" pitchFamily="34" charset="-122"/>
                <a:cs typeface="Times New Roman" panose="02020603050405020304" pitchFamily="18" charset="0"/>
              </a:rPr>
              <a:t>óc</a:t>
            </a:r>
            <a:r>
              <a:rPr lang="en-US" b="1" dirty="0">
                <a:latin typeface="Times New Roman" panose="02020603050405020304" pitchFamily="18" charset="0"/>
                <a:ea typeface="Calibri" pitchFamily="34" charset="-122"/>
                <a:cs typeface="Times New Roman" panose="02020603050405020304" pitchFamily="18" charset="0"/>
              </a:rPr>
              <a:t> nhìn</a:t>
            </a:r>
            <a:endParaRPr lang="en-US" dirty="0">
              <a:latin typeface="Times New Roman" panose="02020603050405020304" pitchFamily="18" charset="0"/>
              <a:cs typeface="Times New Roman" panose="02020603050405020304" pitchFamily="18" charset="0"/>
            </a:endParaRPr>
          </a:p>
        </p:txBody>
      </p:sp>
      <p:sp>
        <p:nvSpPr>
          <p:cNvPr id="39" name="Shape 30"/>
          <p:cNvSpPr/>
          <p:nvPr/>
        </p:nvSpPr>
        <p:spPr>
          <a:xfrm>
            <a:off x="6355079" y="5065776"/>
            <a:ext cx="5541451" cy="960120"/>
          </a:xfrm>
          <a:prstGeom prst="roundRect">
            <a:avLst>
              <a:gd name="adj" fmla="val 7619"/>
            </a:avLst>
          </a:prstGeom>
          <a:solidFill>
            <a:srgbClr val="F4F6F7"/>
          </a:solidFill>
          <a:ln/>
        </p:spPr>
      </p:sp>
      <p:sp>
        <p:nvSpPr>
          <p:cNvPr id="40" name="Text 31"/>
          <p:cNvSpPr txBox="1"/>
          <p:nvPr/>
        </p:nvSpPr>
        <p:spPr>
          <a:xfrm>
            <a:off x="6446520" y="5065776"/>
            <a:ext cx="868680" cy="960120"/>
          </a:xfrm>
          <a:prstGeom prst="rect">
            <a:avLst/>
          </a:prstGeom>
          <a:no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08</a:t>
            </a:r>
            <a:endParaRPr lang="en-US" sz="2800" dirty="0">
              <a:latin typeface="Times New Roman" panose="02020603050405020304" pitchFamily="18" charset="0"/>
              <a:cs typeface="Times New Roman" panose="02020603050405020304" pitchFamily="18" charset="0"/>
            </a:endParaRPr>
          </a:p>
        </p:txBody>
      </p:sp>
      <p:sp>
        <p:nvSpPr>
          <p:cNvPr id="41" name="Shape 32"/>
          <p:cNvSpPr/>
          <p:nvPr/>
        </p:nvSpPr>
        <p:spPr>
          <a:xfrm>
            <a:off x="11254600" y="5340096"/>
            <a:ext cx="411480" cy="411480"/>
          </a:xfrm>
          <a:prstGeom prst="ellipse">
            <a:avLst/>
          </a:prstGeom>
          <a:solidFill>
            <a:srgbClr val="FFFFFF"/>
          </a:solidFill>
          <a:ln/>
        </p:spPr>
      </p:sp>
      <p:pic>
        <p:nvPicPr>
          <p:cNvPr id="42" name="Image 7" descr="/home/claude/pptx_build/icons/tasks_028090.png"/>
          <p:cNvPicPr>
            <a:picLocks noChangeAspect="1"/>
          </p:cNvPicPr>
          <p:nvPr/>
        </p:nvPicPr>
        <p:blipFill>
          <a:blip r:embed="rId10"/>
          <a:stretch>
            <a:fillRect/>
          </a:stretch>
        </p:blipFill>
        <p:spPr>
          <a:xfrm>
            <a:off x="11362686" y="5438851"/>
            <a:ext cx="213970" cy="213970"/>
          </a:xfrm>
          <a:prstGeom prst="rect">
            <a:avLst/>
          </a:prstGeom>
        </p:spPr>
      </p:pic>
      <p:sp>
        <p:nvSpPr>
          <p:cNvPr id="43" name="Text 33"/>
          <p:cNvSpPr txBox="1"/>
          <p:nvPr/>
        </p:nvSpPr>
        <p:spPr>
          <a:xfrm>
            <a:off x="7406640" y="5065776"/>
            <a:ext cx="3847960" cy="9601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Phân </a:t>
            </a:r>
            <a:r>
              <a:rPr lang="en-US" b="1" dirty="0" err="1">
                <a:latin typeface="Times New Roman" panose="02020603050405020304" pitchFamily="18" charset="0"/>
                <a:ea typeface="Calibri" pitchFamily="34" charset="-122"/>
                <a:cs typeface="Times New Roman" panose="02020603050405020304" pitchFamily="18" charset="0"/>
              </a:rPr>
              <a:t>công</a:t>
            </a:r>
            <a:r>
              <a:rPr lang="en-US" b="1" dirty="0">
                <a:latin typeface="Times New Roman" panose="02020603050405020304" pitchFamily="18" charset="0"/>
                <a:ea typeface="Calibri" pitchFamily="34" charset="-122"/>
                <a:cs typeface="Times New Roman" panose="02020603050405020304" pitchFamily="18" charset="0"/>
              </a:rPr>
              <a:t> </a:t>
            </a:r>
            <a:r>
              <a:rPr lang="vi-VN" b="1" dirty="0">
                <a:latin typeface="Times New Roman" panose="02020603050405020304" pitchFamily="18" charset="0"/>
                <a:ea typeface="Calibri" pitchFamily="34" charset="-122"/>
                <a:cs typeface="Times New Roman" panose="02020603050405020304" pitchFamily="18" charset="0"/>
              </a:rPr>
              <a:t>và</a:t>
            </a:r>
            <a:r>
              <a:rPr lang="en-US" b="1" dirty="0">
                <a:latin typeface="Times New Roman" panose="02020603050405020304" pitchFamily="18" charset="0"/>
                <a:ea typeface="Calibri" pitchFamily="34" charset="-122"/>
                <a:cs typeface="Times New Roman" panose="02020603050405020304" pitchFamily="18" charset="0"/>
              </a:rPr>
              <a:t> Lộ trình đến Final</a:t>
            </a:r>
            <a:endParaRPr lang="en-US" dirty="0">
              <a:latin typeface="Times New Roman" panose="02020603050405020304" pitchFamily="18" charset="0"/>
              <a:cs typeface="Times New Roman" panose="02020603050405020304" pitchFamily="18" charset="0"/>
            </a:endParaRPr>
          </a:p>
        </p:txBody>
      </p:sp>
      <p:sp>
        <p:nvSpPr>
          <p:cNvPr id="45" name="Text 35"/>
          <p:cNvSpPr txBox="1"/>
          <p:nvPr/>
        </p:nvSpPr>
        <p:spPr>
          <a:xfrm>
            <a:off x="11521440" y="6528816"/>
            <a:ext cx="457200" cy="274320"/>
          </a:xfrm>
          <a:prstGeom prst="rect">
            <a:avLst/>
          </a:prstGeom>
          <a:noFill/>
          <a:ln/>
        </p:spPr>
        <p:txBody>
          <a:bodyPr wrap="square" lIns="0" tIns="0" rIns="0" bIns="0" rtlCol="0" anchor="ctr"/>
          <a:lstStyle/>
          <a:p>
            <a:pPr marL="0" indent="0" algn="r">
              <a:buNone/>
            </a:pPr>
            <a:r>
              <a:rPr lang="en-US" sz="900" dirty="0">
                <a:solidFill>
                  <a:srgbClr val="7F8C8D"/>
                </a:solidFill>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548640" y="6288833"/>
            <a:ext cx="8229600" cy="569167"/>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Times New Roman" panose="02020603050405020304" pitchFamily="18" charset="0"/>
                <a:ea typeface="Calibri" pitchFamily="34" charset="-122"/>
                <a:cs typeface="Times New Roman" panose="02020603050405020304" pitchFamily="18" charset="0"/>
              </a:rPr>
              <a:t>3</a:t>
            </a:r>
            <a:endParaRPr lang="en-US" sz="10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280160"/>
            <a:ext cx="5120640" cy="4754880"/>
          </a:xfrm>
          <a:prstGeom prst="roundRect">
            <a:avLst>
              <a:gd name="adj" fmla="val 1538"/>
            </a:avLst>
          </a:prstGeom>
          <a:solidFill>
            <a:srgbClr val="F4F6FA"/>
          </a:solidFill>
          <a:ln w="12700">
            <a:solidFill>
              <a:srgbClr val="F4F6FA"/>
            </a:solidFill>
            <a:prstDash val="solid"/>
          </a:ln>
        </p:spPr>
      </p:sp>
      <p:sp>
        <p:nvSpPr>
          <p:cNvPr id="7" name="Text 5"/>
          <p:cNvSpPr txBox="1"/>
          <p:nvPr/>
        </p:nvSpPr>
        <p:spPr>
          <a:xfrm>
            <a:off x="822960" y="1417320"/>
            <a:ext cx="4572000" cy="365760"/>
          </a:xfrm>
          <a:prstGeom prst="rect">
            <a:avLst/>
          </a:prstGeom>
          <a:noFill/>
          <a:ln/>
        </p:spPr>
        <p:txBody>
          <a:bodyPr wrap="square" lIns="0" tIns="0" rIns="0" bIns="0" rtlCol="0" anchor="ctr"/>
          <a:lstStyle/>
          <a:p>
            <a:pPr marL="0" indent="0">
              <a:buNone/>
            </a:pPr>
            <a:r>
              <a:rPr lang="en-US" sz="2000" b="1" dirty="0">
                <a:solidFill>
                  <a:srgbClr val="14213D"/>
                </a:solidFill>
                <a:latin typeface="Times New Roman" panose="02020603050405020304" pitchFamily="18" charset="0"/>
                <a:ea typeface="Cambria" pitchFamily="34" charset="-122"/>
                <a:cs typeface="Times New Roman" panose="02020603050405020304" pitchFamily="18" charset="0"/>
              </a:rPr>
              <a:t>Bối cảnh</a:t>
            </a:r>
            <a:endParaRPr lang="en-US" sz="2000" dirty="0">
              <a:latin typeface="Times New Roman" panose="02020603050405020304" pitchFamily="18" charset="0"/>
              <a:cs typeface="Times New Roman" panose="02020603050405020304" pitchFamily="18" charset="0"/>
            </a:endParaRPr>
          </a:p>
        </p:txBody>
      </p:sp>
      <p:sp>
        <p:nvSpPr>
          <p:cNvPr id="8" name="Text 6"/>
          <p:cNvSpPr txBox="1"/>
          <p:nvPr/>
        </p:nvSpPr>
        <p:spPr>
          <a:xfrm>
            <a:off x="822960" y="1920240"/>
            <a:ext cx="4572000" cy="4023360"/>
          </a:xfrm>
          <a:prstGeom prst="rect">
            <a:avLst/>
          </a:prstGeom>
          <a:noFill/>
          <a:ln/>
        </p:spPr>
        <p:txBody>
          <a:bodyPr wrap="square" lIns="0" tIns="0" rIns="0" bIns="0" rtlCol="0" anchor="t"/>
          <a:lstStyle/>
          <a:p>
            <a:pPr marL="203200" indent="-203200">
              <a:spcAft>
                <a:spcPts val="1400"/>
              </a:spcAft>
              <a:buSzPct val="100000"/>
              <a:buChar char="•"/>
            </a:pPr>
            <a:r>
              <a:rPr lang="en-US" b="1" dirty="0">
                <a:solidFill>
                  <a:srgbClr val="1F2937"/>
                </a:solidFill>
                <a:latin typeface="Times New Roman" panose="02020603050405020304" pitchFamily="18" charset="0"/>
                <a:ea typeface="Calibri" pitchFamily="34" charset="-122"/>
                <a:cs typeface="Times New Roman" panose="02020603050405020304" pitchFamily="18" charset="0"/>
              </a:rPr>
              <a:t>Doanh nghiệp: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B</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án</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buôn, </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bán</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lẻ quà </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tặng</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và</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đồ gia dụng trực tuyến </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tại</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Anh.</a:t>
            </a:r>
            <a:endParaRPr lang="en-US" dirty="0">
              <a:latin typeface="Times New Roman" panose="02020603050405020304" pitchFamily="18" charset="0"/>
              <a:cs typeface="Times New Roman" panose="02020603050405020304" pitchFamily="18" charset="0"/>
            </a:endParaRPr>
          </a:p>
          <a:p>
            <a:pPr marL="203200" indent="-203200">
              <a:spcAft>
                <a:spcPts val="1400"/>
              </a:spcAft>
              <a:buSzPct val="100000"/>
              <a:buChar char="•"/>
            </a:pPr>
            <a:r>
              <a:rPr lang="en-US" b="1" dirty="0">
                <a:solidFill>
                  <a:srgbClr val="1F2937"/>
                </a:solidFill>
                <a:latin typeface="Times New Roman" panose="02020603050405020304" pitchFamily="18" charset="0"/>
                <a:ea typeface="Calibri" pitchFamily="34" charset="-122"/>
                <a:cs typeface="Times New Roman" panose="02020603050405020304" pitchFamily="18" charset="0"/>
              </a:rPr>
              <a:t>Thách thức: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K</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hách</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hàng đông, hành vi đa dạng nhưng nguồn </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lực</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M</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arketing</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có</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hạn,</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không thể chăm sóc mọi khách như nhau.</a:t>
            </a:r>
            <a:endParaRPr lang="en-US" dirty="0">
              <a:latin typeface="Times New Roman" panose="02020603050405020304" pitchFamily="18" charset="0"/>
              <a:cs typeface="Times New Roman" panose="02020603050405020304" pitchFamily="18" charset="0"/>
            </a:endParaRPr>
          </a:p>
          <a:p>
            <a:pPr marL="203200" indent="-203200">
              <a:spcAft>
                <a:spcPts val="1400"/>
              </a:spcAft>
              <a:buSzPct val="100000"/>
              <a:buChar char="•"/>
            </a:pPr>
            <a:r>
              <a:rPr lang="en-US" b="1" dirty="0">
                <a:solidFill>
                  <a:srgbClr val="1F2937"/>
                </a:solidFill>
                <a:latin typeface="Times New Roman" panose="02020603050405020304" pitchFamily="18" charset="0"/>
                <a:ea typeface="Calibri" pitchFamily="34" charset="-122"/>
                <a:cs typeface="Times New Roman" panose="02020603050405020304" pitchFamily="18" charset="0"/>
              </a:rPr>
              <a:t>Câu hỏi lớn: </a:t>
            </a:r>
            <a:r>
              <a:rPr lang="en-US" i="1" dirty="0">
                <a:solidFill>
                  <a:srgbClr val="1F2937"/>
                </a:solidFill>
                <a:latin typeface="Times New Roman" panose="02020603050405020304" pitchFamily="18" charset="0"/>
                <a:ea typeface="Calibri" pitchFamily="34" charset="-122"/>
                <a:cs typeface="Times New Roman" panose="02020603050405020304" pitchFamily="18" charset="0"/>
              </a:rPr>
              <a:t>“</a:t>
            </a:r>
            <a:r>
              <a:rPr lang="vi-VN" i="1" dirty="0">
                <a:solidFill>
                  <a:srgbClr val="1F2937"/>
                </a:solidFill>
                <a:latin typeface="Times New Roman" panose="02020603050405020304" pitchFamily="18" charset="0"/>
                <a:ea typeface="Calibri" pitchFamily="34" charset="-122"/>
                <a:cs typeface="Times New Roman" panose="02020603050405020304" pitchFamily="18" charset="0"/>
              </a:rPr>
              <a:t>Làm sao hiểu và giữ chân khách hàng tốt hơn trên nền tảng E-Commerce?</a:t>
            </a:r>
            <a:r>
              <a:rPr lang="en-US" i="1" dirty="0">
                <a:solidFill>
                  <a:srgbClr val="1F2937"/>
                </a:solidFill>
                <a:latin typeface="Times New Roman" panose="02020603050405020304" pitchFamily="18" charset="0"/>
                <a:ea typeface="Calibri"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03200" indent="-203200">
              <a:spcAft>
                <a:spcPts val="1400"/>
              </a:spcAft>
              <a:buSzPct val="100000"/>
              <a:buChar char="•"/>
            </a:pPr>
            <a:r>
              <a:rPr lang="en-US" b="1" dirty="0">
                <a:solidFill>
                  <a:srgbClr val="1F2937"/>
                </a:solidFill>
                <a:latin typeface="Times New Roman" panose="02020603050405020304" pitchFamily="18" charset="0"/>
                <a:ea typeface="Calibri" pitchFamily="34" charset="-122"/>
                <a:cs typeface="Times New Roman" panose="02020603050405020304" pitchFamily="18" charset="0"/>
              </a:rPr>
              <a:t>Cách tiếp cận: </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1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B</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ài</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toán – 3 </a:t>
            </a:r>
            <a:r>
              <a:rPr lang="vi-VN" dirty="0">
                <a:solidFill>
                  <a:srgbClr val="1F2937"/>
                </a:solidFill>
                <a:latin typeface="Times New Roman" panose="02020603050405020304" pitchFamily="18" charset="0"/>
                <a:ea typeface="Calibri" pitchFamily="34" charset="-122"/>
                <a:cs typeface="Times New Roman" panose="02020603050405020304" pitchFamily="18" charset="0"/>
              </a:rPr>
              <a:t>G</a:t>
            </a:r>
            <a:r>
              <a:rPr lang="en-US" dirty="0" err="1">
                <a:solidFill>
                  <a:srgbClr val="1F2937"/>
                </a:solidFill>
                <a:latin typeface="Times New Roman" panose="02020603050405020304" pitchFamily="18" charset="0"/>
                <a:ea typeface="Calibri" pitchFamily="34" charset="-122"/>
                <a:cs typeface="Times New Roman" panose="02020603050405020304" pitchFamily="18" charset="0"/>
              </a:rPr>
              <a:t>óc</a:t>
            </a:r>
            <a:r>
              <a:rPr lang="en-US" dirty="0">
                <a:solidFill>
                  <a:srgbClr val="1F2937"/>
                </a:solidFill>
                <a:latin typeface="Times New Roman" panose="02020603050405020304" pitchFamily="18" charset="0"/>
                <a:ea typeface="Calibri" pitchFamily="34" charset="-122"/>
                <a:cs typeface="Times New Roman" panose="02020603050405020304" pitchFamily="18" charset="0"/>
              </a:rPr>
              <a:t> nhìn bổ trợ nhau, cùng xây trên một nguồn dữ liệu đã làm sạch.</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5943600" y="1280160"/>
            <a:ext cx="5696712" cy="1463040"/>
          </a:xfrm>
          <a:prstGeom prst="roundRect">
            <a:avLst>
              <a:gd name="adj" fmla="val 5000"/>
            </a:avLst>
          </a:prstGeom>
          <a:solidFill>
            <a:srgbClr val="F4F6FA"/>
          </a:solidFill>
          <a:ln w="12700">
            <a:solidFill>
              <a:srgbClr val="F4F6FA"/>
            </a:solidFill>
            <a:prstDash val="solid"/>
          </a:ln>
        </p:spPr>
      </p:sp>
      <p:sp>
        <p:nvSpPr>
          <p:cNvPr id="10" name="Shape 8"/>
          <p:cNvSpPr/>
          <p:nvPr/>
        </p:nvSpPr>
        <p:spPr>
          <a:xfrm>
            <a:off x="6172200" y="1645920"/>
            <a:ext cx="731520" cy="731520"/>
          </a:xfrm>
          <a:prstGeom prst="ellipse">
            <a:avLst/>
          </a:prstGeom>
          <a:solidFill>
            <a:srgbClr val="14213D"/>
          </a:solidFill>
          <a:ln w="12700">
            <a:solidFill>
              <a:srgbClr val="14213D"/>
            </a:solidFill>
            <a:prstDash val="solid"/>
          </a:ln>
        </p:spPr>
      </p:sp>
      <p:pic>
        <p:nvPicPr>
          <p:cNvPr id="11" name="Image 0" descr="icon"/>
          <p:cNvPicPr>
            <a:picLocks noChangeAspect="1"/>
          </p:cNvPicPr>
          <p:nvPr/>
        </p:nvPicPr>
        <p:blipFill>
          <a:blip r:embed="rId3"/>
          <a:stretch>
            <a:fillRect/>
          </a:stretch>
        </p:blipFill>
        <p:spPr>
          <a:xfrm>
            <a:off x="6355080" y="1828800"/>
            <a:ext cx="365760" cy="365760"/>
          </a:xfrm>
          <a:prstGeom prst="rect">
            <a:avLst/>
          </a:prstGeom>
        </p:spPr>
      </p:pic>
      <p:sp>
        <p:nvSpPr>
          <p:cNvPr id="12" name="Text 9"/>
          <p:cNvSpPr txBox="1"/>
          <p:nvPr/>
        </p:nvSpPr>
        <p:spPr>
          <a:xfrm>
            <a:off x="7132320" y="1417320"/>
            <a:ext cx="4325112"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Market Basket Analysis</a:t>
            </a:r>
            <a:endParaRPr lang="en-US" dirty="0">
              <a:latin typeface="Times New Roman" panose="02020603050405020304" pitchFamily="18" charset="0"/>
              <a:cs typeface="Times New Roman" panose="02020603050405020304" pitchFamily="18" charset="0"/>
            </a:endParaRPr>
          </a:p>
        </p:txBody>
      </p:sp>
      <p:sp>
        <p:nvSpPr>
          <p:cNvPr id="13" name="Text 10"/>
          <p:cNvSpPr txBox="1"/>
          <p:nvPr/>
        </p:nvSpPr>
        <p:spPr>
          <a:xfrm>
            <a:off x="7132320" y="1828800"/>
            <a:ext cx="4325112" cy="365760"/>
          </a:xfrm>
          <a:prstGeom prst="rect">
            <a:avLst/>
          </a:prstGeom>
          <a:noFill/>
          <a:ln/>
        </p:spPr>
        <p:txBody>
          <a:bodyPr wrap="square" lIns="0" tIns="0" rIns="0" bIns="0" rtlCol="0" anchor="ctr"/>
          <a:lstStyle/>
          <a:p>
            <a:pPr marL="0" indent="0">
              <a:buNone/>
            </a:pPr>
            <a:r>
              <a:rPr lang="en-US" dirty="0">
                <a:solidFill>
                  <a:srgbClr val="1F2937"/>
                </a:solidFill>
                <a:latin typeface="Times New Roman" panose="02020603050405020304" pitchFamily="18" charset="0"/>
                <a:ea typeface="Calibri" pitchFamily="34" charset="-122"/>
                <a:cs typeface="Times New Roman" panose="02020603050405020304" pitchFamily="18" charset="0"/>
              </a:rPr>
              <a:t>Khách mua gì thường mua kèm gì?</a:t>
            </a:r>
            <a:endParaRPr lang="en-US" dirty="0">
              <a:latin typeface="Times New Roman" panose="02020603050405020304" pitchFamily="18" charset="0"/>
              <a:cs typeface="Times New Roman" panose="02020603050405020304" pitchFamily="18" charset="0"/>
            </a:endParaRPr>
          </a:p>
        </p:txBody>
      </p:sp>
      <p:sp>
        <p:nvSpPr>
          <p:cNvPr id="14" name="Text 11"/>
          <p:cNvSpPr txBox="1"/>
          <p:nvPr/>
        </p:nvSpPr>
        <p:spPr>
          <a:xfrm>
            <a:off x="7132320" y="2240280"/>
            <a:ext cx="4325112" cy="365760"/>
          </a:xfrm>
          <a:prstGeom prst="rect">
            <a:avLst/>
          </a:prstGeom>
          <a:noFill/>
          <a:ln/>
        </p:spPr>
        <p:txBody>
          <a:bodyPr wrap="square" lIns="0" tIns="0" rIns="0" bIns="0" rtlCol="0" anchor="ctr"/>
          <a:lstStyle/>
          <a:p>
            <a:r>
              <a:rPr lang="en-US" i="1" dirty="0">
                <a:latin typeface="Times New Roman" panose="02020603050405020304" pitchFamily="18" charset="0"/>
                <a:ea typeface="Calibri" pitchFamily="34" charset="-122"/>
                <a:cs typeface="Times New Roman" panose="02020603050405020304" pitchFamily="18" charset="0"/>
              </a:rPr>
              <a:t>Cross-sell</a:t>
            </a:r>
            <a:r>
              <a:rPr lang="vi-VN" i="1" dirty="0">
                <a:latin typeface="Times New Roman" panose="02020603050405020304" pitchFamily="18" charset="0"/>
                <a:ea typeface="Calibri" pitchFamily="34" charset="-122"/>
                <a:cs typeface="Times New Roman" panose="02020603050405020304" pitchFamily="18" charset="0"/>
              </a:rPr>
              <a:t> </a:t>
            </a:r>
            <a:r>
              <a:rPr lang="en-US" i="1" dirty="0">
                <a:latin typeface="Times New Roman" pitchFamily="34" charset="0"/>
                <a:ea typeface="Times New Roman" pitchFamily="34" charset="-122"/>
                <a:cs typeface="Times New Roman" pitchFamily="34" charset="-120"/>
              </a:rPr>
              <a:t>—</a:t>
            </a:r>
            <a:r>
              <a:rPr lang="en-US" i="1" dirty="0">
                <a:latin typeface="Times New Roman" panose="02020603050405020304" pitchFamily="18" charset="0"/>
                <a:ea typeface="Calibri" pitchFamily="34" charset="-122"/>
                <a:cs typeface="Times New Roman" panose="02020603050405020304" pitchFamily="18" charset="0"/>
              </a:rPr>
              <a:t> </a:t>
            </a:r>
            <a:r>
              <a:rPr lang="vi-VN" i="1" dirty="0">
                <a:latin typeface="Times New Roman" panose="02020603050405020304" pitchFamily="18" charset="0"/>
                <a:ea typeface="Calibri" pitchFamily="34" charset="-122"/>
                <a:cs typeface="Times New Roman" panose="02020603050405020304" pitchFamily="18" charset="0"/>
              </a:rPr>
              <a:t>B</a:t>
            </a:r>
            <a:r>
              <a:rPr lang="en-US" i="1" dirty="0">
                <a:latin typeface="Times New Roman" panose="02020603050405020304" pitchFamily="18" charset="0"/>
                <a:ea typeface="Calibri" pitchFamily="34" charset="-122"/>
                <a:cs typeface="Times New Roman" panose="02020603050405020304" pitchFamily="18" charset="0"/>
              </a:rPr>
              <a:t>ố trí </a:t>
            </a:r>
            <a:r>
              <a:rPr lang="en-US" i="1" dirty="0" err="1">
                <a:latin typeface="Times New Roman" panose="02020603050405020304" pitchFamily="18" charset="0"/>
                <a:ea typeface="Calibri" pitchFamily="34" charset="-122"/>
                <a:cs typeface="Times New Roman" panose="02020603050405020304" pitchFamily="18" charset="0"/>
              </a:rPr>
              <a:t>sản</a:t>
            </a:r>
            <a:r>
              <a:rPr lang="en-US" i="1" dirty="0">
                <a:latin typeface="Times New Roman" panose="02020603050405020304" pitchFamily="18" charset="0"/>
                <a:ea typeface="Calibri" pitchFamily="34" charset="-122"/>
                <a:cs typeface="Times New Roman" panose="02020603050405020304" pitchFamily="18" charset="0"/>
              </a:rPr>
              <a:t> </a:t>
            </a:r>
            <a:r>
              <a:rPr lang="en-US" i="1" dirty="0" err="1">
                <a:latin typeface="Times New Roman" panose="02020603050405020304" pitchFamily="18" charset="0"/>
                <a:ea typeface="Calibri" pitchFamily="34" charset="-122"/>
                <a:cs typeface="Times New Roman" panose="02020603050405020304" pitchFamily="18" charset="0"/>
              </a:rPr>
              <a:t>phẩm</a:t>
            </a:r>
            <a:r>
              <a:rPr lang="vi-VN" i="1" dirty="0">
                <a:latin typeface="Times New Roman" panose="02020603050405020304" pitchFamily="18" charset="0"/>
                <a:ea typeface="Calibri" pitchFamily="34" charset="-122"/>
                <a:cs typeface="Times New Roman" panose="02020603050405020304" pitchFamily="18" charset="0"/>
              </a:rPr>
              <a:t> </a:t>
            </a:r>
            <a:r>
              <a:rPr lang="en-US" i="1" dirty="0">
                <a:latin typeface="Times New Roman" pitchFamily="34" charset="0"/>
                <a:ea typeface="Times New Roman" pitchFamily="34" charset="-122"/>
                <a:cs typeface="Times New Roman" pitchFamily="34" charset="-120"/>
              </a:rPr>
              <a:t>—</a:t>
            </a:r>
            <a:r>
              <a:rPr lang="en-US" i="1" dirty="0">
                <a:latin typeface="Times New Roman" panose="02020603050405020304" pitchFamily="18" charset="0"/>
                <a:ea typeface="Calibri" pitchFamily="34" charset="-122"/>
                <a:cs typeface="Times New Roman" panose="02020603050405020304" pitchFamily="18" charset="0"/>
              </a:rPr>
              <a:t> </a:t>
            </a:r>
            <a:r>
              <a:rPr lang="vi-VN" i="1" dirty="0">
                <a:latin typeface="Times New Roman" panose="02020603050405020304" pitchFamily="18" charset="0"/>
                <a:ea typeface="Calibri" pitchFamily="34" charset="-122"/>
                <a:cs typeface="Times New Roman" panose="02020603050405020304" pitchFamily="18" charset="0"/>
              </a:rPr>
              <a:t>C</a:t>
            </a:r>
            <a:r>
              <a:rPr lang="en-US" i="1" dirty="0" err="1">
                <a:latin typeface="Times New Roman" panose="02020603050405020304" pitchFamily="18" charset="0"/>
                <a:ea typeface="Calibri" pitchFamily="34" charset="-122"/>
                <a:cs typeface="Times New Roman" panose="02020603050405020304" pitchFamily="18" charset="0"/>
              </a:rPr>
              <a:t>ombo</a:t>
            </a:r>
            <a:endParaRPr lang="en-US" dirty="0">
              <a:latin typeface="Times New Roman" panose="02020603050405020304" pitchFamily="18" charset="0"/>
              <a:cs typeface="Times New Roman" panose="02020603050405020304" pitchFamily="18" charset="0"/>
            </a:endParaRPr>
          </a:p>
        </p:txBody>
      </p:sp>
      <p:sp>
        <p:nvSpPr>
          <p:cNvPr id="15" name="Shape 12"/>
          <p:cNvSpPr/>
          <p:nvPr/>
        </p:nvSpPr>
        <p:spPr>
          <a:xfrm>
            <a:off x="5943600" y="2907792"/>
            <a:ext cx="5696712" cy="1463040"/>
          </a:xfrm>
          <a:prstGeom prst="roundRect">
            <a:avLst>
              <a:gd name="adj" fmla="val 5000"/>
            </a:avLst>
          </a:prstGeom>
          <a:solidFill>
            <a:srgbClr val="F4F6FA"/>
          </a:solidFill>
          <a:ln w="12700">
            <a:solidFill>
              <a:srgbClr val="F4F6FA"/>
            </a:solidFill>
            <a:prstDash val="solid"/>
          </a:ln>
        </p:spPr>
      </p:sp>
      <p:sp>
        <p:nvSpPr>
          <p:cNvPr id="16" name="Shape 13"/>
          <p:cNvSpPr/>
          <p:nvPr/>
        </p:nvSpPr>
        <p:spPr>
          <a:xfrm>
            <a:off x="6172200" y="3273552"/>
            <a:ext cx="731520" cy="731520"/>
          </a:xfrm>
          <a:prstGeom prst="ellipse">
            <a:avLst/>
          </a:prstGeom>
          <a:solidFill>
            <a:srgbClr val="14213D"/>
          </a:solidFill>
          <a:ln w="12700">
            <a:solidFill>
              <a:srgbClr val="14213D"/>
            </a:solidFill>
            <a:prstDash val="solid"/>
          </a:ln>
        </p:spPr>
      </p:sp>
      <p:pic>
        <p:nvPicPr>
          <p:cNvPr id="17" name="Image 1" descr="icon"/>
          <p:cNvPicPr>
            <a:picLocks noChangeAspect="1"/>
          </p:cNvPicPr>
          <p:nvPr/>
        </p:nvPicPr>
        <p:blipFill>
          <a:blip r:embed="rId4"/>
          <a:stretch>
            <a:fillRect/>
          </a:stretch>
        </p:blipFill>
        <p:spPr>
          <a:xfrm>
            <a:off x="6355080" y="3456432"/>
            <a:ext cx="365760" cy="365760"/>
          </a:xfrm>
          <a:prstGeom prst="rect">
            <a:avLst/>
          </a:prstGeom>
        </p:spPr>
      </p:pic>
      <p:sp>
        <p:nvSpPr>
          <p:cNvPr id="18" name="Text 14"/>
          <p:cNvSpPr txBox="1"/>
          <p:nvPr/>
        </p:nvSpPr>
        <p:spPr>
          <a:xfrm>
            <a:off x="7132320" y="3044952"/>
            <a:ext cx="4325112"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RFM Clustering</a:t>
            </a:r>
            <a:endParaRPr lang="en-US" dirty="0">
              <a:latin typeface="Times New Roman" panose="02020603050405020304" pitchFamily="18" charset="0"/>
              <a:cs typeface="Times New Roman" panose="02020603050405020304" pitchFamily="18" charset="0"/>
            </a:endParaRPr>
          </a:p>
        </p:txBody>
      </p:sp>
      <p:sp>
        <p:nvSpPr>
          <p:cNvPr id="19" name="Text 15"/>
          <p:cNvSpPr txBox="1"/>
          <p:nvPr/>
        </p:nvSpPr>
        <p:spPr>
          <a:xfrm>
            <a:off x="7132320" y="3456432"/>
            <a:ext cx="4325112" cy="365760"/>
          </a:xfrm>
          <a:prstGeom prst="rect">
            <a:avLst/>
          </a:prstGeom>
          <a:noFill/>
          <a:ln/>
        </p:spPr>
        <p:txBody>
          <a:bodyPr wrap="square" lIns="0" tIns="0" rIns="0" bIns="0" rtlCol="0" anchor="ctr"/>
          <a:lstStyle/>
          <a:p>
            <a:pPr marL="0" indent="0">
              <a:buNone/>
            </a:pPr>
            <a:r>
              <a:rPr lang="en-US" dirty="0">
                <a:solidFill>
                  <a:srgbClr val="1F2937"/>
                </a:solidFill>
                <a:latin typeface="Times New Roman" panose="02020603050405020304" pitchFamily="18" charset="0"/>
                <a:ea typeface="Calibri" pitchFamily="34" charset="-122"/>
                <a:cs typeface="Times New Roman" panose="02020603050405020304" pitchFamily="18" charset="0"/>
              </a:rPr>
              <a:t>Khách hàng nào đáng giá bao nhiêu?</a:t>
            </a:r>
            <a:endParaRPr lang="en-US" dirty="0">
              <a:latin typeface="Times New Roman" panose="02020603050405020304" pitchFamily="18" charset="0"/>
              <a:cs typeface="Times New Roman" panose="02020603050405020304" pitchFamily="18" charset="0"/>
            </a:endParaRPr>
          </a:p>
        </p:txBody>
      </p:sp>
      <p:sp>
        <p:nvSpPr>
          <p:cNvPr id="20" name="Text 16"/>
          <p:cNvSpPr txBox="1"/>
          <p:nvPr/>
        </p:nvSpPr>
        <p:spPr>
          <a:xfrm>
            <a:off x="7132320" y="3867912"/>
            <a:ext cx="4325112" cy="365760"/>
          </a:xfrm>
          <a:prstGeom prst="rect">
            <a:avLst/>
          </a:prstGeom>
          <a:noFill/>
          <a:ln/>
        </p:spPr>
        <p:txBody>
          <a:bodyPr wrap="square" lIns="0" tIns="0" rIns="0" bIns="0" rtlCol="0" anchor="ctr"/>
          <a:lstStyle/>
          <a:p>
            <a:r>
              <a:rPr lang="en-US" i="1" dirty="0" err="1">
                <a:solidFill>
                  <a:srgbClr val="6B7280"/>
                </a:solidFill>
                <a:latin typeface="Times New Roman" panose="02020603050405020304" pitchFamily="18" charset="0"/>
                <a:ea typeface="Calibri" pitchFamily="34" charset="-122"/>
                <a:cs typeface="Times New Roman" panose="02020603050405020304" pitchFamily="18" charset="0"/>
              </a:rPr>
              <a:t>Phân</a:t>
            </a:r>
            <a:r>
              <a:rPr lang="en-US" i="1" dirty="0">
                <a:solidFill>
                  <a:srgbClr val="6B7280"/>
                </a:solidFill>
                <a:latin typeface="Times New Roman" panose="02020603050405020304" pitchFamily="18" charset="0"/>
                <a:ea typeface="Calibri" pitchFamily="34" charset="-122"/>
                <a:cs typeface="Times New Roman" panose="02020603050405020304" pitchFamily="18" charset="0"/>
              </a:rPr>
              <a:t> </a:t>
            </a:r>
            <a:r>
              <a:rPr lang="en-US" i="1" dirty="0" err="1">
                <a:solidFill>
                  <a:srgbClr val="6B7280"/>
                </a:solidFill>
                <a:latin typeface="Times New Roman" panose="02020603050405020304" pitchFamily="18" charset="0"/>
                <a:ea typeface="Calibri" pitchFamily="34" charset="-122"/>
                <a:cs typeface="Times New Roman" panose="02020603050405020304" pitchFamily="18" charset="0"/>
              </a:rPr>
              <a:t>khúc</a:t>
            </a:r>
            <a:r>
              <a:rPr lang="en-US" i="1" dirty="0">
                <a:solidFill>
                  <a:srgbClr val="6B7280"/>
                </a:solidFill>
                <a:latin typeface="Times New Roman" panose="02020603050405020304" pitchFamily="18" charset="0"/>
                <a:ea typeface="Calibri" pitchFamily="34" charset="-122"/>
                <a:cs typeface="Times New Roman" panose="02020603050405020304" pitchFamily="18" charset="0"/>
              </a:rPr>
              <a:t> </a:t>
            </a:r>
            <a:r>
              <a:rPr lang="vi-VN" i="1" dirty="0">
                <a:solidFill>
                  <a:srgbClr val="6B7280"/>
                </a:solidFill>
                <a:latin typeface="Times New Roman" panose="02020603050405020304" pitchFamily="18" charset="0"/>
                <a:ea typeface="Calibri" pitchFamily="34" charset="-122"/>
                <a:cs typeface="Times New Roman" panose="02020603050405020304" pitchFamily="18" charset="0"/>
              </a:rPr>
              <a:t>và</a:t>
            </a:r>
            <a:r>
              <a:rPr lang="vi-VN" i="1" dirty="0">
                <a:solidFill>
                  <a:srgbClr val="5B6B82"/>
                </a:solidFill>
                <a:latin typeface="Times New Roman" pitchFamily="34" charset="0"/>
                <a:ea typeface="Times New Roman" pitchFamily="34" charset="-122"/>
                <a:cs typeface="Times New Roman" pitchFamily="34" charset="-120"/>
              </a:rPr>
              <a:t> </a:t>
            </a:r>
            <a:r>
              <a:rPr lang="vi-VN" i="1" dirty="0">
                <a:solidFill>
                  <a:srgbClr val="6B7280"/>
                </a:solidFill>
                <a:latin typeface="Times New Roman" panose="02020603050405020304" pitchFamily="18" charset="0"/>
                <a:ea typeface="Calibri" pitchFamily="34" charset="-122"/>
                <a:cs typeface="Times New Roman" panose="02020603050405020304" pitchFamily="18" charset="0"/>
              </a:rPr>
              <a:t>c</a:t>
            </a:r>
            <a:r>
              <a:rPr lang="en-US" i="1" dirty="0" err="1">
                <a:solidFill>
                  <a:srgbClr val="6B7280"/>
                </a:solidFill>
                <a:latin typeface="Times New Roman" panose="02020603050405020304" pitchFamily="18" charset="0"/>
                <a:ea typeface="Calibri" pitchFamily="34" charset="-122"/>
                <a:cs typeface="Times New Roman" panose="02020603050405020304" pitchFamily="18" charset="0"/>
              </a:rPr>
              <a:t>hiến</a:t>
            </a:r>
            <a:r>
              <a:rPr lang="en-US" i="1" dirty="0">
                <a:solidFill>
                  <a:srgbClr val="6B7280"/>
                </a:solidFill>
                <a:latin typeface="Times New Roman" panose="02020603050405020304" pitchFamily="18" charset="0"/>
                <a:ea typeface="Calibri" pitchFamily="34" charset="-122"/>
                <a:cs typeface="Times New Roman" panose="02020603050405020304" pitchFamily="18" charset="0"/>
              </a:rPr>
              <a:t> lược chăm sóc riêng</a:t>
            </a:r>
            <a:endParaRPr lang="en-US" dirty="0">
              <a:latin typeface="Times New Roman" panose="02020603050405020304" pitchFamily="18" charset="0"/>
              <a:cs typeface="Times New Roman" panose="02020603050405020304" pitchFamily="18" charset="0"/>
            </a:endParaRPr>
          </a:p>
        </p:txBody>
      </p:sp>
      <p:sp>
        <p:nvSpPr>
          <p:cNvPr id="21" name="Shape 17"/>
          <p:cNvSpPr/>
          <p:nvPr/>
        </p:nvSpPr>
        <p:spPr>
          <a:xfrm>
            <a:off x="5943600" y="4535424"/>
            <a:ext cx="5696712" cy="1463040"/>
          </a:xfrm>
          <a:prstGeom prst="roundRect">
            <a:avLst>
              <a:gd name="adj" fmla="val 5000"/>
            </a:avLst>
          </a:prstGeom>
          <a:solidFill>
            <a:srgbClr val="F4F6FA"/>
          </a:solidFill>
          <a:ln w="12700">
            <a:solidFill>
              <a:srgbClr val="F4F6FA"/>
            </a:solidFill>
            <a:prstDash val="solid"/>
          </a:ln>
        </p:spPr>
      </p:sp>
      <p:sp>
        <p:nvSpPr>
          <p:cNvPr id="22" name="Shape 18"/>
          <p:cNvSpPr/>
          <p:nvPr/>
        </p:nvSpPr>
        <p:spPr>
          <a:xfrm>
            <a:off x="6172200" y="4901184"/>
            <a:ext cx="731520" cy="731520"/>
          </a:xfrm>
          <a:prstGeom prst="ellipse">
            <a:avLst/>
          </a:prstGeom>
          <a:solidFill>
            <a:srgbClr val="D9890A"/>
          </a:solidFill>
          <a:ln w="12700">
            <a:solidFill>
              <a:srgbClr val="14213D"/>
            </a:solidFill>
            <a:prstDash val="solid"/>
          </a:ln>
        </p:spPr>
      </p:sp>
      <p:pic>
        <p:nvPicPr>
          <p:cNvPr id="23" name="Image 2" descr="icon"/>
          <p:cNvPicPr>
            <a:picLocks noChangeAspect="1"/>
          </p:cNvPicPr>
          <p:nvPr/>
        </p:nvPicPr>
        <p:blipFill>
          <a:blip r:embed="rId5"/>
          <a:stretch>
            <a:fillRect/>
          </a:stretch>
        </p:blipFill>
        <p:spPr>
          <a:xfrm>
            <a:off x="6355080" y="5084064"/>
            <a:ext cx="365760" cy="365760"/>
          </a:xfrm>
          <a:prstGeom prst="rect">
            <a:avLst/>
          </a:prstGeom>
        </p:spPr>
      </p:pic>
      <p:sp>
        <p:nvSpPr>
          <p:cNvPr id="24" name="Text 19"/>
          <p:cNvSpPr txBox="1"/>
          <p:nvPr/>
        </p:nvSpPr>
        <p:spPr>
          <a:xfrm>
            <a:off x="7132320" y="4672584"/>
            <a:ext cx="4325112"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Churn Classification</a:t>
            </a:r>
            <a:endParaRPr lang="en-US" dirty="0">
              <a:latin typeface="Times New Roman" panose="02020603050405020304" pitchFamily="18" charset="0"/>
              <a:cs typeface="Times New Roman" panose="02020603050405020304" pitchFamily="18" charset="0"/>
            </a:endParaRPr>
          </a:p>
        </p:txBody>
      </p:sp>
      <p:sp>
        <p:nvSpPr>
          <p:cNvPr id="25" name="Text 20"/>
          <p:cNvSpPr txBox="1"/>
          <p:nvPr/>
        </p:nvSpPr>
        <p:spPr>
          <a:xfrm>
            <a:off x="7132320" y="5084064"/>
            <a:ext cx="4325112" cy="365760"/>
          </a:xfrm>
          <a:prstGeom prst="rect">
            <a:avLst/>
          </a:prstGeom>
          <a:noFill/>
          <a:ln/>
        </p:spPr>
        <p:txBody>
          <a:bodyPr wrap="square" lIns="0" tIns="0" rIns="0" bIns="0" rtlCol="0" anchor="ctr"/>
          <a:lstStyle/>
          <a:p>
            <a:pPr marL="0" indent="0">
              <a:buNone/>
            </a:pPr>
            <a:r>
              <a:rPr lang="en-US" dirty="0">
                <a:solidFill>
                  <a:srgbClr val="1F2937"/>
                </a:solidFill>
                <a:latin typeface="Times New Roman" panose="02020603050405020304" pitchFamily="18" charset="0"/>
                <a:ea typeface="Calibri" pitchFamily="34" charset="-122"/>
                <a:cs typeface="Times New Roman" panose="02020603050405020304" pitchFamily="18" charset="0"/>
              </a:rPr>
              <a:t>Khách hàng nào sắp rời bỏ?</a:t>
            </a:r>
            <a:endParaRPr lang="en-US" dirty="0">
              <a:latin typeface="Times New Roman" panose="02020603050405020304" pitchFamily="18" charset="0"/>
              <a:cs typeface="Times New Roman" panose="02020603050405020304" pitchFamily="18" charset="0"/>
            </a:endParaRPr>
          </a:p>
        </p:txBody>
      </p:sp>
      <p:sp>
        <p:nvSpPr>
          <p:cNvPr id="26" name="Text 21"/>
          <p:cNvSpPr txBox="1"/>
          <p:nvPr/>
        </p:nvSpPr>
        <p:spPr>
          <a:xfrm>
            <a:off x="7132320" y="5495544"/>
            <a:ext cx="4325112" cy="365760"/>
          </a:xfrm>
          <a:prstGeom prst="rect">
            <a:avLst/>
          </a:prstGeom>
          <a:noFill/>
          <a:ln/>
        </p:spPr>
        <p:txBody>
          <a:bodyPr wrap="square" lIns="0" tIns="0" rIns="0" bIns="0" rtlCol="0" anchor="ctr"/>
          <a:lstStyle/>
          <a:p>
            <a:pPr marL="0" indent="0">
              <a:buNone/>
            </a:pPr>
            <a:r>
              <a:rPr lang="en-US" i="1" dirty="0">
                <a:solidFill>
                  <a:srgbClr val="6B7280"/>
                </a:solidFill>
                <a:latin typeface="Times New Roman" panose="02020603050405020304" pitchFamily="18" charset="0"/>
                <a:ea typeface="Calibri" pitchFamily="34" charset="-122"/>
                <a:cs typeface="Times New Roman" panose="02020603050405020304" pitchFamily="18" charset="0"/>
              </a:rPr>
              <a:t>Can thiệp giữ chân đúng người, đúng lúc</a:t>
            </a:r>
            <a:endParaRPr lang="en-US" dirty="0">
              <a:latin typeface="Times New Roman" panose="02020603050405020304" pitchFamily="18" charset="0"/>
              <a:cs typeface="Times New Roman" panose="02020603050405020304" pitchFamily="18" charset="0"/>
            </a:endParaRPr>
          </a:p>
        </p:txBody>
      </p:sp>
      <p:sp>
        <p:nvSpPr>
          <p:cNvPr id="28" name="Text 0">
            <a:extLst>
              <a:ext uri="{FF2B5EF4-FFF2-40B4-BE49-F238E27FC236}">
                <a16:creationId xmlns:a16="http://schemas.microsoft.com/office/drawing/2014/main" id="{8003DA67-1F48-8494-8833-6F34BFE9A950}"/>
              </a:ext>
            </a:extLst>
          </p:cNvPr>
          <p:cNvSpPr txBox="1"/>
          <p:nvPr/>
        </p:nvSpPr>
        <p:spPr>
          <a:xfrm>
            <a:off x="548640" y="124089"/>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Business Understanding: Bài toán thực tế</a:t>
            </a:r>
            <a:endParaRPr lang="en-US" sz="3000" dirty="0">
              <a:latin typeface="Times New Roman" panose="02020603050405020304" pitchFamily="18" charset="0"/>
              <a:cs typeface="Times New Roman" panose="02020603050405020304" pitchFamily="18" charset="0"/>
            </a:endParaRPr>
          </a:p>
        </p:txBody>
      </p:sp>
      <p:sp>
        <p:nvSpPr>
          <p:cNvPr id="30" name="Text 1">
            <a:extLst>
              <a:ext uri="{FF2B5EF4-FFF2-40B4-BE49-F238E27FC236}">
                <a16:creationId xmlns:a16="http://schemas.microsoft.com/office/drawing/2014/main" id="{70717DC1-04C5-5B7F-9D14-7575D48CA46C}"/>
              </a:ext>
            </a:extLst>
          </p:cNvPr>
          <p:cNvSpPr txBox="1"/>
          <p:nvPr/>
        </p:nvSpPr>
        <p:spPr>
          <a:xfrm>
            <a:off x="548640" y="774444"/>
            <a:ext cx="11091672" cy="345232"/>
          </a:xfrm>
          <a:prstGeom prst="rect">
            <a:avLst/>
          </a:prstGeom>
          <a:noFill/>
          <a:ln/>
        </p:spPr>
        <p:txBody>
          <a:bodyPr wrap="square" lIns="0" tIns="0" rIns="0" bIns="0" rtlCol="0" anchor="t"/>
          <a:lstStyle/>
          <a:p>
            <a:pPr marL="0" indent="0" algn="just">
              <a:buNone/>
            </a:pPr>
            <a:r>
              <a:rPr lang="en-US" i="1" dirty="0">
                <a:latin typeface="Times New Roman" panose="02020603050405020304" pitchFamily="18" charset="0"/>
                <a:ea typeface="Times New Roman" pitchFamily="34" charset="-122"/>
                <a:cs typeface="Times New Roman" panose="02020603050405020304" pitchFamily="18" charset="0"/>
              </a:rPr>
              <a:t>Một doanh nghiệp bán lẻ trực tuyến </a:t>
            </a:r>
            <a:r>
              <a:rPr lang="en-US" i="1" dirty="0" err="1">
                <a:latin typeface="Times New Roman" panose="02020603050405020304" pitchFamily="18" charset="0"/>
                <a:ea typeface="Times New Roman" pitchFamily="34" charset="-122"/>
                <a:cs typeface="Times New Roman" panose="02020603050405020304" pitchFamily="18" charset="0"/>
              </a:rPr>
              <a:t>cần</a:t>
            </a:r>
            <a:r>
              <a:rPr lang="en-US" i="1" dirty="0">
                <a:latin typeface="Times New Roman" panose="02020603050405020304" pitchFamily="18" charset="0"/>
                <a:ea typeface="Times New Roman" pitchFamily="34" charset="-122"/>
                <a:cs typeface="Times New Roman" panose="02020603050405020304" pitchFamily="18" charset="0"/>
              </a:rPr>
              <a:t> </a:t>
            </a:r>
            <a:r>
              <a:rPr lang="en-US" i="1" dirty="0" err="1">
                <a:latin typeface="Times New Roman" panose="02020603050405020304" pitchFamily="18" charset="0"/>
                <a:ea typeface="Times New Roman" pitchFamily="34" charset="-122"/>
                <a:cs typeface="Times New Roman" panose="02020603050405020304" pitchFamily="18" charset="0"/>
              </a:rPr>
              <a:t>hiểu</a:t>
            </a:r>
            <a:r>
              <a:rPr lang="en-US" i="1" dirty="0">
                <a:latin typeface="Times New Roman" panose="02020603050405020304" pitchFamily="18" charset="0"/>
                <a:ea typeface="Times New Roman" pitchFamily="34" charset="-122"/>
                <a:cs typeface="Times New Roman" panose="02020603050405020304" pitchFamily="18" charset="0"/>
              </a:rPr>
              <a:t> và giữ </a:t>
            </a:r>
            <a:r>
              <a:rPr lang="en-US" i="1" dirty="0" err="1">
                <a:latin typeface="Times New Roman" panose="02020603050405020304" pitchFamily="18" charset="0"/>
                <a:ea typeface="Times New Roman" pitchFamily="34" charset="-122"/>
                <a:cs typeface="Times New Roman" panose="02020603050405020304" pitchFamily="18" charset="0"/>
              </a:rPr>
              <a:t>chân</a:t>
            </a:r>
            <a:r>
              <a:rPr lang="en-US" i="1" dirty="0">
                <a:latin typeface="Times New Roman" panose="02020603050405020304" pitchFamily="18" charset="0"/>
                <a:ea typeface="Times New Roman" pitchFamily="34" charset="-122"/>
                <a:cs typeface="Times New Roman" panose="02020603050405020304" pitchFamily="18" charset="0"/>
              </a:rPr>
              <a:t> </a:t>
            </a:r>
            <a:r>
              <a:rPr lang="en-US" i="1" dirty="0" err="1">
                <a:latin typeface="Times New Roman" panose="02020603050405020304" pitchFamily="18" charset="0"/>
                <a:ea typeface="Times New Roman" pitchFamily="34" charset="-122"/>
                <a:cs typeface="Times New Roman" panose="02020603050405020304" pitchFamily="18" charset="0"/>
              </a:rPr>
              <a:t>khách</a:t>
            </a:r>
            <a:r>
              <a:rPr lang="en-US" i="1" dirty="0">
                <a:latin typeface="Times New Roman" panose="02020603050405020304" pitchFamily="18" charset="0"/>
                <a:ea typeface="Times New Roman" pitchFamily="34" charset="-122"/>
                <a:cs typeface="Times New Roman" panose="02020603050405020304" pitchFamily="18" charset="0"/>
              </a:rPr>
              <a:t> hàng của mình</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Từ mục tiêu nghiệp vụ đến mục tiêu khai phá dữ liệu</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1005840"/>
            <a:ext cx="11091672" cy="365760"/>
          </a:xfrm>
          <a:prstGeom prst="rect">
            <a:avLst/>
          </a:prstGeom>
          <a:noFill/>
          <a:ln/>
        </p:spPr>
        <p:txBody>
          <a:bodyPr wrap="square" lIns="0" tIns="0" rIns="0" bIns="0" rtlCol="0" anchor="t"/>
          <a:lstStyle/>
          <a:p>
            <a:pPr marL="0" indent="0">
              <a:buNone/>
            </a:pPr>
            <a:r>
              <a:rPr lang="en-US" i="1" dirty="0">
                <a:latin typeface="Times New Roman" panose="02020603050405020304" pitchFamily="18" charset="0"/>
                <a:ea typeface="Times New Roman" pitchFamily="34" charset="-122"/>
                <a:cs typeface="Times New Roman" panose="02020603050405020304" pitchFamily="18" charset="0"/>
              </a:rPr>
              <a:t>Chuyển hoá theo CRISP-DM — và phạm vi dự án</a:t>
            </a:r>
            <a:endParaRPr lang="en-US" dirty="0">
              <a:latin typeface="Times New Roman" panose="02020603050405020304" pitchFamily="18" charset="0"/>
              <a:cs typeface="Times New Roman" panose="02020603050405020304" pitchFamily="18" charset="0"/>
            </a:endParaRPr>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200" dirty="0">
                <a:solidFill>
                  <a:srgbClr val="5B6B82"/>
                </a:solidFill>
                <a:latin typeface="Times New Roman" panose="02020603050405020304" pitchFamily="18" charset="0"/>
                <a:ea typeface="Times New Roman" pitchFamily="34" charset="-122"/>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3711670372"/>
              </p:ext>
            </p:extLst>
          </p:nvPr>
        </p:nvGraphicFramePr>
        <p:xfrm>
          <a:off x="548640" y="1645920"/>
          <a:ext cx="11091672" cy="2852928"/>
        </p:xfrm>
        <a:graphic>
          <a:graphicData uri="http://schemas.openxmlformats.org/drawingml/2006/table">
            <a:tbl>
              <a:tblPr/>
              <a:tblGrid>
                <a:gridCol w="27432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052735">
                  <a:extLst>
                    <a:ext uri="{9D8B030D-6E8A-4147-A177-3AD203B41FA5}">
                      <a16:colId xmlns:a16="http://schemas.microsoft.com/office/drawing/2014/main" val="20002"/>
                    </a:ext>
                  </a:extLst>
                </a:gridCol>
                <a:gridCol w="2729577">
                  <a:extLst>
                    <a:ext uri="{9D8B030D-6E8A-4147-A177-3AD203B41FA5}">
                      <a16:colId xmlns:a16="http://schemas.microsoft.com/office/drawing/2014/main" val="20003"/>
                    </a:ext>
                  </a:extLst>
                </a:gridCol>
              </a:tblGrid>
              <a:tr h="713232">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Mục tiêu nghiệp vụ</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Mục </a:t>
                      </a:r>
                      <a:r>
                        <a:rPr lang="en-US" sz="1500" b="1" dirty="0" err="1">
                          <a:solidFill>
                            <a:srgbClr val="FFFFFF"/>
                          </a:solidFill>
                          <a:latin typeface="Times New Roman" pitchFamily="34" charset="0"/>
                          <a:ea typeface="Times New Roman" pitchFamily="34" charset="-122"/>
                          <a:cs typeface="Times New Roman" pitchFamily="34" charset="-120"/>
                        </a:rPr>
                        <a:t>tiêu</a:t>
                      </a:r>
                      <a:r>
                        <a:rPr lang="en-US" sz="1500" b="1" dirty="0">
                          <a:solidFill>
                            <a:srgbClr val="FFFFFF"/>
                          </a:solidFill>
                          <a:latin typeface="Times New Roman" pitchFamily="34" charset="0"/>
                          <a:ea typeface="Times New Roman" pitchFamily="34" charset="-122"/>
                          <a:cs typeface="Times New Roman" pitchFamily="34" charset="-120"/>
                        </a:rPr>
                        <a:t> </a:t>
                      </a:r>
                      <a:r>
                        <a:rPr lang="vi-VN" sz="1500" b="1" dirty="0">
                          <a:solidFill>
                            <a:srgbClr val="FFFFFF"/>
                          </a:solidFill>
                          <a:latin typeface="Times New Roman" pitchFamily="34" charset="0"/>
                          <a:ea typeface="Times New Roman" pitchFamily="34" charset="-122"/>
                          <a:cs typeface="Times New Roman" pitchFamily="34" charset="-120"/>
                        </a:rPr>
                        <a:t>Data Mining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Kỹ thuật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Đầu ra</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713232">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Tăng giá trị mỗi đơn hàng (cross-sell)</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Tìm tập sản phẩm thường xuất hiện cùng nhau trong 1 hoá đơn</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Apriori · FP-Growth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Luật kết hợp (Support, Confidence, Lift, Kulczynski)</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Phân bổ nguồn lực chăm sóc theo giá trị khách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Chia khách hàng thành các nhóm đồng nhất về hành vi mua</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K-Means · K-Medoids (PAM)</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Phân khúc + tên nghiệp vụ</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713232">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Giữ chân khách hàng sắp rời bỏ</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Dự đoán khách sẽ không quay lại trong cửa sổ churn</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Decision Tree · Random Forest · Naive Bayes</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Nhãn + xác suất churn theo từng khách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48640" y="4754880"/>
            <a:ext cx="5440680" cy="1417320"/>
          </a:xfrm>
          <a:prstGeom prst="rect">
            <a:avLst/>
          </a:prstGeom>
          <a:solidFill>
            <a:srgbClr val="EAF2FF"/>
          </a:solidFill>
          <a:ln w="9525">
            <a:solidFill>
              <a:srgbClr val="C9DAF2"/>
            </a:solidFill>
            <a:prstDash val="solid"/>
          </a:ln>
        </p:spPr>
      </p:sp>
      <p:sp>
        <p:nvSpPr>
          <p:cNvPr id="8" name="Text 5"/>
          <p:cNvSpPr txBox="1"/>
          <p:nvPr/>
        </p:nvSpPr>
        <p:spPr>
          <a:xfrm>
            <a:off x="731520" y="4828032"/>
            <a:ext cx="5029200" cy="320040"/>
          </a:xfrm>
          <a:prstGeom prst="rect">
            <a:avLst/>
          </a:prstGeom>
          <a:noFill/>
          <a:ln/>
        </p:spPr>
        <p:txBody>
          <a:bodyPr wrap="square" lIns="0" tIns="0" rIns="0" bIns="0" rtlCol="0" anchor="ctr"/>
          <a:lstStyle/>
          <a:p>
            <a:pPr marL="0" indent="0">
              <a:buNone/>
            </a:pPr>
            <a:r>
              <a:rPr lang="en-US" b="1" dirty="0">
                <a:solidFill>
                  <a:srgbClr val="1E8449"/>
                </a:solidFill>
                <a:latin typeface="Times New Roman" panose="02020603050405020304" pitchFamily="18" charset="0"/>
                <a:ea typeface="Times New Roman" pitchFamily="34" charset="-122"/>
                <a:cs typeface="Times New Roman" panose="02020603050405020304" pitchFamily="18" charset="0"/>
              </a:rPr>
              <a:t>Trong phạm vi</a:t>
            </a:r>
            <a:endParaRPr lang="en-US" dirty="0">
              <a:latin typeface="Times New Roman" panose="02020603050405020304" pitchFamily="18" charset="0"/>
              <a:cs typeface="Times New Roman" panose="02020603050405020304" pitchFamily="18" charset="0"/>
            </a:endParaRPr>
          </a:p>
        </p:txBody>
      </p:sp>
      <p:sp>
        <p:nvSpPr>
          <p:cNvPr id="9" name="Text 6"/>
          <p:cNvSpPr txBox="1"/>
          <p:nvPr/>
        </p:nvSpPr>
        <p:spPr>
          <a:xfrm>
            <a:off x="731520" y="5166360"/>
            <a:ext cx="5120640" cy="1005840"/>
          </a:xfrm>
          <a:prstGeom prst="rect">
            <a:avLst/>
          </a:prstGeom>
          <a:noFill/>
          <a:ln/>
        </p:spPr>
        <p:txBody>
          <a:bodyPr wrap="square" lIns="0" tIns="0" rIns="0" bIns="0" rtlCol="0" anchor="t"/>
          <a:lstStyle/>
          <a:p>
            <a:pPr marL="203200" indent="-203200">
              <a:spcAft>
                <a:spcPts val="3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Phân tích hành vi khách hàng từ dữ liệu giao dịch </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lịch</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sử.</a:t>
            </a:r>
            <a:endParaRPr lang="en-US" sz="1500" dirty="0">
              <a:latin typeface="Times New Roman" panose="02020603050405020304" pitchFamily="18" charset="0"/>
              <a:cs typeface="Times New Roman" panose="02020603050405020304" pitchFamily="18" charset="0"/>
            </a:endParaRPr>
          </a:p>
          <a:p>
            <a:pPr marL="203200" indent="-203200">
              <a:spcAft>
                <a:spcPts val="3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3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K</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ỹ thuật khai phá +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Đ</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ối</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chiếu chéo kết quả </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giữa</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chúng.</a:t>
            </a:r>
            <a:endParaRPr lang="en-US" sz="1500" dirty="0">
              <a:latin typeface="Times New Roman" panose="02020603050405020304" pitchFamily="18" charset="0"/>
              <a:cs typeface="Times New Roman" panose="02020603050405020304" pitchFamily="18" charset="0"/>
            </a:endParaRPr>
          </a:p>
          <a:p>
            <a:pPr marL="203200" indent="-203200">
              <a:spcAft>
                <a:spcPts val="3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Đề xuất hành động nghiệp vụ cho từng phân khúc</a:t>
            </a:r>
            <a:endParaRPr lang="en-US" sz="1500" dirty="0">
              <a:latin typeface="Times New Roman" panose="02020603050405020304" pitchFamily="18" charset="0"/>
              <a:cs typeface="Times New Roman" panose="02020603050405020304" pitchFamily="18" charset="0"/>
            </a:endParaRPr>
          </a:p>
        </p:txBody>
      </p:sp>
      <p:sp>
        <p:nvSpPr>
          <p:cNvPr id="10" name="Shape 7"/>
          <p:cNvSpPr/>
          <p:nvPr/>
        </p:nvSpPr>
        <p:spPr>
          <a:xfrm>
            <a:off x="6217920" y="4754880"/>
            <a:ext cx="5422392" cy="1417320"/>
          </a:xfrm>
          <a:prstGeom prst="rect">
            <a:avLst/>
          </a:prstGeom>
          <a:solidFill>
            <a:srgbClr val="EAF2FF"/>
          </a:solidFill>
          <a:ln w="9525">
            <a:solidFill>
              <a:srgbClr val="C9DAF2"/>
            </a:solidFill>
            <a:prstDash val="solid"/>
          </a:ln>
        </p:spPr>
      </p:sp>
      <p:sp>
        <p:nvSpPr>
          <p:cNvPr id="11" name="Text 8"/>
          <p:cNvSpPr txBox="1"/>
          <p:nvPr/>
        </p:nvSpPr>
        <p:spPr>
          <a:xfrm>
            <a:off x="6400800" y="4828032"/>
            <a:ext cx="5029200" cy="320040"/>
          </a:xfrm>
          <a:prstGeom prst="rect">
            <a:avLst/>
          </a:prstGeom>
          <a:noFill/>
          <a:ln/>
        </p:spPr>
        <p:txBody>
          <a:bodyPr wrap="square" lIns="0" tIns="0" rIns="0" bIns="0" rtlCol="0" anchor="ctr"/>
          <a:lstStyle/>
          <a:p>
            <a:pPr marL="0" indent="0">
              <a:buNone/>
            </a:pPr>
            <a:r>
              <a:rPr lang="en-US" sz="1700" b="1" dirty="0">
                <a:solidFill>
                  <a:srgbClr val="C0392B"/>
                </a:solidFill>
                <a:latin typeface="Times New Roman" panose="02020603050405020304" pitchFamily="18" charset="0"/>
                <a:ea typeface="Times New Roman" pitchFamily="34" charset="-122"/>
                <a:cs typeface="Times New Roman" panose="02020603050405020304" pitchFamily="18" charset="0"/>
              </a:rPr>
              <a:t>Ngoài phạm vi</a:t>
            </a:r>
            <a:endParaRPr lang="en-US" sz="1700" dirty="0">
              <a:latin typeface="Times New Roman" panose="02020603050405020304" pitchFamily="18" charset="0"/>
              <a:cs typeface="Times New Roman" panose="02020603050405020304" pitchFamily="18" charset="0"/>
            </a:endParaRPr>
          </a:p>
        </p:txBody>
      </p:sp>
      <p:sp>
        <p:nvSpPr>
          <p:cNvPr id="12" name="Text 9"/>
          <p:cNvSpPr txBox="1"/>
          <p:nvPr/>
        </p:nvSpPr>
        <p:spPr>
          <a:xfrm>
            <a:off x="6400800" y="5166360"/>
            <a:ext cx="5120640" cy="100584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Triển khai hệ thống gợi ý thời gian </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thực</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400" dirty="0">
                <a:solidFill>
                  <a:srgbClr val="1A2B45"/>
                </a:solidFill>
                <a:latin typeface="Times New Roman" panose="02020603050405020304" pitchFamily="18" charset="0"/>
                <a:ea typeface="Times New Roman" pitchFamily="34" charset="-122"/>
                <a:cs typeface="Times New Roman" panose="02020603050405020304" pitchFamily="18" charset="0"/>
              </a:rPr>
              <a:t>R</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eal</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-time)</a:t>
            </a:r>
            <a:endParaRPr lang="en-US" sz="1400" dirty="0">
              <a:latin typeface="Times New Roman" panose="02020603050405020304" pitchFamily="18" charset="0"/>
              <a:cs typeface="Times New Roman" panose="02020603050405020304" pitchFamily="18" charset="0"/>
            </a:endParaRPr>
          </a:p>
          <a:p>
            <a:pPr marL="203200" indent="-203200">
              <a:spcAft>
                <a:spcPts val="300"/>
              </a:spcAft>
              <a:buSzPct val="100000"/>
              <a:buChar char="•"/>
            </a:pP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Kiểm chứng A/B </a:t>
            </a:r>
            <a:r>
              <a:rPr lang="vi-VN" sz="1400" dirty="0">
                <a:solidFill>
                  <a:srgbClr val="1A2B45"/>
                </a:solidFill>
                <a:latin typeface="Times New Roman" panose="02020603050405020304" pitchFamily="18" charset="0"/>
                <a:ea typeface="Times New Roman" pitchFamily="34" charset="-122"/>
                <a:cs typeface="Times New Roman" panose="02020603050405020304" pitchFamily="18" charset="0"/>
              </a:rPr>
              <a:t>T</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est hiệu quả chiến </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dịch</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400" dirty="0">
                <a:solidFill>
                  <a:srgbClr val="1A2B45"/>
                </a:solidFill>
                <a:latin typeface="Times New Roman" panose="02020603050405020304" pitchFamily="18" charset="0"/>
                <a:ea typeface="Times New Roman" pitchFamily="34" charset="-122"/>
                <a:cs typeface="Times New Roman" panose="02020603050405020304" pitchFamily="18" charset="0"/>
              </a:rPr>
              <a:t>Marketing.</a:t>
            </a:r>
            <a:endParaRPr lang="en-US" sz="1400" dirty="0">
              <a:latin typeface="Times New Roman" panose="02020603050405020304" pitchFamily="18" charset="0"/>
              <a:cs typeface="Times New Roman" panose="02020603050405020304" pitchFamily="18" charset="0"/>
            </a:endParaRPr>
          </a:p>
          <a:p>
            <a:pPr marL="203200" indent="-203200">
              <a:spcAft>
                <a:spcPts val="300"/>
              </a:spcAft>
              <a:buSzPct val="100000"/>
              <a:buChar char="•"/>
            </a:pP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Suy luận nhân </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quả</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chỉ</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phát hiện quan hệ đồng xuất hiện/</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tương</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400" dirty="0">
                <a:solidFill>
                  <a:srgbClr val="1A2B45"/>
                </a:solidFill>
                <a:latin typeface="Times New Roman" panose="02020603050405020304" pitchFamily="18" charset="0"/>
                <a:ea typeface="Times New Roman" pitchFamily="34" charset="-122"/>
                <a:cs typeface="Times New Roman" panose="02020603050405020304" pitchFamily="18" charset="0"/>
              </a:rPr>
              <a:t>quan.</a:t>
            </a:r>
            <a:endParaRPr lang="en-US" sz="1400" dirty="0">
              <a:latin typeface="Times New Roman" panose="02020603050405020304" pitchFamily="18" charset="0"/>
              <a:cs typeface="Times New Roman" panose="02020603050405020304" pitchFamily="18" charset="0"/>
            </a:endParaRPr>
          </a:p>
        </p:txBody>
      </p:sp>
      <p:sp>
        <p:nvSpPr>
          <p:cNvPr id="14" name="Text 2">
            <a:extLst>
              <a:ext uri="{FF2B5EF4-FFF2-40B4-BE49-F238E27FC236}">
                <a16:creationId xmlns:a16="http://schemas.microsoft.com/office/drawing/2014/main" id="{B8C90755-75B4-3B62-C85D-8A21AB862150}"/>
              </a:ext>
            </a:extLst>
          </p:cNvPr>
          <p:cNvSpPr txBox="1"/>
          <p:nvPr/>
        </p:nvSpPr>
        <p:spPr>
          <a:xfrm>
            <a:off x="548640" y="6288833"/>
            <a:ext cx="8229600" cy="569167"/>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82716"/>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Quy trình CRISP-DM và kiến </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trúc</a:t>
            </a: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P</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ipeline</a:t>
            </a:r>
            <a:endParaRPr lang="en-US" sz="3000" dirty="0">
              <a:latin typeface="Times New Roman" panose="02020603050405020304" pitchFamily="18" charset="0"/>
              <a:cs typeface="Times New Roman" panose="02020603050405020304" pitchFamily="18" charset="0"/>
            </a:endParaRPr>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anose="02020603050405020304" pitchFamily="18" charset="0"/>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691640"/>
            <a:ext cx="1696212" cy="1417320"/>
          </a:xfrm>
          <a:prstGeom prst="rect">
            <a:avLst/>
          </a:prstGeom>
          <a:solidFill>
            <a:srgbClr val="EAF2FF"/>
          </a:solidFill>
          <a:ln w="9525">
            <a:solidFill>
              <a:srgbClr val="C9DAF2"/>
            </a:solidFill>
            <a:prstDash val="solid"/>
          </a:ln>
        </p:spPr>
      </p:sp>
      <p:sp>
        <p:nvSpPr>
          <p:cNvPr id="7" name="Shape 5"/>
          <p:cNvSpPr/>
          <p:nvPr/>
        </p:nvSpPr>
        <p:spPr>
          <a:xfrm>
            <a:off x="1168146" y="1783080"/>
            <a:ext cx="457200" cy="457200"/>
          </a:xfrm>
          <a:prstGeom prst="ellipse">
            <a:avLst/>
          </a:prstGeom>
          <a:solidFill>
            <a:srgbClr val="1E8449"/>
          </a:solidFill>
          <a:ln w="12700">
            <a:solidFill>
              <a:srgbClr val="1E8449"/>
            </a:solidFill>
            <a:prstDash val="solid"/>
          </a:ln>
        </p:spPr>
      </p:sp>
      <p:sp>
        <p:nvSpPr>
          <p:cNvPr id="8" name="Text 6"/>
          <p:cNvSpPr txBox="1"/>
          <p:nvPr/>
        </p:nvSpPr>
        <p:spPr>
          <a:xfrm>
            <a:off x="1168146"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9" name="Text 7"/>
          <p:cNvSpPr txBox="1"/>
          <p:nvPr/>
        </p:nvSpPr>
        <p:spPr>
          <a:xfrm>
            <a:off x="594360" y="2286000"/>
            <a:ext cx="1604772" cy="502920"/>
          </a:xfrm>
          <a:prstGeom prst="rect">
            <a:avLst/>
          </a:prstGeom>
          <a:noFill/>
          <a:ln/>
        </p:spPr>
        <p:txBody>
          <a:bodyPr wrap="square" lIns="0" tIns="0" rIns="0" bIns="0" rtlCol="0" anchor="ctr"/>
          <a:lstStyle/>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Business</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Understanding</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2427732" y="1691640"/>
            <a:ext cx="1696212" cy="1417320"/>
          </a:xfrm>
          <a:prstGeom prst="rect">
            <a:avLst/>
          </a:prstGeom>
          <a:solidFill>
            <a:srgbClr val="EAF2FF"/>
          </a:solidFill>
          <a:ln w="9525">
            <a:solidFill>
              <a:srgbClr val="C9DAF2"/>
            </a:solidFill>
            <a:prstDash val="solid"/>
          </a:ln>
        </p:spPr>
      </p:sp>
      <p:sp>
        <p:nvSpPr>
          <p:cNvPr id="12" name="Shape 10"/>
          <p:cNvSpPr/>
          <p:nvPr/>
        </p:nvSpPr>
        <p:spPr>
          <a:xfrm>
            <a:off x="3047238" y="1783080"/>
            <a:ext cx="457200" cy="457200"/>
          </a:xfrm>
          <a:prstGeom prst="ellipse">
            <a:avLst/>
          </a:prstGeom>
          <a:solidFill>
            <a:srgbClr val="1E8449"/>
          </a:solidFill>
          <a:ln w="12700">
            <a:solidFill>
              <a:srgbClr val="1E8449"/>
            </a:solidFill>
            <a:prstDash val="solid"/>
          </a:ln>
        </p:spPr>
      </p:sp>
      <p:sp>
        <p:nvSpPr>
          <p:cNvPr id="13" name="Text 11"/>
          <p:cNvSpPr txBox="1"/>
          <p:nvPr/>
        </p:nvSpPr>
        <p:spPr>
          <a:xfrm>
            <a:off x="3047238"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2473452" y="2286000"/>
            <a:ext cx="1604772" cy="502920"/>
          </a:xfrm>
          <a:prstGeom prst="rect">
            <a:avLst/>
          </a:prstGeom>
          <a:noFill/>
          <a:ln/>
        </p:spPr>
        <p:txBody>
          <a:bodyPr wrap="square" lIns="0" tIns="0" rIns="0" bIns="0" rtlCol="0" anchor="ctr"/>
          <a:lstStyle/>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Data</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Understanding</a:t>
            </a:r>
            <a:endParaRPr lang="en-US" sz="1400" dirty="0">
              <a:latin typeface="Times New Roman" panose="02020603050405020304" pitchFamily="18" charset="0"/>
              <a:cs typeface="Times New Roman" panose="02020603050405020304" pitchFamily="18" charset="0"/>
            </a:endParaRPr>
          </a:p>
        </p:txBody>
      </p:sp>
      <p:sp>
        <p:nvSpPr>
          <p:cNvPr id="16" name="Shape 14"/>
          <p:cNvSpPr/>
          <p:nvPr/>
        </p:nvSpPr>
        <p:spPr>
          <a:xfrm>
            <a:off x="4306824" y="1691640"/>
            <a:ext cx="1696212" cy="1417320"/>
          </a:xfrm>
          <a:prstGeom prst="rect">
            <a:avLst/>
          </a:prstGeom>
          <a:solidFill>
            <a:srgbClr val="EAF2FF"/>
          </a:solidFill>
          <a:ln w="9525">
            <a:solidFill>
              <a:srgbClr val="C9DAF2"/>
            </a:solidFill>
            <a:prstDash val="solid"/>
          </a:ln>
        </p:spPr>
      </p:sp>
      <p:sp>
        <p:nvSpPr>
          <p:cNvPr id="17" name="Shape 15"/>
          <p:cNvSpPr/>
          <p:nvPr/>
        </p:nvSpPr>
        <p:spPr>
          <a:xfrm>
            <a:off x="4926330" y="1783080"/>
            <a:ext cx="457200" cy="457200"/>
          </a:xfrm>
          <a:prstGeom prst="ellipse">
            <a:avLst/>
          </a:prstGeom>
          <a:solidFill>
            <a:srgbClr val="1E8449"/>
          </a:solidFill>
          <a:ln w="12700">
            <a:solidFill>
              <a:srgbClr val="1E8449"/>
            </a:solidFill>
            <a:prstDash val="solid"/>
          </a:ln>
        </p:spPr>
      </p:sp>
      <p:sp>
        <p:nvSpPr>
          <p:cNvPr id="18" name="Text 16"/>
          <p:cNvSpPr txBox="1"/>
          <p:nvPr/>
        </p:nvSpPr>
        <p:spPr>
          <a:xfrm>
            <a:off x="492633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19" name="Text 17"/>
          <p:cNvSpPr txBox="1"/>
          <p:nvPr/>
        </p:nvSpPr>
        <p:spPr>
          <a:xfrm>
            <a:off x="4352544" y="2286000"/>
            <a:ext cx="1604772" cy="502920"/>
          </a:xfrm>
          <a:prstGeom prst="rect">
            <a:avLst/>
          </a:prstGeom>
          <a:noFill/>
          <a:ln/>
        </p:spPr>
        <p:txBody>
          <a:bodyPr wrap="square" lIns="0" tIns="0" rIns="0" bIns="0" rtlCol="0" anchor="ctr"/>
          <a:lstStyle/>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Data</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Preparation</a:t>
            </a:r>
            <a:endParaRPr lang="en-US" sz="1400" dirty="0">
              <a:latin typeface="Times New Roman" panose="02020603050405020304" pitchFamily="18" charset="0"/>
              <a:cs typeface="Times New Roman" panose="02020603050405020304" pitchFamily="18" charset="0"/>
            </a:endParaRPr>
          </a:p>
        </p:txBody>
      </p:sp>
      <p:sp>
        <p:nvSpPr>
          <p:cNvPr id="21" name="Shape 19"/>
          <p:cNvSpPr/>
          <p:nvPr/>
        </p:nvSpPr>
        <p:spPr>
          <a:xfrm>
            <a:off x="6185916" y="1691640"/>
            <a:ext cx="1696212" cy="1417320"/>
          </a:xfrm>
          <a:prstGeom prst="rect">
            <a:avLst/>
          </a:prstGeom>
          <a:solidFill>
            <a:srgbClr val="EAF2FF"/>
          </a:solidFill>
          <a:ln w="9525">
            <a:solidFill>
              <a:srgbClr val="C9DAF2"/>
            </a:solidFill>
            <a:prstDash val="solid"/>
          </a:ln>
        </p:spPr>
      </p:sp>
      <p:sp>
        <p:nvSpPr>
          <p:cNvPr id="22" name="Shape 20"/>
          <p:cNvSpPr/>
          <p:nvPr/>
        </p:nvSpPr>
        <p:spPr>
          <a:xfrm>
            <a:off x="6805422" y="1783080"/>
            <a:ext cx="457200" cy="457200"/>
          </a:xfrm>
          <a:prstGeom prst="ellipse">
            <a:avLst/>
          </a:prstGeom>
          <a:solidFill>
            <a:srgbClr val="1F6FEB"/>
          </a:solidFill>
          <a:ln w="12700">
            <a:solidFill>
              <a:srgbClr val="1F6FEB"/>
            </a:solidFill>
            <a:prstDash val="solid"/>
          </a:ln>
        </p:spPr>
      </p:sp>
      <p:sp>
        <p:nvSpPr>
          <p:cNvPr id="23" name="Text 21"/>
          <p:cNvSpPr txBox="1"/>
          <p:nvPr/>
        </p:nvSpPr>
        <p:spPr>
          <a:xfrm>
            <a:off x="6805422"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24" name="Text 22"/>
          <p:cNvSpPr txBox="1"/>
          <p:nvPr/>
        </p:nvSpPr>
        <p:spPr>
          <a:xfrm>
            <a:off x="6231636" y="2286000"/>
            <a:ext cx="1604772" cy="502920"/>
          </a:xfrm>
          <a:prstGeom prst="rect">
            <a:avLst/>
          </a:prstGeom>
          <a:noFill/>
          <a:ln/>
        </p:spPr>
        <p:txBody>
          <a:bodyPr wrap="square" lIns="0" tIns="0" rIns="0" bIns="0" rtlCol="0" anchor="ctr"/>
          <a:lstStyle/>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Modeling</a:t>
            </a:r>
            <a:endParaRPr lang="en-US" sz="1400" dirty="0">
              <a:latin typeface="Times New Roman" panose="02020603050405020304" pitchFamily="18" charset="0"/>
              <a:cs typeface="Times New Roman" panose="02020603050405020304" pitchFamily="18" charset="0"/>
            </a:endParaRPr>
          </a:p>
        </p:txBody>
      </p:sp>
      <p:sp>
        <p:nvSpPr>
          <p:cNvPr id="26" name="Shape 24"/>
          <p:cNvSpPr/>
          <p:nvPr/>
        </p:nvSpPr>
        <p:spPr>
          <a:xfrm>
            <a:off x="8065008" y="1691640"/>
            <a:ext cx="1696212" cy="1417320"/>
          </a:xfrm>
          <a:prstGeom prst="rect">
            <a:avLst/>
          </a:prstGeom>
          <a:solidFill>
            <a:srgbClr val="EAF2FF"/>
          </a:solidFill>
          <a:ln w="9525">
            <a:solidFill>
              <a:srgbClr val="C9DAF2"/>
            </a:solidFill>
            <a:prstDash val="solid"/>
          </a:ln>
        </p:spPr>
      </p:sp>
      <p:sp>
        <p:nvSpPr>
          <p:cNvPr id="27" name="Shape 25"/>
          <p:cNvSpPr/>
          <p:nvPr/>
        </p:nvSpPr>
        <p:spPr>
          <a:xfrm>
            <a:off x="8684514" y="1783080"/>
            <a:ext cx="457200" cy="457200"/>
          </a:xfrm>
          <a:prstGeom prst="ellipse">
            <a:avLst/>
          </a:prstGeom>
          <a:solidFill>
            <a:srgbClr val="1F6FEB"/>
          </a:solidFill>
          <a:ln w="12700">
            <a:solidFill>
              <a:srgbClr val="1F6FEB"/>
            </a:solidFill>
            <a:prstDash val="solid"/>
          </a:ln>
        </p:spPr>
      </p:sp>
      <p:sp>
        <p:nvSpPr>
          <p:cNvPr id="28" name="Text 26"/>
          <p:cNvSpPr txBox="1"/>
          <p:nvPr/>
        </p:nvSpPr>
        <p:spPr>
          <a:xfrm>
            <a:off x="8684514"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29" name="Text 27"/>
          <p:cNvSpPr txBox="1"/>
          <p:nvPr/>
        </p:nvSpPr>
        <p:spPr>
          <a:xfrm>
            <a:off x="8110728" y="2286000"/>
            <a:ext cx="1604772" cy="502920"/>
          </a:xfrm>
          <a:prstGeom prst="rect">
            <a:avLst/>
          </a:prstGeom>
          <a:noFill/>
          <a:ln/>
        </p:spPr>
        <p:txBody>
          <a:bodyPr wrap="square" lIns="0" tIns="0" rIns="0" bIns="0" rtlCol="0" anchor="ctr"/>
          <a:lstStyle/>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Evaluation</a:t>
            </a:r>
            <a:endParaRPr lang="en-US" sz="1400" dirty="0">
              <a:latin typeface="Times New Roman" panose="02020603050405020304" pitchFamily="18" charset="0"/>
              <a:cs typeface="Times New Roman" panose="02020603050405020304" pitchFamily="18" charset="0"/>
            </a:endParaRPr>
          </a:p>
        </p:txBody>
      </p:sp>
      <p:sp>
        <p:nvSpPr>
          <p:cNvPr id="31" name="Shape 29"/>
          <p:cNvSpPr/>
          <p:nvPr/>
        </p:nvSpPr>
        <p:spPr>
          <a:xfrm>
            <a:off x="9944100" y="1691640"/>
            <a:ext cx="1696212" cy="1417320"/>
          </a:xfrm>
          <a:prstGeom prst="rect">
            <a:avLst/>
          </a:prstGeom>
          <a:solidFill>
            <a:srgbClr val="EAF2FF"/>
          </a:solidFill>
          <a:ln w="9525">
            <a:solidFill>
              <a:srgbClr val="C9DAF2"/>
            </a:solidFill>
            <a:prstDash val="solid"/>
          </a:ln>
        </p:spPr>
      </p:sp>
      <p:sp>
        <p:nvSpPr>
          <p:cNvPr id="32" name="Shape 30"/>
          <p:cNvSpPr/>
          <p:nvPr/>
        </p:nvSpPr>
        <p:spPr>
          <a:xfrm>
            <a:off x="10563606" y="1783080"/>
            <a:ext cx="457200" cy="457200"/>
          </a:xfrm>
          <a:prstGeom prst="ellipse">
            <a:avLst/>
          </a:prstGeom>
          <a:solidFill>
            <a:srgbClr val="5B6B82"/>
          </a:solidFill>
          <a:ln w="12700">
            <a:solidFill>
              <a:srgbClr val="5B6B82"/>
            </a:solidFill>
            <a:prstDash val="solid"/>
          </a:ln>
        </p:spPr>
      </p:sp>
      <p:sp>
        <p:nvSpPr>
          <p:cNvPr id="33" name="Text 31"/>
          <p:cNvSpPr txBox="1"/>
          <p:nvPr/>
        </p:nvSpPr>
        <p:spPr>
          <a:xfrm>
            <a:off x="10563606"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6</a:t>
            </a:r>
            <a:endParaRPr lang="en-US" sz="1600" dirty="0">
              <a:latin typeface="Times New Roman" panose="02020603050405020304" pitchFamily="18" charset="0"/>
              <a:cs typeface="Times New Roman" panose="02020603050405020304" pitchFamily="18" charset="0"/>
            </a:endParaRPr>
          </a:p>
        </p:txBody>
      </p:sp>
      <p:sp>
        <p:nvSpPr>
          <p:cNvPr id="34" name="Text 32"/>
          <p:cNvSpPr txBox="1"/>
          <p:nvPr/>
        </p:nvSpPr>
        <p:spPr>
          <a:xfrm>
            <a:off x="9989820" y="2286000"/>
            <a:ext cx="1604772" cy="502920"/>
          </a:xfrm>
          <a:prstGeom prst="rect">
            <a:avLst/>
          </a:prstGeom>
          <a:noFill/>
          <a:ln/>
        </p:spPr>
        <p:txBody>
          <a:bodyPr wrap="square" lIns="0" tIns="0" rIns="0" bIns="0" rtlCol="0" anchor="ctr"/>
          <a:lstStyle/>
          <a:p>
            <a:pPr marL="0" indent="0" algn="ctr">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Deployment</a:t>
            </a:r>
            <a:endParaRPr lang="en-US" sz="1400" dirty="0">
              <a:latin typeface="Times New Roman" panose="02020603050405020304" pitchFamily="18" charset="0"/>
              <a:cs typeface="Times New Roman" panose="02020603050405020304" pitchFamily="18" charset="0"/>
            </a:endParaRPr>
          </a:p>
        </p:txBody>
      </p:sp>
      <p:sp>
        <p:nvSpPr>
          <p:cNvPr id="36" name="Text 34"/>
          <p:cNvSpPr txBox="1"/>
          <p:nvPr/>
        </p:nvSpPr>
        <p:spPr>
          <a:xfrm>
            <a:off x="548640" y="3293706"/>
            <a:ext cx="9144000" cy="409614"/>
          </a:xfrm>
          <a:prstGeom prst="rect">
            <a:avLst/>
          </a:prstGeom>
          <a:noFill/>
          <a:ln/>
        </p:spPr>
        <p:txBody>
          <a:bodyPr wrap="square" lIns="0" tIns="0" rIns="0" bIns="0" rtlCol="0" anchor="ctr"/>
          <a:lstStyle/>
          <a:p>
            <a:pPr marL="0" indent="0">
              <a:buNone/>
            </a:pPr>
            <a:r>
              <a:rPr lang="en-US" b="1" dirty="0">
                <a:solidFill>
                  <a:srgbClr val="0B2A5B"/>
                </a:solidFill>
                <a:latin typeface="Times New Roman" panose="02020603050405020304" pitchFamily="18" charset="0"/>
                <a:ea typeface="Times New Roman" pitchFamily="34" charset="-122"/>
                <a:cs typeface="Times New Roman" panose="02020603050405020304" pitchFamily="18" charset="0"/>
              </a:rPr>
              <a:t>Luồng dữ liệu của </a:t>
            </a:r>
            <a:r>
              <a:rPr lang="en-US" b="1" dirty="0" err="1">
                <a:solidFill>
                  <a:srgbClr val="0B2A5B"/>
                </a:solidFill>
                <a:latin typeface="Times New Roman" panose="02020603050405020304" pitchFamily="18" charset="0"/>
                <a:ea typeface="Times New Roman" pitchFamily="34" charset="-122"/>
                <a:cs typeface="Times New Roman" panose="02020603050405020304" pitchFamily="18" charset="0"/>
              </a:rPr>
              <a:t>dự</a:t>
            </a:r>
            <a:r>
              <a:rPr lang="en-US"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en-US" b="1" dirty="0" err="1">
                <a:solidFill>
                  <a:srgbClr val="0B2A5B"/>
                </a:solidFill>
                <a:latin typeface="Times New Roman" panose="02020603050405020304" pitchFamily="18" charset="0"/>
                <a:ea typeface="Times New Roman" pitchFamily="34" charset="-122"/>
                <a:cs typeface="Times New Roman" panose="02020603050405020304" pitchFamily="18" charset="0"/>
              </a:rPr>
              <a:t>án</a:t>
            </a:r>
            <a:endParaRPr lang="en-US" dirty="0">
              <a:latin typeface="Times New Roman" panose="02020603050405020304" pitchFamily="18" charset="0"/>
              <a:cs typeface="Times New Roman" panose="02020603050405020304" pitchFamily="18" charset="0"/>
            </a:endParaRPr>
          </a:p>
        </p:txBody>
      </p:sp>
      <p:sp>
        <p:nvSpPr>
          <p:cNvPr id="37" name="Shape 35"/>
          <p:cNvSpPr/>
          <p:nvPr/>
        </p:nvSpPr>
        <p:spPr>
          <a:xfrm>
            <a:off x="548640" y="4427379"/>
            <a:ext cx="1737360" cy="868680"/>
          </a:xfrm>
          <a:prstGeom prst="rect">
            <a:avLst/>
          </a:prstGeom>
          <a:solidFill>
            <a:srgbClr val="FFFFFF"/>
          </a:solidFill>
          <a:ln w="12700">
            <a:solidFill>
              <a:srgbClr val="0B2A5B"/>
            </a:solidFill>
            <a:prstDash val="solid"/>
          </a:ln>
        </p:spPr>
      </p:sp>
      <p:sp>
        <p:nvSpPr>
          <p:cNvPr id="38" name="Text 36"/>
          <p:cNvSpPr txBox="1"/>
          <p:nvPr/>
        </p:nvSpPr>
        <p:spPr>
          <a:xfrm>
            <a:off x="594360" y="4463955"/>
            <a:ext cx="1645920" cy="434340"/>
          </a:xfrm>
          <a:prstGeom prst="rect">
            <a:avLst/>
          </a:prstGeom>
          <a:noFill/>
          <a:ln/>
        </p:spPr>
        <p:txBody>
          <a:bodyPr wrap="square" lIns="0" tIns="0" rIns="0" bIns="0" rtlCol="0" anchor="ctr"/>
          <a:lstStyle/>
          <a:p>
            <a:pPr marL="0" indent="0" algn="ctr">
              <a:buNone/>
            </a:pPr>
            <a:r>
              <a:rPr lang="en-US" sz="1300" b="1" dirty="0">
                <a:solidFill>
                  <a:srgbClr val="0B2A5B"/>
                </a:solidFill>
                <a:latin typeface="Times New Roman" panose="02020603050405020304" pitchFamily="18" charset="0"/>
                <a:ea typeface="Times New Roman" pitchFamily="34" charset="-122"/>
                <a:cs typeface="Times New Roman" panose="02020603050405020304" pitchFamily="18" charset="0"/>
              </a:rPr>
              <a:t>Raw</a:t>
            </a:r>
            <a:endParaRPr lang="en-US" sz="1300" dirty="0">
              <a:latin typeface="Times New Roman" panose="02020603050405020304" pitchFamily="18" charset="0"/>
              <a:cs typeface="Times New Roman" panose="02020603050405020304" pitchFamily="18" charset="0"/>
            </a:endParaRPr>
          </a:p>
        </p:txBody>
      </p:sp>
      <p:sp>
        <p:nvSpPr>
          <p:cNvPr id="39" name="Text 37"/>
          <p:cNvSpPr txBox="1"/>
          <p:nvPr/>
        </p:nvSpPr>
        <p:spPr>
          <a:xfrm>
            <a:off x="594360" y="4861719"/>
            <a:ext cx="1645920" cy="390906"/>
          </a:xfrm>
          <a:prstGeom prst="rect">
            <a:avLst/>
          </a:prstGeom>
          <a:noFill/>
          <a:ln/>
        </p:spPr>
        <p:txBody>
          <a:bodyPr wrap="square" lIns="0" tIns="0" rIns="0" bIns="0" rtlCol="0" anchor="t"/>
          <a:lstStyle/>
          <a:p>
            <a:pPr marL="0" indent="0" algn="ctr">
              <a:buNone/>
            </a:pPr>
            <a:r>
              <a:rPr lang="en-US" sz="1300" dirty="0">
                <a:solidFill>
                  <a:srgbClr val="0B2A5B"/>
                </a:solidFill>
                <a:latin typeface="Times New Roman" panose="02020603050405020304" pitchFamily="18" charset="0"/>
                <a:ea typeface="Times New Roman" pitchFamily="34" charset="-122"/>
                <a:cs typeface="Times New Roman" panose="02020603050405020304" pitchFamily="18" charset="0"/>
              </a:rPr>
              <a:t>online_retail_II.xlsx</a:t>
            </a:r>
            <a:endParaRPr lang="en-US" sz="1300" dirty="0">
              <a:latin typeface="Times New Roman" panose="02020603050405020304" pitchFamily="18" charset="0"/>
              <a:cs typeface="Times New Roman" panose="02020603050405020304" pitchFamily="18" charset="0"/>
            </a:endParaRPr>
          </a:p>
        </p:txBody>
      </p:sp>
      <p:sp>
        <p:nvSpPr>
          <p:cNvPr id="40" name="Shape 38"/>
          <p:cNvSpPr/>
          <p:nvPr/>
        </p:nvSpPr>
        <p:spPr>
          <a:xfrm>
            <a:off x="2286000" y="4857147"/>
            <a:ext cx="457200" cy="0"/>
          </a:xfrm>
          <a:prstGeom prst="line">
            <a:avLst/>
          </a:prstGeom>
          <a:noFill/>
          <a:ln w="19050">
            <a:solidFill>
              <a:srgbClr val="0B2A5B"/>
            </a:solidFill>
            <a:prstDash val="solid"/>
            <a:tailEnd type="triangle"/>
          </a:ln>
        </p:spPr>
      </p:sp>
      <p:sp>
        <p:nvSpPr>
          <p:cNvPr id="41" name="Shape 39"/>
          <p:cNvSpPr/>
          <p:nvPr/>
        </p:nvSpPr>
        <p:spPr>
          <a:xfrm>
            <a:off x="2743200" y="4427379"/>
            <a:ext cx="1828800" cy="868680"/>
          </a:xfrm>
          <a:prstGeom prst="rect">
            <a:avLst/>
          </a:prstGeom>
          <a:solidFill>
            <a:srgbClr val="EAF2FF"/>
          </a:solidFill>
          <a:ln w="12700">
            <a:solidFill>
              <a:srgbClr val="0B2A5B"/>
            </a:solidFill>
            <a:prstDash val="solid"/>
          </a:ln>
        </p:spPr>
      </p:sp>
      <p:sp>
        <p:nvSpPr>
          <p:cNvPr id="42" name="Text 40"/>
          <p:cNvSpPr txBox="1"/>
          <p:nvPr/>
        </p:nvSpPr>
        <p:spPr>
          <a:xfrm>
            <a:off x="2788920" y="4463955"/>
            <a:ext cx="1737360" cy="434340"/>
          </a:xfrm>
          <a:prstGeom prst="rect">
            <a:avLst/>
          </a:prstGeom>
          <a:noFill/>
          <a:ln/>
        </p:spPr>
        <p:txBody>
          <a:bodyPr wrap="square" lIns="0" tIns="0" rIns="0" bIns="0" rtlCol="0" anchor="ctr"/>
          <a:lstStyle/>
          <a:p>
            <a:pPr marL="0" indent="0" algn="ctr">
              <a:buNone/>
            </a:pPr>
            <a:r>
              <a:rPr lang="en-US" sz="1300" b="1" dirty="0">
                <a:solidFill>
                  <a:srgbClr val="0B2A5B"/>
                </a:solidFill>
                <a:latin typeface="Times New Roman" panose="02020603050405020304" pitchFamily="18" charset="0"/>
                <a:ea typeface="Times New Roman" pitchFamily="34" charset="-122"/>
                <a:cs typeface="Times New Roman" panose="02020603050405020304" pitchFamily="18" charset="0"/>
              </a:rPr>
              <a:t>NB1 · Understanding</a:t>
            </a:r>
            <a:endParaRPr lang="en-US" sz="1300" dirty="0">
              <a:latin typeface="Times New Roman" panose="02020603050405020304" pitchFamily="18" charset="0"/>
              <a:cs typeface="Times New Roman" panose="02020603050405020304" pitchFamily="18" charset="0"/>
            </a:endParaRPr>
          </a:p>
        </p:txBody>
      </p:sp>
      <p:sp>
        <p:nvSpPr>
          <p:cNvPr id="43" name="Text 41"/>
          <p:cNvSpPr txBox="1"/>
          <p:nvPr/>
        </p:nvSpPr>
        <p:spPr>
          <a:xfrm>
            <a:off x="2788920" y="4861719"/>
            <a:ext cx="1737360" cy="390906"/>
          </a:xfrm>
          <a:prstGeom prst="rect">
            <a:avLst/>
          </a:prstGeom>
          <a:noFill/>
          <a:ln/>
        </p:spPr>
        <p:txBody>
          <a:bodyPr wrap="square" lIns="0" tIns="0" rIns="0" bIns="0" rtlCol="0" anchor="t"/>
          <a:lstStyle/>
          <a:p>
            <a:pPr marL="0" indent="0" algn="ctr">
              <a:buNone/>
            </a:pPr>
            <a:r>
              <a:rPr lang="en-US" sz="1300" dirty="0">
                <a:solidFill>
                  <a:srgbClr val="0B2A5B"/>
                </a:solidFill>
                <a:latin typeface="Times New Roman" panose="02020603050405020304" pitchFamily="18" charset="0"/>
                <a:ea typeface="Times New Roman" pitchFamily="34" charset="-122"/>
                <a:cs typeface="Times New Roman" panose="02020603050405020304" pitchFamily="18" charset="0"/>
              </a:rPr>
              <a:t>khám phá &amp; ghi nhận</a:t>
            </a:r>
            <a:endParaRPr lang="en-US" sz="1300" dirty="0">
              <a:latin typeface="Times New Roman" panose="02020603050405020304" pitchFamily="18" charset="0"/>
              <a:cs typeface="Times New Roman" panose="02020603050405020304" pitchFamily="18" charset="0"/>
            </a:endParaRPr>
          </a:p>
        </p:txBody>
      </p:sp>
      <p:sp>
        <p:nvSpPr>
          <p:cNvPr id="44" name="Shape 42"/>
          <p:cNvSpPr/>
          <p:nvPr/>
        </p:nvSpPr>
        <p:spPr>
          <a:xfrm>
            <a:off x="4572000" y="4857147"/>
            <a:ext cx="457200" cy="0"/>
          </a:xfrm>
          <a:prstGeom prst="line">
            <a:avLst/>
          </a:prstGeom>
          <a:noFill/>
          <a:ln w="19050">
            <a:solidFill>
              <a:srgbClr val="0B2A5B"/>
            </a:solidFill>
            <a:prstDash val="solid"/>
            <a:tailEnd type="triangle"/>
          </a:ln>
        </p:spPr>
      </p:sp>
      <p:sp>
        <p:nvSpPr>
          <p:cNvPr id="45" name="Shape 43"/>
          <p:cNvSpPr/>
          <p:nvPr/>
        </p:nvSpPr>
        <p:spPr>
          <a:xfrm>
            <a:off x="5029200" y="4427379"/>
            <a:ext cx="1828800" cy="868680"/>
          </a:xfrm>
          <a:prstGeom prst="rect">
            <a:avLst/>
          </a:prstGeom>
          <a:solidFill>
            <a:srgbClr val="1F6FEB"/>
          </a:solidFill>
          <a:ln w="12700">
            <a:solidFill>
              <a:srgbClr val="0B2A5B"/>
            </a:solidFill>
            <a:prstDash val="solid"/>
          </a:ln>
        </p:spPr>
      </p:sp>
      <p:sp>
        <p:nvSpPr>
          <p:cNvPr id="46" name="Text 44"/>
          <p:cNvSpPr txBox="1"/>
          <p:nvPr/>
        </p:nvSpPr>
        <p:spPr>
          <a:xfrm>
            <a:off x="5074920" y="4463955"/>
            <a:ext cx="1737360" cy="43434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Times New Roman" pitchFamily="34" charset="-122"/>
                <a:cs typeface="Times New Roman" panose="02020603050405020304" pitchFamily="18" charset="0"/>
              </a:rPr>
              <a:t>NB2 · Preparation</a:t>
            </a:r>
            <a:endParaRPr lang="en-US" sz="1300" dirty="0">
              <a:latin typeface="Times New Roman" panose="02020603050405020304" pitchFamily="18" charset="0"/>
              <a:cs typeface="Times New Roman" panose="02020603050405020304" pitchFamily="18" charset="0"/>
            </a:endParaRPr>
          </a:p>
        </p:txBody>
      </p:sp>
      <p:sp>
        <p:nvSpPr>
          <p:cNvPr id="47" name="Text 45"/>
          <p:cNvSpPr txBox="1"/>
          <p:nvPr/>
        </p:nvSpPr>
        <p:spPr>
          <a:xfrm>
            <a:off x="5074920" y="4861719"/>
            <a:ext cx="1737360" cy="390906"/>
          </a:xfrm>
          <a:prstGeom prst="rect">
            <a:avLst/>
          </a:prstGeom>
          <a:noFill/>
          <a:ln/>
        </p:spPr>
        <p:txBody>
          <a:bodyPr wrap="square" lIns="0" tIns="0" rIns="0" bIns="0" rtlCol="0" anchor="t"/>
          <a:lstStyle/>
          <a:p>
            <a:pPr marL="0" indent="0" algn="ctr">
              <a:buNone/>
            </a:pPr>
            <a:r>
              <a:rPr lang="en-US" sz="1300" dirty="0">
                <a:solidFill>
                  <a:srgbClr val="FFFFFF"/>
                </a:solidFill>
                <a:latin typeface="Times New Roman" panose="02020603050405020304" pitchFamily="18" charset="0"/>
                <a:ea typeface="Times New Roman" pitchFamily="34" charset="-122"/>
                <a:cs typeface="Times New Roman" panose="02020603050405020304" pitchFamily="18" charset="0"/>
              </a:rPr>
              <a:t>làm sạch → 3 file CSV</a:t>
            </a:r>
            <a:endParaRPr lang="en-US" sz="1300" dirty="0">
              <a:latin typeface="Times New Roman" panose="02020603050405020304" pitchFamily="18" charset="0"/>
              <a:cs typeface="Times New Roman" panose="02020603050405020304" pitchFamily="18" charset="0"/>
            </a:endParaRPr>
          </a:p>
        </p:txBody>
      </p:sp>
      <p:sp>
        <p:nvSpPr>
          <p:cNvPr id="48" name="Shape 46"/>
          <p:cNvSpPr/>
          <p:nvPr/>
        </p:nvSpPr>
        <p:spPr>
          <a:xfrm>
            <a:off x="6858000" y="4857147"/>
            <a:ext cx="731520" cy="0"/>
          </a:xfrm>
          <a:prstGeom prst="line">
            <a:avLst/>
          </a:prstGeom>
          <a:noFill/>
          <a:ln w="19050">
            <a:solidFill>
              <a:srgbClr val="0B2A5B"/>
            </a:solidFill>
            <a:prstDash val="solid"/>
            <a:tailEnd type="triangle"/>
          </a:ln>
        </p:spPr>
      </p:sp>
      <p:sp>
        <p:nvSpPr>
          <p:cNvPr id="49" name="Shape 47"/>
          <p:cNvSpPr/>
          <p:nvPr/>
        </p:nvSpPr>
        <p:spPr>
          <a:xfrm>
            <a:off x="7589520" y="3611880"/>
            <a:ext cx="2377440" cy="640080"/>
          </a:xfrm>
          <a:prstGeom prst="rect">
            <a:avLst/>
          </a:prstGeom>
          <a:solidFill>
            <a:srgbClr val="EAF2FF"/>
          </a:solidFill>
          <a:ln w="12700">
            <a:solidFill>
              <a:srgbClr val="0B2A5B"/>
            </a:solidFill>
            <a:prstDash val="solid"/>
          </a:ln>
        </p:spPr>
      </p:sp>
      <p:sp>
        <p:nvSpPr>
          <p:cNvPr id="50" name="Text 48"/>
          <p:cNvSpPr txBox="1"/>
          <p:nvPr/>
        </p:nvSpPr>
        <p:spPr>
          <a:xfrm>
            <a:off x="7635240" y="3723291"/>
            <a:ext cx="2286000" cy="292608"/>
          </a:xfrm>
          <a:prstGeom prst="rect">
            <a:avLst/>
          </a:prstGeom>
          <a:noFill/>
          <a:ln/>
        </p:spPr>
        <p:txBody>
          <a:bodyPr wrap="square" lIns="0" tIns="0" rIns="0" bIns="0" rtlCol="0" anchor="ctr"/>
          <a:lstStyle/>
          <a:p>
            <a:pPr marL="0" indent="0" algn="ctr">
              <a:buNone/>
            </a:pPr>
            <a:r>
              <a:rPr lang="en-US" sz="1300" b="1" dirty="0">
                <a:solidFill>
                  <a:srgbClr val="0B2A5B"/>
                </a:solidFill>
                <a:latin typeface="Times New Roman" panose="02020603050405020304" pitchFamily="18" charset="0"/>
                <a:ea typeface="Times New Roman" pitchFamily="34" charset="-122"/>
                <a:cs typeface="Times New Roman" panose="02020603050405020304" pitchFamily="18" charset="0"/>
              </a:rPr>
              <a:t>NB3 · MBA</a:t>
            </a:r>
            <a:endParaRPr lang="en-US" sz="1300" dirty="0">
              <a:latin typeface="Times New Roman" panose="02020603050405020304" pitchFamily="18" charset="0"/>
              <a:cs typeface="Times New Roman" panose="02020603050405020304" pitchFamily="18" charset="0"/>
            </a:endParaRPr>
          </a:p>
        </p:txBody>
      </p:sp>
      <p:sp>
        <p:nvSpPr>
          <p:cNvPr id="51" name="Text 49"/>
          <p:cNvSpPr txBox="1"/>
          <p:nvPr/>
        </p:nvSpPr>
        <p:spPr>
          <a:xfrm>
            <a:off x="7635240" y="4015899"/>
            <a:ext cx="2286000" cy="274320"/>
          </a:xfrm>
          <a:prstGeom prst="rect">
            <a:avLst/>
          </a:prstGeom>
          <a:noFill/>
          <a:ln/>
        </p:spPr>
        <p:txBody>
          <a:bodyPr wrap="square" lIns="0" tIns="0" rIns="0" bIns="0" rtlCol="0" anchor="ctr"/>
          <a:lstStyle/>
          <a:p>
            <a:pPr marL="0" indent="0" algn="ctr">
              <a:buNone/>
            </a:pPr>
            <a:r>
              <a:rPr lang="en-US" sz="1300" dirty="0">
                <a:solidFill>
                  <a:srgbClr val="5B6B82"/>
                </a:solidFill>
                <a:latin typeface="Times New Roman" panose="02020603050405020304" pitchFamily="18" charset="0"/>
                <a:ea typeface="Times New Roman" pitchFamily="34" charset="-122"/>
                <a:cs typeface="Times New Roman" panose="02020603050405020304" pitchFamily="18" charset="0"/>
              </a:rPr>
              <a:t>Transactions_Clean.csv</a:t>
            </a:r>
            <a:endParaRPr lang="en-US" sz="1300" dirty="0">
              <a:latin typeface="Times New Roman" panose="02020603050405020304" pitchFamily="18" charset="0"/>
              <a:cs typeface="Times New Roman" panose="02020603050405020304" pitchFamily="18" charset="0"/>
            </a:endParaRPr>
          </a:p>
        </p:txBody>
      </p:sp>
      <p:sp>
        <p:nvSpPr>
          <p:cNvPr id="52" name="Shape 50"/>
          <p:cNvSpPr/>
          <p:nvPr/>
        </p:nvSpPr>
        <p:spPr>
          <a:xfrm flipV="1">
            <a:off x="6858000" y="3946852"/>
            <a:ext cx="731520" cy="910295"/>
          </a:xfrm>
          <a:prstGeom prst="line">
            <a:avLst/>
          </a:prstGeom>
          <a:noFill/>
          <a:ln w="19050">
            <a:solidFill>
              <a:srgbClr val="0B2A5B"/>
            </a:solidFill>
            <a:prstDash val="solid"/>
            <a:tailEnd type="triangle"/>
          </a:ln>
        </p:spPr>
      </p:sp>
      <p:sp>
        <p:nvSpPr>
          <p:cNvPr id="53" name="Shape 51"/>
          <p:cNvSpPr/>
          <p:nvPr/>
        </p:nvSpPr>
        <p:spPr>
          <a:xfrm>
            <a:off x="7589520" y="4610259"/>
            <a:ext cx="2377440" cy="640080"/>
          </a:xfrm>
          <a:prstGeom prst="rect">
            <a:avLst/>
          </a:prstGeom>
          <a:solidFill>
            <a:srgbClr val="EAF2FF"/>
          </a:solidFill>
          <a:ln w="12700">
            <a:solidFill>
              <a:srgbClr val="0B2A5B"/>
            </a:solidFill>
            <a:prstDash val="solid"/>
          </a:ln>
        </p:spPr>
      </p:sp>
      <p:sp>
        <p:nvSpPr>
          <p:cNvPr id="54" name="Text 52"/>
          <p:cNvSpPr txBox="1"/>
          <p:nvPr/>
        </p:nvSpPr>
        <p:spPr>
          <a:xfrm>
            <a:off x="7635240" y="4637691"/>
            <a:ext cx="2286000" cy="292608"/>
          </a:xfrm>
          <a:prstGeom prst="rect">
            <a:avLst/>
          </a:prstGeom>
          <a:noFill/>
          <a:ln/>
        </p:spPr>
        <p:txBody>
          <a:bodyPr wrap="square" lIns="0" tIns="0" rIns="0" bIns="0" rtlCol="0" anchor="ctr"/>
          <a:lstStyle/>
          <a:p>
            <a:pPr marL="0" indent="0" algn="ctr">
              <a:buNone/>
            </a:pPr>
            <a:r>
              <a:rPr lang="en-US" sz="1300" b="1" dirty="0">
                <a:solidFill>
                  <a:srgbClr val="0B2A5B"/>
                </a:solidFill>
                <a:latin typeface="Times New Roman" panose="02020603050405020304" pitchFamily="18" charset="0"/>
                <a:ea typeface="Times New Roman" pitchFamily="34" charset="-122"/>
                <a:cs typeface="Times New Roman" panose="02020603050405020304" pitchFamily="18" charset="0"/>
              </a:rPr>
              <a:t>NB4 · RFM Clustering</a:t>
            </a:r>
            <a:endParaRPr lang="en-US" sz="1300" dirty="0">
              <a:latin typeface="Times New Roman" panose="02020603050405020304" pitchFamily="18" charset="0"/>
              <a:cs typeface="Times New Roman" panose="02020603050405020304" pitchFamily="18" charset="0"/>
            </a:endParaRPr>
          </a:p>
        </p:txBody>
      </p:sp>
      <p:sp>
        <p:nvSpPr>
          <p:cNvPr id="55" name="Text 53"/>
          <p:cNvSpPr txBox="1"/>
          <p:nvPr/>
        </p:nvSpPr>
        <p:spPr>
          <a:xfrm>
            <a:off x="7635240" y="4930299"/>
            <a:ext cx="2286000" cy="274320"/>
          </a:xfrm>
          <a:prstGeom prst="rect">
            <a:avLst/>
          </a:prstGeom>
          <a:noFill/>
          <a:ln/>
        </p:spPr>
        <p:txBody>
          <a:bodyPr wrap="square" lIns="0" tIns="0" rIns="0" bIns="0" rtlCol="0" anchor="ctr"/>
          <a:lstStyle/>
          <a:p>
            <a:pPr marL="0" indent="0" algn="ctr">
              <a:buNone/>
            </a:pPr>
            <a:r>
              <a:rPr lang="en-US" sz="1300" dirty="0">
                <a:solidFill>
                  <a:srgbClr val="5B6B82"/>
                </a:solidFill>
                <a:latin typeface="Times New Roman" panose="02020603050405020304" pitchFamily="18" charset="0"/>
                <a:ea typeface="Times New Roman" pitchFamily="34" charset="-122"/>
                <a:cs typeface="Times New Roman" panose="02020603050405020304" pitchFamily="18" charset="0"/>
              </a:rPr>
              <a:t>Customer_RFM.csv</a:t>
            </a:r>
            <a:endParaRPr lang="en-US" sz="1300" dirty="0">
              <a:latin typeface="Times New Roman" panose="02020603050405020304" pitchFamily="18" charset="0"/>
              <a:cs typeface="Times New Roman" panose="02020603050405020304" pitchFamily="18" charset="0"/>
            </a:endParaRPr>
          </a:p>
        </p:txBody>
      </p:sp>
      <p:sp>
        <p:nvSpPr>
          <p:cNvPr id="56" name="Shape 54"/>
          <p:cNvSpPr/>
          <p:nvPr/>
        </p:nvSpPr>
        <p:spPr>
          <a:xfrm>
            <a:off x="6858000" y="4857147"/>
            <a:ext cx="731520" cy="987552"/>
          </a:xfrm>
          <a:prstGeom prst="line">
            <a:avLst/>
          </a:prstGeom>
          <a:noFill/>
          <a:ln w="19050">
            <a:solidFill>
              <a:srgbClr val="0B2A5B"/>
            </a:solidFill>
            <a:prstDash val="solid"/>
            <a:tailEnd type="triangle"/>
          </a:ln>
        </p:spPr>
      </p:sp>
      <p:sp>
        <p:nvSpPr>
          <p:cNvPr id="57" name="Shape 55"/>
          <p:cNvSpPr/>
          <p:nvPr/>
        </p:nvSpPr>
        <p:spPr>
          <a:xfrm>
            <a:off x="7589520" y="5524659"/>
            <a:ext cx="2377440" cy="640080"/>
          </a:xfrm>
          <a:prstGeom prst="rect">
            <a:avLst/>
          </a:prstGeom>
          <a:solidFill>
            <a:srgbClr val="EAF2FF"/>
          </a:solidFill>
          <a:ln w="12700">
            <a:solidFill>
              <a:srgbClr val="0B2A5B"/>
            </a:solidFill>
            <a:prstDash val="solid"/>
          </a:ln>
        </p:spPr>
      </p:sp>
      <p:sp>
        <p:nvSpPr>
          <p:cNvPr id="58" name="Text 56"/>
          <p:cNvSpPr txBox="1"/>
          <p:nvPr/>
        </p:nvSpPr>
        <p:spPr>
          <a:xfrm>
            <a:off x="7635240" y="5552091"/>
            <a:ext cx="2286000" cy="292608"/>
          </a:xfrm>
          <a:prstGeom prst="rect">
            <a:avLst/>
          </a:prstGeom>
          <a:noFill/>
          <a:ln/>
        </p:spPr>
        <p:txBody>
          <a:bodyPr wrap="square" lIns="0" tIns="0" rIns="0" bIns="0" rtlCol="0" anchor="ctr"/>
          <a:lstStyle/>
          <a:p>
            <a:pPr marL="0" indent="0" algn="ctr">
              <a:buNone/>
            </a:pPr>
            <a:r>
              <a:rPr lang="en-US" sz="1300" b="1" dirty="0">
                <a:solidFill>
                  <a:srgbClr val="0B2A5B"/>
                </a:solidFill>
                <a:latin typeface="Times New Roman" panose="02020603050405020304" pitchFamily="18" charset="0"/>
                <a:ea typeface="Times New Roman" pitchFamily="34" charset="-122"/>
                <a:cs typeface="Times New Roman" panose="02020603050405020304" pitchFamily="18" charset="0"/>
              </a:rPr>
              <a:t>NB5 · Churn</a:t>
            </a:r>
            <a:endParaRPr lang="en-US" sz="1300" dirty="0">
              <a:latin typeface="Times New Roman" panose="02020603050405020304" pitchFamily="18" charset="0"/>
              <a:cs typeface="Times New Roman" panose="02020603050405020304" pitchFamily="18" charset="0"/>
            </a:endParaRPr>
          </a:p>
        </p:txBody>
      </p:sp>
      <p:sp>
        <p:nvSpPr>
          <p:cNvPr id="59" name="Text 57"/>
          <p:cNvSpPr txBox="1"/>
          <p:nvPr/>
        </p:nvSpPr>
        <p:spPr>
          <a:xfrm>
            <a:off x="7635240" y="5844699"/>
            <a:ext cx="2286000" cy="274320"/>
          </a:xfrm>
          <a:prstGeom prst="rect">
            <a:avLst/>
          </a:prstGeom>
          <a:noFill/>
          <a:ln/>
        </p:spPr>
        <p:txBody>
          <a:bodyPr wrap="square" lIns="0" tIns="0" rIns="0" bIns="0" rtlCol="0" anchor="ctr"/>
          <a:lstStyle/>
          <a:p>
            <a:pPr marL="0" indent="0" algn="ctr">
              <a:buNone/>
            </a:pPr>
            <a:r>
              <a:rPr lang="en-US" sz="1300" dirty="0">
                <a:solidFill>
                  <a:srgbClr val="5B6B82"/>
                </a:solidFill>
                <a:latin typeface="Times New Roman" panose="02020603050405020304" pitchFamily="18" charset="0"/>
                <a:ea typeface="Times New Roman" pitchFamily="34" charset="-122"/>
                <a:cs typeface="Times New Roman" panose="02020603050405020304" pitchFamily="18" charset="0"/>
              </a:rPr>
              <a:t>Customer_Churn_Features.csv</a:t>
            </a:r>
            <a:endParaRPr lang="en-US" sz="1300" dirty="0">
              <a:latin typeface="Times New Roman" panose="02020603050405020304" pitchFamily="18" charset="0"/>
              <a:cs typeface="Times New Roman" panose="02020603050405020304" pitchFamily="18" charset="0"/>
            </a:endParaRPr>
          </a:p>
        </p:txBody>
      </p:sp>
      <p:sp>
        <p:nvSpPr>
          <p:cNvPr id="60" name="Shape 58"/>
          <p:cNvSpPr/>
          <p:nvPr/>
        </p:nvSpPr>
        <p:spPr>
          <a:xfrm>
            <a:off x="10437226" y="4244499"/>
            <a:ext cx="1417320" cy="1371600"/>
          </a:xfrm>
          <a:prstGeom prst="rect">
            <a:avLst/>
          </a:prstGeom>
          <a:solidFill>
            <a:srgbClr val="0B2A5B"/>
          </a:solidFill>
          <a:ln w="12700">
            <a:solidFill>
              <a:srgbClr val="0B2A5B"/>
            </a:solidFill>
            <a:prstDash val="solid"/>
          </a:ln>
        </p:spPr>
      </p:sp>
      <p:sp>
        <p:nvSpPr>
          <p:cNvPr id="61" name="Text 59"/>
          <p:cNvSpPr txBox="1"/>
          <p:nvPr/>
        </p:nvSpPr>
        <p:spPr>
          <a:xfrm>
            <a:off x="10437226" y="4244499"/>
            <a:ext cx="1417320" cy="137160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Times New Roman" pitchFamily="34" charset="-122"/>
                <a:cs typeface="Times New Roman" panose="02020603050405020304" pitchFamily="18" charset="0"/>
              </a:rPr>
              <a:t>NB6</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ea typeface="Times New Roman" pitchFamily="34" charset="-122"/>
                <a:cs typeface="Times New Roman" panose="02020603050405020304" pitchFamily="18" charset="0"/>
              </a:rPr>
              <a:t>Evaluation</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ea typeface="Times New Roman" pitchFamily="34" charset="-122"/>
                <a:cs typeface="Times New Roman" panose="02020603050405020304" pitchFamily="18" charset="0"/>
              </a:rPr>
              <a:t>&amp; Comparison</a:t>
            </a:r>
            <a:endParaRPr lang="en-US" sz="1300" dirty="0">
              <a:latin typeface="Times New Roman" panose="02020603050405020304" pitchFamily="18" charset="0"/>
              <a:cs typeface="Times New Roman" panose="02020603050405020304" pitchFamily="18" charset="0"/>
            </a:endParaRPr>
          </a:p>
        </p:txBody>
      </p:sp>
      <p:sp>
        <p:nvSpPr>
          <p:cNvPr id="62" name="Shape 60"/>
          <p:cNvSpPr/>
          <p:nvPr/>
        </p:nvSpPr>
        <p:spPr>
          <a:xfrm>
            <a:off x="9966960" y="4015899"/>
            <a:ext cx="470266" cy="914400"/>
          </a:xfrm>
          <a:prstGeom prst="line">
            <a:avLst/>
          </a:prstGeom>
          <a:noFill/>
          <a:ln w="19050">
            <a:solidFill>
              <a:srgbClr val="0B2A5B"/>
            </a:solidFill>
            <a:prstDash val="solid"/>
          </a:ln>
        </p:spPr>
      </p:sp>
      <p:sp>
        <p:nvSpPr>
          <p:cNvPr id="63" name="Shape 61"/>
          <p:cNvSpPr/>
          <p:nvPr/>
        </p:nvSpPr>
        <p:spPr>
          <a:xfrm>
            <a:off x="9966960" y="4930299"/>
            <a:ext cx="470266" cy="0"/>
          </a:xfrm>
          <a:prstGeom prst="line">
            <a:avLst/>
          </a:prstGeom>
          <a:noFill/>
          <a:ln w="19050">
            <a:solidFill>
              <a:srgbClr val="0B2A5B"/>
            </a:solidFill>
            <a:prstDash val="solid"/>
          </a:ln>
        </p:spPr>
      </p:sp>
      <p:sp>
        <p:nvSpPr>
          <p:cNvPr id="64" name="Shape 62"/>
          <p:cNvSpPr/>
          <p:nvPr/>
        </p:nvSpPr>
        <p:spPr>
          <a:xfrm flipV="1">
            <a:off x="9966960" y="4898295"/>
            <a:ext cx="470266" cy="946404"/>
          </a:xfrm>
          <a:prstGeom prst="line">
            <a:avLst/>
          </a:prstGeom>
          <a:noFill/>
          <a:ln w="19050">
            <a:solidFill>
              <a:srgbClr val="0B2A5B"/>
            </a:solidFill>
            <a:prstDash val="solid"/>
          </a:ln>
        </p:spPr>
      </p:sp>
      <p:sp>
        <p:nvSpPr>
          <p:cNvPr id="66" name="Text 2">
            <a:extLst>
              <a:ext uri="{FF2B5EF4-FFF2-40B4-BE49-F238E27FC236}">
                <a16:creationId xmlns:a16="http://schemas.microsoft.com/office/drawing/2014/main" id="{6AB59069-B449-CDEC-F083-5B43826D91E4}"/>
              </a:ext>
            </a:extLst>
          </p:cNvPr>
          <p:cNvSpPr txBox="1"/>
          <p:nvPr/>
        </p:nvSpPr>
        <p:spPr>
          <a:xfrm>
            <a:off x="548640" y="6288833"/>
            <a:ext cx="8229600" cy="569167"/>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Times New Roman" panose="02020603050405020304" pitchFamily="18" charset="0"/>
                <a:ea typeface="Calibri" pitchFamily="34" charset="-122"/>
                <a:cs typeface="Times New Roman" panose="02020603050405020304" pitchFamily="18" charset="0"/>
              </a:rPr>
              <a:t>6</a:t>
            </a:r>
            <a:endParaRPr lang="en-US" sz="10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280161"/>
            <a:ext cx="1429450" cy="1167564"/>
          </a:xfrm>
          <a:prstGeom prst="roundRect">
            <a:avLst>
              <a:gd name="adj" fmla="val 5333"/>
            </a:avLst>
          </a:prstGeom>
          <a:solidFill>
            <a:srgbClr val="F4F6FA"/>
          </a:solidFill>
          <a:ln w="12700">
            <a:solidFill>
              <a:srgbClr val="F4F6FA"/>
            </a:solidFill>
            <a:prstDash val="solid"/>
          </a:ln>
        </p:spPr>
      </p:sp>
      <p:sp>
        <p:nvSpPr>
          <p:cNvPr id="7" name="Text 5"/>
          <p:cNvSpPr txBox="1"/>
          <p:nvPr/>
        </p:nvSpPr>
        <p:spPr>
          <a:xfrm>
            <a:off x="548640" y="1305909"/>
            <a:ext cx="1429450" cy="672181"/>
          </a:xfrm>
          <a:prstGeom prst="rect">
            <a:avLst/>
          </a:prstGeom>
          <a:noFill/>
          <a:ln/>
        </p:spPr>
        <p:txBody>
          <a:bodyPr wrap="square" lIns="0" tIns="0" rIns="0" bIns="0" rtlCol="0" anchor="ctr"/>
          <a:lstStyle/>
          <a:p>
            <a:pPr marL="0" indent="0" algn="ctr">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1,067,371</a:t>
            </a:r>
            <a:endParaRPr lang="en-US" dirty="0">
              <a:latin typeface="Times New Roman" panose="02020603050405020304" pitchFamily="18" charset="0"/>
              <a:cs typeface="Times New Roman" panose="02020603050405020304" pitchFamily="18" charset="0"/>
            </a:endParaRPr>
          </a:p>
        </p:txBody>
      </p:sp>
      <p:sp>
        <p:nvSpPr>
          <p:cNvPr id="8" name="Text 6"/>
          <p:cNvSpPr txBox="1"/>
          <p:nvPr/>
        </p:nvSpPr>
        <p:spPr>
          <a:xfrm>
            <a:off x="557971" y="1971929"/>
            <a:ext cx="1420119" cy="475796"/>
          </a:xfrm>
          <a:prstGeom prst="rect">
            <a:avLst/>
          </a:prstGeom>
          <a:noFill/>
          <a:ln/>
        </p:spPr>
        <p:txBody>
          <a:bodyPr wrap="square" lIns="0" tIns="0" rIns="0" bIns="0" rtlCol="0" anchor="t"/>
          <a:lstStyle/>
          <a:p>
            <a:pPr marL="0" indent="0" algn="ctr">
              <a:buNone/>
            </a:pPr>
            <a:r>
              <a:rPr lang="vi-VN" sz="1500" dirty="0">
                <a:latin typeface="Times New Roman" panose="02020603050405020304" pitchFamily="18" charset="0"/>
                <a:ea typeface="Calibri" pitchFamily="34" charset="-122"/>
                <a:cs typeface="Times New Roman" panose="02020603050405020304" pitchFamily="18" charset="0"/>
              </a:rPr>
              <a:t>D</a:t>
            </a:r>
            <a:r>
              <a:rPr lang="en-US" sz="1500" dirty="0" err="1">
                <a:latin typeface="Times New Roman" panose="02020603050405020304" pitchFamily="18" charset="0"/>
                <a:ea typeface="Calibri" pitchFamily="34" charset="-122"/>
                <a:cs typeface="Times New Roman" panose="02020603050405020304" pitchFamily="18" charset="0"/>
              </a:rPr>
              <a:t>òng</a:t>
            </a:r>
            <a:r>
              <a:rPr lang="en-US" sz="1500" dirty="0">
                <a:latin typeface="Times New Roman" panose="02020603050405020304" pitchFamily="18" charset="0"/>
                <a:ea typeface="Calibri" pitchFamily="34" charset="-122"/>
                <a:cs typeface="Times New Roman" panose="02020603050405020304" pitchFamily="18" charset="0"/>
              </a:rPr>
              <a:t> </a:t>
            </a:r>
            <a:r>
              <a:rPr lang="en-US" sz="1500" dirty="0" err="1">
                <a:latin typeface="Times New Roman" panose="02020603050405020304" pitchFamily="18" charset="0"/>
                <a:ea typeface="Calibri" pitchFamily="34" charset="-122"/>
                <a:cs typeface="Times New Roman" panose="02020603050405020304" pitchFamily="18" charset="0"/>
              </a:rPr>
              <a:t>giao</a:t>
            </a:r>
            <a:r>
              <a:rPr lang="en-US" sz="1500" dirty="0">
                <a:latin typeface="Times New Roman" panose="02020603050405020304" pitchFamily="18" charset="0"/>
                <a:ea typeface="Calibri" pitchFamily="34" charset="-122"/>
                <a:cs typeface="Times New Roman" panose="02020603050405020304" pitchFamily="18" charset="0"/>
              </a:rPr>
              <a:t> </a:t>
            </a:r>
            <a:r>
              <a:rPr lang="en-US" sz="1500" dirty="0" err="1">
                <a:latin typeface="Times New Roman" panose="02020603050405020304" pitchFamily="18" charset="0"/>
                <a:ea typeface="Calibri" pitchFamily="34" charset="-122"/>
                <a:cs typeface="Times New Roman" panose="02020603050405020304" pitchFamily="18" charset="0"/>
              </a:rPr>
              <a:t>dịch</a:t>
            </a:r>
            <a:endParaRPr lang="en-US" sz="1500" dirty="0">
              <a:latin typeface="Times New Roman" panose="02020603050405020304" pitchFamily="18" charset="0"/>
              <a:cs typeface="Times New Roman" panose="02020603050405020304" pitchFamily="18" charset="0"/>
            </a:endParaRPr>
          </a:p>
        </p:txBody>
      </p:sp>
      <p:sp>
        <p:nvSpPr>
          <p:cNvPr id="21" name="Shape 19"/>
          <p:cNvSpPr/>
          <p:nvPr/>
        </p:nvSpPr>
        <p:spPr>
          <a:xfrm>
            <a:off x="6344815" y="2908353"/>
            <a:ext cx="5437869" cy="3246120"/>
          </a:xfrm>
          <a:prstGeom prst="roundRect">
            <a:avLst>
              <a:gd name="adj" fmla="val 2254"/>
            </a:avLst>
          </a:prstGeom>
          <a:solidFill>
            <a:srgbClr val="F4F6FA"/>
          </a:solidFill>
          <a:ln w="12700">
            <a:solidFill>
              <a:srgbClr val="F4F6FA"/>
            </a:solidFill>
            <a:prstDash val="solid"/>
          </a:ln>
        </p:spPr>
      </p:sp>
      <p:sp>
        <p:nvSpPr>
          <p:cNvPr id="22" name="Text 20"/>
          <p:cNvSpPr txBox="1"/>
          <p:nvPr/>
        </p:nvSpPr>
        <p:spPr>
          <a:xfrm>
            <a:off x="6610852" y="3027225"/>
            <a:ext cx="4882984" cy="365760"/>
          </a:xfrm>
          <a:prstGeom prst="rect">
            <a:avLst/>
          </a:prstGeom>
          <a:noFill/>
          <a:ln/>
        </p:spPr>
        <p:txBody>
          <a:bodyPr wrap="square" lIns="0" tIns="0" rIns="0" bIns="0" rtlCol="0" anchor="ctr"/>
          <a:lstStyle/>
          <a:p>
            <a:pPr marL="0" indent="0">
              <a:buNone/>
            </a:pPr>
            <a:r>
              <a:rPr lang="en-US" sz="1800" b="1" dirty="0">
                <a:solidFill>
                  <a:srgbClr val="14213D"/>
                </a:solidFill>
                <a:latin typeface="Times New Roman" panose="02020603050405020304" pitchFamily="18" charset="0"/>
                <a:ea typeface="Cambria" pitchFamily="34" charset="-122"/>
                <a:cs typeface="Times New Roman" panose="02020603050405020304" pitchFamily="18" charset="0"/>
              </a:rPr>
              <a:t>Phạm vi </a:t>
            </a:r>
            <a:r>
              <a:rPr lang="vi-VN" sz="1800" b="1" dirty="0">
                <a:solidFill>
                  <a:srgbClr val="14213D"/>
                </a:solidFill>
                <a:latin typeface="Times New Roman" panose="02020603050405020304" pitchFamily="18" charset="0"/>
                <a:ea typeface="Cambria" pitchFamily="34" charset="-122"/>
                <a:cs typeface="Times New Roman" panose="02020603050405020304" pitchFamily="18" charset="0"/>
              </a:rPr>
              <a:t>và</a:t>
            </a:r>
            <a:r>
              <a:rPr lang="en-US" sz="1800" b="1" dirty="0">
                <a:solidFill>
                  <a:srgbClr val="14213D"/>
                </a:solidFill>
                <a:latin typeface="Times New Roman" panose="02020603050405020304" pitchFamily="18" charset="0"/>
                <a:ea typeface="Cambria" pitchFamily="34" charset="-122"/>
                <a:cs typeface="Times New Roman" panose="02020603050405020304" pitchFamily="18" charset="0"/>
              </a:rPr>
              <a:t> </a:t>
            </a: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k</a:t>
            </a:r>
            <a:r>
              <a:rPr lang="en-US" sz="1800" b="1" dirty="0" err="1">
                <a:solidFill>
                  <a:srgbClr val="14213D"/>
                </a:solidFill>
                <a:latin typeface="Times New Roman" panose="02020603050405020304" pitchFamily="18" charset="0"/>
                <a:ea typeface="Cambria" pitchFamily="34" charset="-122"/>
                <a:cs typeface="Times New Roman" panose="02020603050405020304" pitchFamily="18" charset="0"/>
              </a:rPr>
              <a:t>hả</a:t>
            </a:r>
            <a:r>
              <a:rPr lang="en-US" sz="1800" b="1" dirty="0">
                <a:solidFill>
                  <a:srgbClr val="14213D"/>
                </a:solidFill>
                <a:latin typeface="Times New Roman" panose="02020603050405020304" pitchFamily="18" charset="0"/>
                <a:ea typeface="Cambria" pitchFamily="34" charset="-122"/>
                <a:cs typeface="Times New Roman" panose="02020603050405020304" pitchFamily="18" charset="0"/>
              </a:rPr>
              <a:t> thi</a:t>
            </a:r>
            <a:endParaRPr lang="en-US" sz="1800" dirty="0">
              <a:latin typeface="Times New Roman" panose="02020603050405020304" pitchFamily="18" charset="0"/>
              <a:cs typeface="Times New Roman" panose="02020603050405020304" pitchFamily="18" charset="0"/>
            </a:endParaRPr>
          </a:p>
        </p:txBody>
      </p:sp>
      <p:sp>
        <p:nvSpPr>
          <p:cNvPr id="23" name="Text 21"/>
          <p:cNvSpPr txBox="1"/>
          <p:nvPr/>
        </p:nvSpPr>
        <p:spPr>
          <a:xfrm>
            <a:off x="6610852" y="3456993"/>
            <a:ext cx="4882984" cy="2651760"/>
          </a:xfrm>
          <a:prstGeom prst="rect">
            <a:avLst/>
          </a:prstGeom>
          <a:noFill/>
          <a:ln/>
        </p:spPr>
        <p:txBody>
          <a:bodyPr wrap="square" lIns="0" tIns="0" rIns="0" bIns="0" rtlCol="0" anchor="t"/>
          <a:lstStyle/>
          <a:p>
            <a:pPr marL="203200" indent="-203200">
              <a:spcAft>
                <a:spcPts val="1200"/>
              </a:spcAft>
              <a:buSzPct val="100000"/>
              <a:buChar char="•"/>
            </a:pPr>
            <a:r>
              <a:rPr lang="vi-VN" sz="1500" b="1" dirty="0">
                <a:solidFill>
                  <a:srgbClr val="1F2937"/>
                </a:solidFill>
                <a:latin typeface="Times New Roman" panose="02020603050405020304" pitchFamily="18" charset="0"/>
                <a:ea typeface="Calibri" pitchFamily="34" charset="-122"/>
                <a:cs typeface="Times New Roman" panose="02020603050405020304" pitchFamily="18" charset="0"/>
              </a:rPr>
              <a:t>File gốc gồm 2 Sheet Excel: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Year 2009-2010 và Year 2010-2011 → gộp thành 1 DataFrame.</a:t>
            </a:r>
          </a:p>
          <a:p>
            <a:pPr marL="203200" indent="-203200">
              <a:spcAft>
                <a:spcPts val="1200"/>
              </a:spcAft>
              <a:buSzPct val="100000"/>
              <a:buChar char="•"/>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Trong phạm vi: </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P</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ipeline</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MBA · RFM · Churn trên cùng một nguồn dữ liệu sạch.</a:t>
            </a:r>
            <a:endParaRPr lang="en-US" sz="1500" dirty="0">
              <a:latin typeface="Times New Roman" panose="02020603050405020304" pitchFamily="18" charset="0"/>
              <a:cs typeface="Times New Roman" panose="02020603050405020304" pitchFamily="18" charset="0"/>
            </a:endParaRPr>
          </a:p>
          <a:p>
            <a:pPr marL="203200" indent="-203200">
              <a:spcAft>
                <a:spcPts val="1200"/>
              </a:spcAft>
              <a:buSzPct val="100000"/>
              <a:buChar char="•"/>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Ngoài phạm vi: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D</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ự báo doanh thu, hệ gợi ý cá nhân hoá theo thời gian thực.</a:t>
            </a:r>
            <a:endParaRPr lang="en-US" sz="1500" dirty="0">
              <a:latin typeface="Times New Roman" panose="02020603050405020304" pitchFamily="18" charset="0"/>
              <a:cs typeface="Times New Roman" panose="02020603050405020304" pitchFamily="18" charset="0"/>
            </a:endParaRPr>
          </a:p>
          <a:p>
            <a:pPr marL="203200" indent="-203200">
              <a:spcAft>
                <a:spcPts val="1200"/>
              </a:spcAft>
              <a:buSzPct val="100000"/>
              <a:buChar char="•"/>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Khả thi: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D</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ữ liệu đã sẵn có, công cụ Python (pandas, scikit-learn, mlxtend, imbalanced-learn); toàn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bộ</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P</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ipeline</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đã chạy end-to-end.</a:t>
            </a:r>
            <a:endParaRPr lang="en-US" sz="1500" dirty="0">
              <a:latin typeface="Times New Roman" panose="02020603050405020304" pitchFamily="18" charset="0"/>
              <a:cs typeface="Times New Roman" panose="02020603050405020304" pitchFamily="18" charset="0"/>
            </a:endParaRPr>
          </a:p>
        </p:txBody>
      </p:sp>
      <p:sp>
        <p:nvSpPr>
          <p:cNvPr id="25" name="Text 0">
            <a:extLst>
              <a:ext uri="{FF2B5EF4-FFF2-40B4-BE49-F238E27FC236}">
                <a16:creationId xmlns:a16="http://schemas.microsoft.com/office/drawing/2014/main" id="{EDB5B2B5-63E7-A388-5D15-B9FEAA215D4D}"/>
              </a:ext>
            </a:extLst>
          </p:cNvPr>
          <p:cNvSpPr txBox="1"/>
          <p:nvPr/>
        </p:nvSpPr>
        <p:spPr>
          <a:xfrm>
            <a:off x="548640" y="48512"/>
            <a:ext cx="10515600" cy="660610"/>
          </a:xfrm>
          <a:prstGeom prst="rect">
            <a:avLst/>
          </a:prstGeom>
          <a:noFill/>
          <a:ln/>
        </p:spPr>
        <p:txBody>
          <a:bodyPr wrap="square" lIns="0" tIns="0" rIns="0" bIns="0" rtlCol="0" anchor="ctr"/>
          <a:lstStyle/>
          <a:p>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 Understanding — Tổng </a:t>
            </a:r>
            <a:r>
              <a:rPr lang="en-US" sz="3000" b="1" dirty="0" err="1">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quan</a:t>
            </a:r>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Dataset:</a:t>
            </a:r>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Online Retail II</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7" name="Text 1">
            <a:extLst>
              <a:ext uri="{FF2B5EF4-FFF2-40B4-BE49-F238E27FC236}">
                <a16:creationId xmlns:a16="http://schemas.microsoft.com/office/drawing/2014/main" id="{B11CC9EB-550B-7078-23FD-0A86929BF03C}"/>
              </a:ext>
            </a:extLst>
          </p:cNvPr>
          <p:cNvSpPr txBox="1"/>
          <p:nvPr/>
        </p:nvSpPr>
        <p:spPr>
          <a:xfrm>
            <a:off x="567302" y="688602"/>
            <a:ext cx="11091672" cy="365760"/>
          </a:xfrm>
          <a:prstGeom prst="rect">
            <a:avLst/>
          </a:prstGeom>
          <a:noFill/>
          <a:ln/>
        </p:spPr>
        <p:txBody>
          <a:bodyPr wrap="square" lIns="0" tIns="0" rIns="0" bIns="0" rtlCol="0" anchor="t"/>
          <a:lstStyle/>
          <a:p>
            <a:r>
              <a:rPr lang="en-US" i="1" dirty="0">
                <a:latin typeface="Times New Roman" pitchFamily="34" charset="0"/>
                <a:ea typeface="Times New Roman" pitchFamily="34" charset="-122"/>
                <a:cs typeface="Times New Roman" pitchFamily="34" charset="-120"/>
              </a:rPr>
              <a:t>UCI Machine Learning Repository · </a:t>
            </a:r>
            <a:r>
              <a:rPr lang="vi-VN" i="1" dirty="0">
                <a:latin typeface="Times New Roman" pitchFamily="34" charset="0"/>
                <a:ea typeface="Times New Roman" pitchFamily="34" charset="-122"/>
                <a:cs typeface="Times New Roman" pitchFamily="34" charset="-120"/>
              </a:rPr>
              <a:t>D</a:t>
            </a:r>
            <a:r>
              <a:rPr lang="en-US" i="1" dirty="0">
                <a:latin typeface="Times New Roman" pitchFamily="34" charset="0"/>
                <a:ea typeface="Times New Roman" pitchFamily="34" charset="-122"/>
                <a:cs typeface="Times New Roman" pitchFamily="34" charset="-120"/>
              </a:rPr>
              <a:t>ữ liệu thật, không phải dữ liệu </a:t>
            </a:r>
            <a:r>
              <a:rPr lang="en-US" i="1" dirty="0" err="1">
                <a:latin typeface="Times New Roman" pitchFamily="34" charset="0"/>
                <a:ea typeface="Times New Roman" pitchFamily="34" charset="-122"/>
                <a:cs typeface="Times New Roman" pitchFamily="34" charset="-120"/>
              </a:rPr>
              <a:t>mô</a:t>
            </a:r>
            <a:r>
              <a:rPr lang="en-US" i="1" dirty="0">
                <a:latin typeface="Times New Roman" pitchFamily="34" charset="0"/>
                <a:ea typeface="Times New Roman" pitchFamily="34" charset="-122"/>
                <a:cs typeface="Times New Roman" pitchFamily="34" charset="-120"/>
              </a:rPr>
              <a:t> </a:t>
            </a:r>
            <a:r>
              <a:rPr lang="en-US" i="1" dirty="0" err="1">
                <a:latin typeface="Times New Roman" pitchFamily="34" charset="0"/>
                <a:ea typeface="Times New Roman" pitchFamily="34" charset="-122"/>
                <a:cs typeface="Times New Roman" pitchFamily="34" charset="-120"/>
              </a:rPr>
              <a:t>phỏng</a:t>
            </a:r>
            <a:r>
              <a:rPr lang="vi-VN" i="1" dirty="0">
                <a:latin typeface="Times New Roman" pitchFamily="34" charset="0"/>
                <a:ea typeface="Times New Roman" pitchFamily="34" charset="-122"/>
                <a:cs typeface="Times New Roman" pitchFamily="34" charset="-120"/>
              </a:rPr>
              <a:t> </a:t>
            </a:r>
            <a:r>
              <a:rPr lang="en-US" i="1" dirty="0">
                <a:latin typeface="Times New Roman" pitchFamily="34" charset="0"/>
                <a:ea typeface="Times New Roman" pitchFamily="34" charset="-122"/>
                <a:cs typeface="Times New Roman" pitchFamily="34" charset="-120"/>
              </a:rPr>
              <a:t>·</a:t>
            </a:r>
            <a:r>
              <a:rPr lang="vi-VN" i="1" dirty="0">
                <a:latin typeface="Times New Roman" pitchFamily="34" charset="0"/>
                <a:ea typeface="Times New Roman" pitchFamily="34" charset="-122"/>
                <a:cs typeface="Times New Roman" pitchFamily="34" charset="-120"/>
              </a:rPr>
              <a:t> Đọc và gộp 2 Sheel Excel gốc</a:t>
            </a:r>
            <a:endParaRPr lang="en-US" dirty="0"/>
          </a:p>
        </p:txBody>
      </p:sp>
      <p:sp>
        <p:nvSpPr>
          <p:cNvPr id="37" name="Shape 4">
            <a:extLst>
              <a:ext uri="{FF2B5EF4-FFF2-40B4-BE49-F238E27FC236}">
                <a16:creationId xmlns:a16="http://schemas.microsoft.com/office/drawing/2014/main" id="{FB41AF8A-4868-DD9E-6B99-D70917EBA4EB}"/>
              </a:ext>
            </a:extLst>
          </p:cNvPr>
          <p:cNvSpPr/>
          <p:nvPr/>
        </p:nvSpPr>
        <p:spPr>
          <a:xfrm>
            <a:off x="2130490" y="1264669"/>
            <a:ext cx="1429450" cy="1167564"/>
          </a:xfrm>
          <a:prstGeom prst="roundRect">
            <a:avLst>
              <a:gd name="adj" fmla="val 5333"/>
            </a:avLst>
          </a:prstGeom>
          <a:solidFill>
            <a:srgbClr val="F4F6FA"/>
          </a:solidFill>
          <a:ln w="12700">
            <a:solidFill>
              <a:srgbClr val="F4F6FA"/>
            </a:solidFill>
            <a:prstDash val="solid"/>
          </a:ln>
        </p:spPr>
      </p:sp>
      <p:sp>
        <p:nvSpPr>
          <p:cNvPr id="39" name="Text 5">
            <a:extLst>
              <a:ext uri="{FF2B5EF4-FFF2-40B4-BE49-F238E27FC236}">
                <a16:creationId xmlns:a16="http://schemas.microsoft.com/office/drawing/2014/main" id="{B5FE3313-3B6F-4545-DADE-E4BCC3F8B45E}"/>
              </a:ext>
            </a:extLst>
          </p:cNvPr>
          <p:cNvSpPr txBox="1"/>
          <p:nvPr/>
        </p:nvSpPr>
        <p:spPr>
          <a:xfrm>
            <a:off x="2130490" y="1290417"/>
            <a:ext cx="1429450" cy="672181"/>
          </a:xfrm>
          <a:prstGeom prst="rect">
            <a:avLst/>
          </a:prstGeom>
          <a:noFill/>
          <a:ln/>
        </p:spPr>
        <p:txBody>
          <a:bodyPr wrap="square" lIns="0" tIns="0" rIns="0" bIns="0" rtlCol="0" anchor="ctr"/>
          <a:lstStyle/>
          <a:p>
            <a:pPr marL="0" indent="0" algn="ctr">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738</a:t>
            </a:r>
            <a:endParaRPr lang="en-US" dirty="0">
              <a:latin typeface="Times New Roman" panose="02020603050405020304" pitchFamily="18" charset="0"/>
              <a:cs typeface="Times New Roman" panose="02020603050405020304" pitchFamily="18" charset="0"/>
            </a:endParaRPr>
          </a:p>
        </p:txBody>
      </p:sp>
      <p:sp>
        <p:nvSpPr>
          <p:cNvPr id="35" name="Text 7">
            <a:extLst>
              <a:ext uri="{FF2B5EF4-FFF2-40B4-BE49-F238E27FC236}">
                <a16:creationId xmlns:a16="http://schemas.microsoft.com/office/drawing/2014/main" id="{D7170A82-791A-B025-050A-0D0FF9FAEA0E}"/>
              </a:ext>
            </a:extLst>
          </p:cNvPr>
          <p:cNvSpPr txBox="1"/>
          <p:nvPr/>
        </p:nvSpPr>
        <p:spPr>
          <a:xfrm>
            <a:off x="2130491" y="1968759"/>
            <a:ext cx="1429450" cy="469635"/>
          </a:xfrm>
          <a:prstGeom prst="rect">
            <a:avLst/>
          </a:prstGeom>
          <a:noFill/>
          <a:ln/>
        </p:spPr>
        <p:txBody>
          <a:bodyPr wrap="square" lIns="0" tIns="0" rIns="0" bIns="0" rtlCol="0" anchor="t"/>
          <a:lstStyle/>
          <a:p>
            <a:pPr marL="0" indent="0" algn="ctr">
              <a:buNone/>
            </a:pPr>
            <a:r>
              <a:rPr lang="en-US" sz="1500" dirty="0">
                <a:latin typeface="Times New Roman" panose="02020603050405020304" pitchFamily="18" charset="0"/>
                <a:ea typeface="Calibri" pitchFamily="34" charset="-122"/>
                <a:cs typeface="Times New Roman" panose="02020603050405020304" pitchFamily="18" charset="0"/>
              </a:rPr>
              <a:t>01/12/2009</a:t>
            </a:r>
            <a:r>
              <a:rPr lang="vi-VN" sz="1500" dirty="0">
                <a:latin typeface="Times New Roman" panose="02020603050405020304" pitchFamily="18" charset="0"/>
                <a:ea typeface="Calibri" pitchFamily="34" charset="-122"/>
                <a:cs typeface="Times New Roman" panose="02020603050405020304" pitchFamily="18" charset="0"/>
              </a:rPr>
              <a:t> </a:t>
            </a:r>
            <a:r>
              <a:rPr lang="en-US" sz="1500" dirty="0">
                <a:latin typeface="Times New Roman" panose="02020603050405020304" pitchFamily="18" charset="0"/>
                <a:ea typeface="Calibri" pitchFamily="34" charset="-122"/>
                <a:cs typeface="Times New Roman" panose="02020603050405020304" pitchFamily="18" charset="0"/>
              </a:rPr>
              <a:t>–</a:t>
            </a:r>
            <a:r>
              <a:rPr lang="vi-VN" sz="1500" dirty="0">
                <a:latin typeface="Times New Roman" panose="02020603050405020304" pitchFamily="18" charset="0"/>
                <a:ea typeface="Calibri" pitchFamily="34" charset="-122"/>
                <a:cs typeface="Times New Roman" panose="02020603050405020304" pitchFamily="18" charset="0"/>
              </a:rPr>
              <a:t> </a:t>
            </a:r>
            <a:r>
              <a:rPr lang="en-US" sz="1500" dirty="0">
                <a:latin typeface="Times New Roman" panose="02020603050405020304" pitchFamily="18" charset="0"/>
                <a:ea typeface="Calibri" pitchFamily="34" charset="-122"/>
                <a:cs typeface="Times New Roman" panose="02020603050405020304" pitchFamily="18" charset="0"/>
              </a:rPr>
              <a:t>09/12/2011</a:t>
            </a:r>
            <a:endParaRPr lang="en-US" sz="1500" dirty="0">
              <a:latin typeface="Times New Roman" panose="02020603050405020304" pitchFamily="18" charset="0"/>
              <a:cs typeface="Times New Roman" panose="02020603050405020304" pitchFamily="18" charset="0"/>
            </a:endParaRPr>
          </a:p>
        </p:txBody>
      </p:sp>
      <p:sp>
        <p:nvSpPr>
          <p:cNvPr id="43" name="Shape 4">
            <a:extLst>
              <a:ext uri="{FF2B5EF4-FFF2-40B4-BE49-F238E27FC236}">
                <a16:creationId xmlns:a16="http://schemas.microsoft.com/office/drawing/2014/main" id="{9CB471EE-9726-200B-DB7C-09CE90237880}"/>
              </a:ext>
            </a:extLst>
          </p:cNvPr>
          <p:cNvSpPr/>
          <p:nvPr/>
        </p:nvSpPr>
        <p:spPr>
          <a:xfrm>
            <a:off x="3712340" y="1269646"/>
            <a:ext cx="1429450" cy="1167564"/>
          </a:xfrm>
          <a:prstGeom prst="roundRect">
            <a:avLst>
              <a:gd name="adj" fmla="val 5333"/>
            </a:avLst>
          </a:prstGeom>
          <a:solidFill>
            <a:srgbClr val="F4F6FA"/>
          </a:solidFill>
          <a:ln w="12700">
            <a:solidFill>
              <a:srgbClr val="F4F6FA"/>
            </a:solidFill>
            <a:prstDash val="solid"/>
          </a:ln>
        </p:spPr>
      </p:sp>
      <p:sp>
        <p:nvSpPr>
          <p:cNvPr id="45" name="Text 5">
            <a:extLst>
              <a:ext uri="{FF2B5EF4-FFF2-40B4-BE49-F238E27FC236}">
                <a16:creationId xmlns:a16="http://schemas.microsoft.com/office/drawing/2014/main" id="{FD49583A-9E39-D23D-185F-4D01731B7BB6}"/>
              </a:ext>
            </a:extLst>
          </p:cNvPr>
          <p:cNvSpPr txBox="1"/>
          <p:nvPr/>
        </p:nvSpPr>
        <p:spPr>
          <a:xfrm>
            <a:off x="3712340" y="1295394"/>
            <a:ext cx="1429450" cy="672181"/>
          </a:xfrm>
          <a:prstGeom prst="rect">
            <a:avLst/>
          </a:prstGeom>
          <a:noFill/>
          <a:ln/>
        </p:spPr>
        <p:txBody>
          <a:bodyPr wrap="square" lIns="0" tIns="0" rIns="0" bIns="0" rtlCol="0" anchor="ctr"/>
          <a:lstStyle/>
          <a:p>
            <a:pPr marL="0" indent="0" algn="ctr">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5,942</a:t>
            </a:r>
            <a:endParaRPr lang="en-US" dirty="0">
              <a:latin typeface="Times New Roman" panose="02020603050405020304" pitchFamily="18" charset="0"/>
              <a:cs typeface="Times New Roman" panose="02020603050405020304" pitchFamily="18" charset="0"/>
            </a:endParaRPr>
          </a:p>
        </p:txBody>
      </p:sp>
      <p:sp>
        <p:nvSpPr>
          <p:cNvPr id="47" name="Text 7">
            <a:extLst>
              <a:ext uri="{FF2B5EF4-FFF2-40B4-BE49-F238E27FC236}">
                <a16:creationId xmlns:a16="http://schemas.microsoft.com/office/drawing/2014/main" id="{1F1C5D0A-9BA8-D6BC-0C8E-3F62481C0EA8}"/>
              </a:ext>
            </a:extLst>
          </p:cNvPr>
          <p:cNvSpPr txBox="1"/>
          <p:nvPr/>
        </p:nvSpPr>
        <p:spPr>
          <a:xfrm>
            <a:off x="3712341" y="1973736"/>
            <a:ext cx="1429450" cy="469635"/>
          </a:xfrm>
          <a:prstGeom prst="rect">
            <a:avLst/>
          </a:prstGeom>
          <a:noFill/>
          <a:ln/>
        </p:spPr>
        <p:txBody>
          <a:bodyPr wrap="square" lIns="0" tIns="0" rIns="0" bIns="0" rtlCol="0" anchor="t"/>
          <a:lstStyle/>
          <a:p>
            <a:pPr algn="ctr"/>
            <a:r>
              <a:rPr lang="en-US" sz="1500" dirty="0">
                <a:latin typeface="Times New Roman" panose="02020603050405020304" pitchFamily="18" charset="0"/>
                <a:ea typeface="Calibri" pitchFamily="34" charset="-122"/>
                <a:cs typeface="Times New Roman" panose="02020603050405020304" pitchFamily="18" charset="0"/>
              </a:rPr>
              <a:t>Customer ID</a:t>
            </a:r>
            <a:r>
              <a:rPr lang="vi-VN" sz="1500" dirty="0">
                <a:latin typeface="Times New Roman" panose="02020603050405020304" pitchFamily="18" charset="0"/>
                <a:ea typeface="Calibri" pitchFamily="34" charset="-122"/>
                <a:cs typeface="Times New Roman" panose="02020603050405020304" pitchFamily="18" charset="0"/>
              </a:rPr>
              <a:t> duy nhất</a:t>
            </a:r>
            <a:endParaRPr lang="en-US" sz="1500" dirty="0">
              <a:latin typeface="Times New Roman" panose="02020603050405020304" pitchFamily="18" charset="0"/>
              <a:cs typeface="Times New Roman" panose="02020603050405020304" pitchFamily="18" charset="0"/>
            </a:endParaRPr>
          </a:p>
        </p:txBody>
      </p:sp>
      <p:sp>
        <p:nvSpPr>
          <p:cNvPr id="49" name="Text 2">
            <a:extLst>
              <a:ext uri="{FF2B5EF4-FFF2-40B4-BE49-F238E27FC236}">
                <a16:creationId xmlns:a16="http://schemas.microsoft.com/office/drawing/2014/main" id="{599E2192-6720-BF5A-DD33-4849E04BB988}"/>
              </a:ext>
            </a:extLst>
          </p:cNvPr>
          <p:cNvSpPr txBox="1"/>
          <p:nvPr/>
        </p:nvSpPr>
        <p:spPr>
          <a:xfrm>
            <a:off x="548640"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
        <p:nvSpPr>
          <p:cNvPr id="51" name="Shape 4">
            <a:extLst>
              <a:ext uri="{FF2B5EF4-FFF2-40B4-BE49-F238E27FC236}">
                <a16:creationId xmlns:a16="http://schemas.microsoft.com/office/drawing/2014/main" id="{A1231B5C-37C8-7BFD-F60F-8BAC10233C98}"/>
              </a:ext>
            </a:extLst>
          </p:cNvPr>
          <p:cNvSpPr/>
          <p:nvPr/>
        </p:nvSpPr>
        <p:spPr>
          <a:xfrm>
            <a:off x="5294190" y="1280963"/>
            <a:ext cx="1507825" cy="1167564"/>
          </a:xfrm>
          <a:prstGeom prst="roundRect">
            <a:avLst>
              <a:gd name="adj" fmla="val 5333"/>
            </a:avLst>
          </a:prstGeom>
          <a:solidFill>
            <a:srgbClr val="F4F6FA"/>
          </a:solidFill>
          <a:ln w="12700">
            <a:solidFill>
              <a:srgbClr val="F4F6FA"/>
            </a:solidFill>
            <a:prstDash val="solid"/>
          </a:ln>
        </p:spPr>
      </p:sp>
      <p:sp>
        <p:nvSpPr>
          <p:cNvPr id="53" name="Text 5">
            <a:extLst>
              <a:ext uri="{FF2B5EF4-FFF2-40B4-BE49-F238E27FC236}">
                <a16:creationId xmlns:a16="http://schemas.microsoft.com/office/drawing/2014/main" id="{2E4D0BE9-E257-43A5-866B-24A5EC606774}"/>
              </a:ext>
            </a:extLst>
          </p:cNvPr>
          <p:cNvSpPr txBox="1"/>
          <p:nvPr/>
        </p:nvSpPr>
        <p:spPr>
          <a:xfrm>
            <a:off x="5294191" y="1306711"/>
            <a:ext cx="1507824" cy="672181"/>
          </a:xfrm>
          <a:prstGeom prst="rect">
            <a:avLst/>
          </a:prstGeom>
          <a:noFill/>
          <a:ln/>
        </p:spPr>
        <p:txBody>
          <a:bodyPr wrap="square" lIns="0" tIns="0" rIns="0" bIns="0" rtlCol="0" anchor="ctr"/>
          <a:lstStyle/>
          <a:p>
            <a:pPr marL="0" indent="0" algn="ctr">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53,628</a:t>
            </a:r>
            <a:endParaRPr lang="en-US" dirty="0">
              <a:latin typeface="Times New Roman" panose="02020603050405020304" pitchFamily="18" charset="0"/>
              <a:cs typeface="Times New Roman" panose="02020603050405020304" pitchFamily="18" charset="0"/>
            </a:endParaRPr>
          </a:p>
        </p:txBody>
      </p:sp>
      <p:sp>
        <p:nvSpPr>
          <p:cNvPr id="55" name="Text 7">
            <a:extLst>
              <a:ext uri="{FF2B5EF4-FFF2-40B4-BE49-F238E27FC236}">
                <a16:creationId xmlns:a16="http://schemas.microsoft.com/office/drawing/2014/main" id="{F2764276-0B98-DB98-EAD3-1CD75FCF408B}"/>
              </a:ext>
            </a:extLst>
          </p:cNvPr>
          <p:cNvSpPr txBox="1"/>
          <p:nvPr/>
        </p:nvSpPr>
        <p:spPr>
          <a:xfrm>
            <a:off x="5294191" y="1985053"/>
            <a:ext cx="1507823" cy="469635"/>
          </a:xfrm>
          <a:prstGeom prst="rect">
            <a:avLst/>
          </a:prstGeom>
          <a:noFill/>
          <a:ln/>
        </p:spPr>
        <p:txBody>
          <a:bodyPr wrap="square" lIns="0" tIns="0" rIns="0" bIns="0" rtlCol="0" anchor="t"/>
          <a:lstStyle/>
          <a:p>
            <a:pPr algn="ctr"/>
            <a:r>
              <a:rPr lang="vi-VN" sz="1500" dirty="0">
                <a:latin typeface="Times New Roman" panose="02020603050405020304" pitchFamily="18" charset="0"/>
                <a:ea typeface="Calibri" pitchFamily="34" charset="-122"/>
                <a:cs typeface="Times New Roman" panose="02020603050405020304" pitchFamily="18" charset="0"/>
              </a:rPr>
              <a:t>Hóa đơn (Invoice)</a:t>
            </a:r>
            <a:endParaRPr lang="en-US" sz="1500" dirty="0">
              <a:latin typeface="Times New Roman" panose="02020603050405020304" pitchFamily="18" charset="0"/>
              <a:cs typeface="Times New Roman" panose="02020603050405020304" pitchFamily="18" charset="0"/>
            </a:endParaRPr>
          </a:p>
        </p:txBody>
      </p:sp>
      <p:sp>
        <p:nvSpPr>
          <p:cNvPr id="57" name="Shape 4">
            <a:extLst>
              <a:ext uri="{FF2B5EF4-FFF2-40B4-BE49-F238E27FC236}">
                <a16:creationId xmlns:a16="http://schemas.microsoft.com/office/drawing/2014/main" id="{CAB3C7F1-C53D-FB98-F0AD-D77336CC9923}"/>
              </a:ext>
            </a:extLst>
          </p:cNvPr>
          <p:cNvSpPr/>
          <p:nvPr/>
        </p:nvSpPr>
        <p:spPr>
          <a:xfrm>
            <a:off x="6954413" y="1265960"/>
            <a:ext cx="1507825" cy="1167564"/>
          </a:xfrm>
          <a:prstGeom prst="roundRect">
            <a:avLst>
              <a:gd name="adj" fmla="val 5333"/>
            </a:avLst>
          </a:prstGeom>
          <a:solidFill>
            <a:srgbClr val="F4F6FA"/>
          </a:solidFill>
          <a:ln w="12700">
            <a:solidFill>
              <a:srgbClr val="F4F6FA"/>
            </a:solidFill>
            <a:prstDash val="solid"/>
          </a:ln>
        </p:spPr>
      </p:sp>
      <p:sp>
        <p:nvSpPr>
          <p:cNvPr id="59" name="Text 5">
            <a:extLst>
              <a:ext uri="{FF2B5EF4-FFF2-40B4-BE49-F238E27FC236}">
                <a16:creationId xmlns:a16="http://schemas.microsoft.com/office/drawing/2014/main" id="{F40C9F2D-6513-2A2D-B0C7-A7FBFB2129E2}"/>
              </a:ext>
            </a:extLst>
          </p:cNvPr>
          <p:cNvSpPr txBox="1"/>
          <p:nvPr/>
        </p:nvSpPr>
        <p:spPr>
          <a:xfrm>
            <a:off x="6954414" y="1291708"/>
            <a:ext cx="1507824" cy="672181"/>
          </a:xfrm>
          <a:prstGeom prst="rect">
            <a:avLst/>
          </a:prstGeom>
          <a:noFill/>
          <a:ln/>
        </p:spPr>
        <p:txBody>
          <a:bodyPr wrap="square" lIns="0" tIns="0" rIns="0" bIns="0" rtlCol="0" anchor="ctr"/>
          <a:lstStyle/>
          <a:p>
            <a:pPr marL="0" indent="0" algn="ctr">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5,305</a:t>
            </a:r>
            <a:endParaRPr lang="en-US" dirty="0">
              <a:latin typeface="Times New Roman" panose="02020603050405020304" pitchFamily="18" charset="0"/>
              <a:cs typeface="Times New Roman" panose="02020603050405020304" pitchFamily="18" charset="0"/>
            </a:endParaRPr>
          </a:p>
        </p:txBody>
      </p:sp>
      <p:sp>
        <p:nvSpPr>
          <p:cNvPr id="61" name="Text 7">
            <a:extLst>
              <a:ext uri="{FF2B5EF4-FFF2-40B4-BE49-F238E27FC236}">
                <a16:creationId xmlns:a16="http://schemas.microsoft.com/office/drawing/2014/main" id="{BBA9F31C-8132-372A-45D7-87B9CBEA2EA5}"/>
              </a:ext>
            </a:extLst>
          </p:cNvPr>
          <p:cNvSpPr txBox="1"/>
          <p:nvPr/>
        </p:nvSpPr>
        <p:spPr>
          <a:xfrm>
            <a:off x="6954414" y="1970050"/>
            <a:ext cx="1507823" cy="469635"/>
          </a:xfrm>
          <a:prstGeom prst="rect">
            <a:avLst/>
          </a:prstGeom>
          <a:noFill/>
          <a:ln/>
        </p:spPr>
        <p:txBody>
          <a:bodyPr wrap="square" lIns="0" tIns="0" rIns="0" bIns="0" rtlCol="0" anchor="t"/>
          <a:lstStyle/>
          <a:p>
            <a:pPr algn="ctr"/>
            <a:r>
              <a:rPr lang="vi-VN" sz="1500" dirty="0">
                <a:latin typeface="Times New Roman" panose="02020603050405020304" pitchFamily="18" charset="0"/>
                <a:ea typeface="Calibri" pitchFamily="34" charset="-122"/>
                <a:cs typeface="Times New Roman" panose="02020603050405020304" pitchFamily="18" charset="0"/>
              </a:rPr>
              <a:t>Sản phẩm khác nhau (StockCode)</a:t>
            </a:r>
            <a:endParaRPr lang="en-US" sz="1500" dirty="0">
              <a:latin typeface="Times New Roman" panose="02020603050405020304" pitchFamily="18" charset="0"/>
              <a:cs typeface="Times New Roman" panose="02020603050405020304" pitchFamily="18" charset="0"/>
            </a:endParaRPr>
          </a:p>
        </p:txBody>
      </p:sp>
      <p:sp>
        <p:nvSpPr>
          <p:cNvPr id="63" name="Shape 4">
            <a:extLst>
              <a:ext uri="{FF2B5EF4-FFF2-40B4-BE49-F238E27FC236}">
                <a16:creationId xmlns:a16="http://schemas.microsoft.com/office/drawing/2014/main" id="{68A06FB4-AE78-C58D-9201-BD577B650947}"/>
              </a:ext>
            </a:extLst>
          </p:cNvPr>
          <p:cNvSpPr/>
          <p:nvPr/>
        </p:nvSpPr>
        <p:spPr>
          <a:xfrm>
            <a:off x="8614636" y="1269619"/>
            <a:ext cx="1507825" cy="1167564"/>
          </a:xfrm>
          <a:prstGeom prst="roundRect">
            <a:avLst>
              <a:gd name="adj" fmla="val 5333"/>
            </a:avLst>
          </a:prstGeom>
          <a:solidFill>
            <a:srgbClr val="F4F6FA"/>
          </a:solidFill>
          <a:ln w="12700">
            <a:solidFill>
              <a:srgbClr val="F4F6FA"/>
            </a:solidFill>
            <a:prstDash val="solid"/>
          </a:ln>
        </p:spPr>
      </p:sp>
      <p:sp>
        <p:nvSpPr>
          <p:cNvPr id="65" name="Text 5">
            <a:extLst>
              <a:ext uri="{FF2B5EF4-FFF2-40B4-BE49-F238E27FC236}">
                <a16:creationId xmlns:a16="http://schemas.microsoft.com/office/drawing/2014/main" id="{3E8C063C-D3E8-7868-9A83-C4D6572502D5}"/>
              </a:ext>
            </a:extLst>
          </p:cNvPr>
          <p:cNvSpPr txBox="1"/>
          <p:nvPr/>
        </p:nvSpPr>
        <p:spPr>
          <a:xfrm>
            <a:off x="8614637" y="1295367"/>
            <a:ext cx="1507824" cy="672181"/>
          </a:xfrm>
          <a:prstGeom prst="rect">
            <a:avLst/>
          </a:prstGeom>
          <a:noFill/>
          <a:ln/>
        </p:spPr>
        <p:txBody>
          <a:bodyPr wrap="square" lIns="0" tIns="0" rIns="0" bIns="0" rtlCol="0" anchor="ctr"/>
          <a:lstStyle/>
          <a:p>
            <a:pPr marL="0" indent="0" algn="ctr">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43</a:t>
            </a:r>
            <a:endParaRPr lang="en-US" dirty="0">
              <a:latin typeface="Times New Roman" panose="02020603050405020304" pitchFamily="18" charset="0"/>
              <a:cs typeface="Times New Roman" panose="02020603050405020304" pitchFamily="18" charset="0"/>
            </a:endParaRPr>
          </a:p>
        </p:txBody>
      </p:sp>
      <p:sp>
        <p:nvSpPr>
          <p:cNvPr id="67" name="Text 7">
            <a:extLst>
              <a:ext uri="{FF2B5EF4-FFF2-40B4-BE49-F238E27FC236}">
                <a16:creationId xmlns:a16="http://schemas.microsoft.com/office/drawing/2014/main" id="{5DA60E70-CE73-8DE2-5EC6-D7148FCE7982}"/>
              </a:ext>
            </a:extLst>
          </p:cNvPr>
          <p:cNvSpPr txBox="1"/>
          <p:nvPr/>
        </p:nvSpPr>
        <p:spPr>
          <a:xfrm>
            <a:off x="8614637" y="1973709"/>
            <a:ext cx="1507823" cy="469635"/>
          </a:xfrm>
          <a:prstGeom prst="rect">
            <a:avLst/>
          </a:prstGeom>
          <a:noFill/>
          <a:ln/>
        </p:spPr>
        <p:txBody>
          <a:bodyPr wrap="square" lIns="0" tIns="0" rIns="0" bIns="0" rtlCol="0" anchor="t"/>
          <a:lstStyle/>
          <a:p>
            <a:pPr algn="ctr"/>
            <a:r>
              <a:rPr lang="vi-VN" sz="1500" dirty="0">
                <a:latin typeface="Times New Roman" panose="02020603050405020304" pitchFamily="18" charset="0"/>
                <a:ea typeface="Calibri" pitchFamily="34" charset="-122"/>
                <a:cs typeface="Times New Roman" panose="02020603050405020304" pitchFamily="18" charset="0"/>
              </a:rPr>
              <a:t>Quốc gia khác nhau</a:t>
            </a:r>
            <a:endParaRPr lang="en-US" sz="1500" dirty="0">
              <a:latin typeface="Times New Roman" panose="02020603050405020304" pitchFamily="18" charset="0"/>
              <a:cs typeface="Times New Roman" panose="02020603050405020304" pitchFamily="18" charset="0"/>
            </a:endParaRPr>
          </a:p>
        </p:txBody>
      </p:sp>
      <p:sp>
        <p:nvSpPr>
          <p:cNvPr id="69" name="Shape 4">
            <a:extLst>
              <a:ext uri="{FF2B5EF4-FFF2-40B4-BE49-F238E27FC236}">
                <a16:creationId xmlns:a16="http://schemas.microsoft.com/office/drawing/2014/main" id="{F7527318-6761-C923-5B65-A17464DD84AE}"/>
              </a:ext>
            </a:extLst>
          </p:cNvPr>
          <p:cNvSpPr/>
          <p:nvPr/>
        </p:nvSpPr>
        <p:spPr>
          <a:xfrm>
            <a:off x="10274860" y="1264669"/>
            <a:ext cx="1507825" cy="1167564"/>
          </a:xfrm>
          <a:prstGeom prst="roundRect">
            <a:avLst>
              <a:gd name="adj" fmla="val 5333"/>
            </a:avLst>
          </a:prstGeom>
          <a:solidFill>
            <a:srgbClr val="F4F6FA"/>
          </a:solidFill>
          <a:ln w="12700">
            <a:solidFill>
              <a:srgbClr val="F4F6FA"/>
            </a:solidFill>
            <a:prstDash val="solid"/>
          </a:ln>
        </p:spPr>
      </p:sp>
      <p:sp>
        <p:nvSpPr>
          <p:cNvPr id="71" name="Text 5">
            <a:extLst>
              <a:ext uri="{FF2B5EF4-FFF2-40B4-BE49-F238E27FC236}">
                <a16:creationId xmlns:a16="http://schemas.microsoft.com/office/drawing/2014/main" id="{C5777482-15E0-92D1-091B-F394B7613B1F}"/>
              </a:ext>
            </a:extLst>
          </p:cNvPr>
          <p:cNvSpPr txBox="1"/>
          <p:nvPr/>
        </p:nvSpPr>
        <p:spPr>
          <a:xfrm>
            <a:off x="10274861" y="1290417"/>
            <a:ext cx="1507824" cy="672181"/>
          </a:xfrm>
          <a:prstGeom prst="rect">
            <a:avLst/>
          </a:prstGeom>
          <a:noFill/>
          <a:ln/>
        </p:spPr>
        <p:txBody>
          <a:bodyPr wrap="square" lIns="0" tIns="0" rIns="0" bIns="0" rtlCol="0" anchor="ctr"/>
          <a:lstStyle/>
          <a:p>
            <a:pPr marL="0" indent="0" algn="ctr">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91,94%</a:t>
            </a:r>
            <a:endParaRPr lang="en-US" dirty="0">
              <a:latin typeface="Times New Roman" panose="02020603050405020304" pitchFamily="18" charset="0"/>
              <a:cs typeface="Times New Roman" panose="02020603050405020304" pitchFamily="18" charset="0"/>
            </a:endParaRPr>
          </a:p>
        </p:txBody>
      </p:sp>
      <p:sp>
        <p:nvSpPr>
          <p:cNvPr id="73" name="Text 7">
            <a:extLst>
              <a:ext uri="{FF2B5EF4-FFF2-40B4-BE49-F238E27FC236}">
                <a16:creationId xmlns:a16="http://schemas.microsoft.com/office/drawing/2014/main" id="{5B61EA08-56CC-4F57-2DDD-067FE9C4ABDF}"/>
              </a:ext>
            </a:extLst>
          </p:cNvPr>
          <p:cNvSpPr txBox="1"/>
          <p:nvPr/>
        </p:nvSpPr>
        <p:spPr>
          <a:xfrm>
            <a:off x="10274861" y="1968759"/>
            <a:ext cx="1507823" cy="469635"/>
          </a:xfrm>
          <a:prstGeom prst="rect">
            <a:avLst/>
          </a:prstGeom>
          <a:noFill/>
          <a:ln/>
        </p:spPr>
        <p:txBody>
          <a:bodyPr wrap="square" lIns="0" tIns="0" rIns="0" bIns="0" rtlCol="0" anchor="t"/>
          <a:lstStyle/>
          <a:p>
            <a:pPr algn="ctr"/>
            <a:r>
              <a:rPr lang="vi-VN" sz="1500" dirty="0">
                <a:latin typeface="Times New Roman" panose="02020603050405020304" pitchFamily="18" charset="0"/>
                <a:ea typeface="Calibri" pitchFamily="34" charset="-122"/>
                <a:cs typeface="Times New Roman" panose="02020603050405020304" pitchFamily="18" charset="0"/>
              </a:rPr>
              <a:t>Dữ liệu đến từ UK</a:t>
            </a:r>
            <a:endParaRPr lang="en-US" sz="1500" dirty="0">
              <a:latin typeface="Times New Roman" panose="02020603050405020304" pitchFamily="18" charset="0"/>
              <a:cs typeface="Times New Roman" panose="02020603050405020304" pitchFamily="18" charset="0"/>
            </a:endParaRPr>
          </a:p>
        </p:txBody>
      </p:sp>
      <p:sp>
        <p:nvSpPr>
          <p:cNvPr id="3" name="Text 16">
            <a:extLst>
              <a:ext uri="{FF2B5EF4-FFF2-40B4-BE49-F238E27FC236}">
                <a16:creationId xmlns:a16="http://schemas.microsoft.com/office/drawing/2014/main" id="{F176CDF7-5F8C-6437-CE70-C9DE5244A8BC}"/>
              </a:ext>
            </a:extLst>
          </p:cNvPr>
          <p:cNvSpPr txBox="1"/>
          <p:nvPr/>
        </p:nvSpPr>
        <p:spPr>
          <a:xfrm>
            <a:off x="567301" y="2721738"/>
            <a:ext cx="5581571" cy="493029"/>
          </a:xfrm>
          <a:prstGeom prst="rect">
            <a:avLst/>
          </a:prstGeom>
          <a:noFill/>
          <a:ln/>
        </p:spPr>
        <p:txBody>
          <a:bodyPr wrap="square" lIns="0" tIns="0" rIns="0" bIns="0" rtlCol="0" anchor="ctr"/>
          <a:lstStyle/>
          <a:p>
            <a:pPr marL="0" indent="0">
              <a:buNone/>
            </a:pPr>
            <a:r>
              <a:rPr lang="en-US" b="1" dirty="0">
                <a:solidFill>
                  <a:srgbClr val="0B2A5B"/>
                </a:solidFill>
                <a:latin typeface="Times New Roman" pitchFamily="34" charset="0"/>
                <a:ea typeface="Times New Roman" pitchFamily="34" charset="-122"/>
                <a:cs typeface="Times New Roman" pitchFamily="34" charset="-120"/>
              </a:rPr>
              <a:t>9 </a:t>
            </a:r>
            <a:r>
              <a:rPr lang="vi-VN" b="1" dirty="0">
                <a:solidFill>
                  <a:srgbClr val="0B2A5B"/>
                </a:solidFill>
                <a:latin typeface="Times New Roman" pitchFamily="34" charset="0"/>
                <a:ea typeface="Times New Roman" pitchFamily="34" charset="-122"/>
                <a:cs typeface="Times New Roman" pitchFamily="34" charset="-120"/>
              </a:rPr>
              <a:t>C</a:t>
            </a:r>
            <a:r>
              <a:rPr lang="en-US" b="1" dirty="0" err="1">
                <a:solidFill>
                  <a:srgbClr val="0B2A5B"/>
                </a:solidFill>
                <a:latin typeface="Times New Roman" pitchFamily="34" charset="0"/>
                <a:ea typeface="Times New Roman" pitchFamily="34" charset="-122"/>
                <a:cs typeface="Times New Roman" pitchFamily="34" charset="-120"/>
              </a:rPr>
              <a:t>ột</a:t>
            </a:r>
            <a:r>
              <a:rPr lang="vi-VN" b="1" dirty="0">
                <a:solidFill>
                  <a:srgbClr val="0B2A5B"/>
                </a:solidFill>
                <a:latin typeface="Times New Roman" pitchFamily="34" charset="0"/>
                <a:ea typeface="Times New Roman" pitchFamily="34" charset="-122"/>
                <a:cs typeface="Times New Roman" pitchFamily="34" charset="-120"/>
              </a:rPr>
              <a:t> dữ liệu</a:t>
            </a:r>
            <a:r>
              <a:rPr lang="en-US" b="1" dirty="0">
                <a:solidFill>
                  <a:srgbClr val="0B2A5B"/>
                </a:solidFill>
                <a:latin typeface="Times New Roman" pitchFamily="34" charset="0"/>
                <a:ea typeface="Times New Roman" pitchFamily="34" charset="-122"/>
                <a:cs typeface="Times New Roman" pitchFamily="34" charset="-120"/>
              </a:rPr>
              <a:t> — 8</a:t>
            </a:r>
            <a:r>
              <a:rPr lang="vi-VN" b="1" dirty="0">
                <a:solidFill>
                  <a:srgbClr val="0B2A5B"/>
                </a:solidFill>
                <a:latin typeface="Times New Roman" pitchFamily="34" charset="0"/>
                <a:ea typeface="Times New Roman" pitchFamily="34" charset="-122"/>
                <a:cs typeface="Times New Roman" pitchFamily="34" charset="-120"/>
              </a:rPr>
              <a:t> C</a:t>
            </a:r>
            <a:r>
              <a:rPr lang="en-US" b="1" dirty="0" err="1">
                <a:solidFill>
                  <a:srgbClr val="0B2A5B"/>
                </a:solidFill>
                <a:latin typeface="Times New Roman" pitchFamily="34" charset="0"/>
                <a:ea typeface="Times New Roman" pitchFamily="34" charset="-122"/>
                <a:cs typeface="Times New Roman" pitchFamily="34" charset="-120"/>
              </a:rPr>
              <a:t>ột</a:t>
            </a:r>
            <a:r>
              <a:rPr lang="en-US" b="1" dirty="0">
                <a:solidFill>
                  <a:srgbClr val="0B2A5B"/>
                </a:solidFill>
                <a:latin typeface="Times New Roman" pitchFamily="34" charset="0"/>
                <a:ea typeface="Times New Roman" pitchFamily="34" charset="-122"/>
                <a:cs typeface="Times New Roman" pitchFamily="34" charset="-120"/>
              </a:rPr>
              <a:t> gốc + </a:t>
            </a:r>
            <a:r>
              <a:rPr lang="vi-VN" b="1" dirty="0">
                <a:solidFill>
                  <a:srgbClr val="0B2A5B"/>
                </a:solidFill>
                <a:latin typeface="Times New Roman" pitchFamily="34" charset="0"/>
                <a:ea typeface="Times New Roman" pitchFamily="34" charset="-122"/>
                <a:cs typeface="Times New Roman" pitchFamily="34" charset="-120"/>
              </a:rPr>
              <a:t>C</a:t>
            </a:r>
            <a:r>
              <a:rPr lang="en-US" b="1" dirty="0" err="1">
                <a:solidFill>
                  <a:srgbClr val="0B2A5B"/>
                </a:solidFill>
                <a:latin typeface="Times New Roman" pitchFamily="34" charset="0"/>
                <a:ea typeface="Times New Roman" pitchFamily="34" charset="-122"/>
                <a:cs typeface="Times New Roman" pitchFamily="34" charset="-120"/>
              </a:rPr>
              <a:t>ột</a:t>
            </a:r>
            <a:r>
              <a:rPr lang="en-US" b="1" dirty="0">
                <a:solidFill>
                  <a:srgbClr val="0B2A5B"/>
                </a:solidFill>
                <a:latin typeface="Times New Roman" pitchFamily="34" charset="0"/>
                <a:ea typeface="Times New Roman" pitchFamily="34" charset="-122"/>
                <a:cs typeface="Times New Roman" pitchFamily="34" charset="-120"/>
              </a:rPr>
              <a:t> Sheet</a:t>
            </a:r>
            <a:endParaRPr lang="en-US" dirty="0"/>
          </a:p>
        </p:txBody>
      </p:sp>
      <p:graphicFrame>
        <p:nvGraphicFramePr>
          <p:cNvPr id="9" name="Table 0">
            <a:extLst>
              <a:ext uri="{FF2B5EF4-FFF2-40B4-BE49-F238E27FC236}">
                <a16:creationId xmlns:a16="http://schemas.microsoft.com/office/drawing/2014/main" id="{78F8050D-6A6C-ED58-5B7D-727DA7FD7A3C}"/>
              </a:ext>
            </a:extLst>
          </p:cNvPr>
          <p:cNvGraphicFramePr>
            <a:graphicFrameLocks noGrp="1"/>
          </p:cNvGraphicFramePr>
          <p:nvPr>
            <p:extLst>
              <p:ext uri="{D42A27DB-BD31-4B8C-83A1-F6EECF244321}">
                <p14:modId xmlns:p14="http://schemas.microsoft.com/office/powerpoint/2010/main" val="1129696157"/>
              </p:ext>
            </p:extLst>
          </p:nvPr>
        </p:nvGraphicFramePr>
        <p:xfrm>
          <a:off x="567302" y="3214767"/>
          <a:ext cx="5581571" cy="2939706"/>
        </p:xfrm>
        <a:graphic>
          <a:graphicData uri="http://schemas.openxmlformats.org/drawingml/2006/table">
            <a:tbl>
              <a:tblPr/>
              <a:tblGrid>
                <a:gridCol w="1135513">
                  <a:extLst>
                    <a:ext uri="{9D8B030D-6E8A-4147-A177-3AD203B41FA5}">
                      <a16:colId xmlns:a16="http://schemas.microsoft.com/office/drawing/2014/main" val="20000"/>
                    </a:ext>
                  </a:extLst>
                </a:gridCol>
                <a:gridCol w="969118">
                  <a:extLst>
                    <a:ext uri="{9D8B030D-6E8A-4147-A177-3AD203B41FA5}">
                      <a16:colId xmlns:a16="http://schemas.microsoft.com/office/drawing/2014/main" val="20001"/>
                    </a:ext>
                  </a:extLst>
                </a:gridCol>
                <a:gridCol w="3476940">
                  <a:extLst>
                    <a:ext uri="{9D8B030D-6E8A-4147-A177-3AD203B41FA5}">
                      <a16:colId xmlns:a16="http://schemas.microsoft.com/office/drawing/2014/main" val="20002"/>
                    </a:ext>
                  </a:extLst>
                </a:gridCol>
              </a:tblGrid>
              <a:tr h="326634">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Cột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Kiểu</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Ý nghĩa</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Invoice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object</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Mã hoá đơn (bắt đầu bằng “C” = hoá đơn huỷ)</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StockCode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object</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Mã sản phẩm</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Description</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object</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Tên sản phẩm</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Quantity</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int64</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Số lượng</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4"/>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InvoiceDate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datetime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Thời điểm giao dịch</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Price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float64</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Đơn giá (£)</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6"/>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Customer ID</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float64</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Mã khách hàng (có thể thiếu)</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6634">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Country</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str</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Quốc gia</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Times New Roman" panose="02020603050405020304" pitchFamily="18" charset="0"/>
                <a:ea typeface="Calibri" pitchFamily="34" charset="-122"/>
                <a:cs typeface="Times New Roman" panose="02020603050405020304" pitchFamily="18" charset="0"/>
              </a:rPr>
              <a:t>7</a:t>
            </a:r>
            <a:endParaRPr lang="en-US" sz="1000" dirty="0">
              <a:latin typeface="Times New Roman" panose="02020603050405020304" pitchFamily="18" charset="0"/>
              <a:cs typeface="Times New Roman" panose="02020603050405020304" pitchFamily="18" charset="0"/>
            </a:endParaRPr>
          </a:p>
        </p:txBody>
      </p:sp>
      <p:graphicFrame>
        <p:nvGraphicFramePr>
          <p:cNvPr id="7" name="Table 0"/>
          <p:cNvGraphicFramePr>
            <a:graphicFrameLocks noGrp="1"/>
          </p:cNvGraphicFramePr>
          <p:nvPr>
            <p:extLst>
              <p:ext uri="{D42A27DB-BD31-4B8C-83A1-F6EECF244321}">
                <p14:modId xmlns:p14="http://schemas.microsoft.com/office/powerpoint/2010/main" val="3958292617"/>
              </p:ext>
            </p:extLst>
          </p:nvPr>
        </p:nvGraphicFramePr>
        <p:xfrm>
          <a:off x="548640" y="1065559"/>
          <a:ext cx="11091672" cy="4990006"/>
        </p:xfrm>
        <a:graphic>
          <a:graphicData uri="http://schemas.openxmlformats.org/drawingml/2006/table">
            <a:tbl>
              <a:tblPr/>
              <a:tblGrid>
                <a:gridCol w="35661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782312">
                  <a:extLst>
                    <a:ext uri="{9D8B030D-6E8A-4147-A177-3AD203B41FA5}">
                      <a16:colId xmlns:a16="http://schemas.microsoft.com/office/drawing/2014/main" val="20002"/>
                    </a:ext>
                  </a:extLst>
                </a:gridCol>
              </a:tblGrid>
              <a:tr h="442900">
                <a:tc>
                  <a:txBody>
                    <a:bodyPr/>
                    <a:lstStyle/>
                    <a:p>
                      <a:pPr marL="0" indent="0" algn="l">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Vấn đề phát hiện</a:t>
                      </a:r>
                      <a:endParaRPr lang="en-US" sz="18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Số liệu</a:t>
                      </a:r>
                      <a:endParaRPr lang="en-US" sz="18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Ý </a:t>
                      </a:r>
                      <a:r>
                        <a:rPr lang="en-US" sz="1800" b="1" dirty="0" err="1">
                          <a:solidFill>
                            <a:srgbClr val="FFFFFF"/>
                          </a:solidFill>
                          <a:latin typeface="Times New Roman" panose="02020603050405020304" pitchFamily="18" charset="0"/>
                          <a:ea typeface="Calibri" pitchFamily="34" charset="-122"/>
                          <a:cs typeface="Times New Roman" panose="02020603050405020304" pitchFamily="18" charset="0"/>
                        </a:rPr>
                        <a:t>nghĩa</a:t>
                      </a: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vi-VN" sz="1800" b="1" dirty="0">
                          <a:solidFill>
                            <a:srgbClr val="FFFFFF"/>
                          </a:solidFill>
                          <a:latin typeface="Times New Roman" panose="02020603050405020304" pitchFamily="18" charset="0"/>
                          <a:ea typeface="Calibri" pitchFamily="34" charset="-122"/>
                          <a:cs typeface="Times New Roman" panose="02020603050405020304" pitchFamily="18" charset="0"/>
                        </a:rPr>
                        <a:t>và</a:t>
                      </a: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vi-VN" sz="1800" b="1" dirty="0">
                          <a:solidFill>
                            <a:srgbClr val="FFFFFF"/>
                          </a:solidFill>
                          <a:latin typeface="Times New Roman" panose="02020603050405020304" pitchFamily="18" charset="0"/>
                          <a:ea typeface="Calibri" pitchFamily="34" charset="-122"/>
                          <a:cs typeface="Times New Roman" panose="02020603050405020304" pitchFamily="18" charset="0"/>
                        </a:rPr>
                        <a:t>c</a:t>
                      </a:r>
                      <a:r>
                        <a:rPr lang="en-US" sz="1800" b="1" dirty="0" err="1">
                          <a:solidFill>
                            <a:srgbClr val="FFFFFF"/>
                          </a:solidFill>
                          <a:latin typeface="Times New Roman" panose="02020603050405020304" pitchFamily="18" charset="0"/>
                          <a:ea typeface="Calibri" pitchFamily="34" charset="-122"/>
                          <a:cs typeface="Times New Roman" panose="02020603050405020304" pitchFamily="18" charset="0"/>
                        </a:rPr>
                        <a:t>ách</a:t>
                      </a: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 xử lý dự kiến</a:t>
                      </a:r>
                      <a:endParaRPr lang="en-US" sz="18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49587">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Thiếu Customer ID</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243,007 dòng (22.77%)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Giữ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cho</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MBA;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chỉ</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cần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hoá</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đơn</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 và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sản</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phẩm</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loại khỏi RFM/</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Churn.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90533">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Thiếu Description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4,382 dòng (0.41%)</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Tỷ lệ rất nhỏ; đối chiếu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StockCode</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và</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đặc điểm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giao</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dịch.</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90533">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Dòng trùng lặp</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34,335 dòng (3.22%)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drop_duplicates(), giữ bản ghi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đầu</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tiên;</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không</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tính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cột</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Sheet.</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90533">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Hoá đơn </a:t>
                      </a:r>
                      <a:r>
                        <a:rPr lang="en-US" sz="1500" b="1" dirty="0" err="1">
                          <a:solidFill>
                            <a:srgbClr val="1F2937"/>
                          </a:solidFill>
                          <a:latin typeface="Times New Roman" panose="02020603050405020304" pitchFamily="18" charset="0"/>
                          <a:ea typeface="Calibri" pitchFamily="34" charset="-122"/>
                          <a:cs typeface="Times New Roman" panose="02020603050405020304" pitchFamily="18" charset="0"/>
                        </a:rPr>
                        <a:t>huỷ</a:t>
                      </a: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b="1" dirty="0">
                          <a:solidFill>
                            <a:srgbClr val="1F2937"/>
                          </a:solidFill>
                          <a:latin typeface="Times New Roman" panose="02020603050405020304" pitchFamily="18" charset="0"/>
                          <a:ea typeface="Calibri" pitchFamily="34" charset="-122"/>
                          <a:cs typeface="Times New Roman" panose="02020603050405020304" pitchFamily="18" charset="0"/>
                        </a:rPr>
                        <a:t>B</a:t>
                      </a:r>
                      <a:r>
                        <a:rPr lang="en-US" sz="1500" b="1" dirty="0" err="1">
                          <a:solidFill>
                            <a:srgbClr val="1F2937"/>
                          </a:solidFill>
                          <a:latin typeface="Times New Roman" panose="02020603050405020304" pitchFamily="18" charset="0"/>
                          <a:ea typeface="Calibri" pitchFamily="34" charset="-122"/>
                          <a:cs typeface="Times New Roman" panose="02020603050405020304" pitchFamily="18" charset="0"/>
                        </a:rPr>
                        <a:t>ắt</a:t>
                      </a: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 đầu bằng “C”)</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8,292 / 53,628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Hóa đơn</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(15.46%)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Loại 19,494 dòng khỏi tập giao dịch mua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thành</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công.</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08640">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Quantity âm không </a:t>
                      </a:r>
                      <a:r>
                        <a:rPr lang="en-US" sz="1500" b="1" dirty="0" err="1">
                          <a:solidFill>
                            <a:srgbClr val="1F2937"/>
                          </a:solidFill>
                          <a:latin typeface="Times New Roman" panose="02020603050405020304" pitchFamily="18" charset="0"/>
                          <a:ea typeface="Calibri" pitchFamily="34" charset="-122"/>
                          <a:cs typeface="Times New Roman" panose="02020603050405020304" pitchFamily="18" charset="0"/>
                        </a:rPr>
                        <a:t>phải</a:t>
                      </a: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b="1" dirty="0">
                          <a:solidFill>
                            <a:srgbClr val="1F2937"/>
                          </a:solidFill>
                          <a:latin typeface="Times New Roman" panose="02020603050405020304" pitchFamily="18" charset="0"/>
                          <a:ea typeface="Calibri" pitchFamily="34" charset="-122"/>
                          <a:cs typeface="Times New Roman" panose="02020603050405020304" pitchFamily="18" charset="0"/>
                        </a:rPr>
                        <a:t>Hóa đơn</a:t>
                      </a: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 huỷ</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3,457 dòng</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100% Price = 0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và</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thiếu Customer ID →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B</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út</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toán kho (lost, damages…);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loại</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bỏ.</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08640">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“Adjust bad debt” (Invoice “A”, StockCode “B”)</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6 dòng</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Bút toán xoá nợ xấu, giá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trị</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£53K; không phải bán hàng;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loại</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bỏ.</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08640">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StockCode phi sản phẩm (POST, DOT, M, D…)</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5,821 dòng (0.55%) nhưng 4.05% giá trị</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Loại để MBA không sinh luật về phí; RFM không bị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nhiễm</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Monetary.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0">
            <a:extLst>
              <a:ext uri="{FF2B5EF4-FFF2-40B4-BE49-F238E27FC236}">
                <a16:creationId xmlns:a16="http://schemas.microsoft.com/office/drawing/2014/main" id="{9586ADF4-3597-E50A-39E9-B664CBBBAB9D}"/>
              </a:ext>
            </a:extLst>
          </p:cNvPr>
          <p:cNvSpPr txBox="1"/>
          <p:nvPr/>
        </p:nvSpPr>
        <p:spPr>
          <a:xfrm>
            <a:off x="548640" y="48512"/>
            <a:ext cx="10515600" cy="660610"/>
          </a:xfrm>
          <a:prstGeom prst="rect">
            <a:avLst/>
          </a:prstGeom>
          <a:noFill/>
          <a:ln/>
        </p:spPr>
        <p:txBody>
          <a:bodyPr wrap="square" lIns="0" tIns="0" rIns="0" bIns="0" rtlCol="0" anchor="ctr"/>
          <a:lstStyle/>
          <a:p>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 Understanding —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7 Vấn đề chất lượng dữ liệu</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A4C1E7D3-F5C4-A852-E1A4-9CA45384A1AD}"/>
              </a:ext>
            </a:extLst>
          </p:cNvPr>
          <p:cNvSpPr txBox="1"/>
          <p:nvPr/>
        </p:nvSpPr>
        <p:spPr>
          <a:xfrm>
            <a:off x="548640"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Times New Roman" panose="02020603050405020304" pitchFamily="18" charset="0"/>
                <a:ea typeface="Calibri" pitchFamily="34" charset="-122"/>
                <a:cs typeface="Times New Roman" panose="02020603050405020304" pitchFamily="18" charset="0"/>
              </a:rPr>
              <a:t>8</a:t>
            </a:r>
            <a:endParaRPr lang="en-US" sz="1000" dirty="0">
              <a:latin typeface="Times New Roman" panose="02020603050405020304" pitchFamily="18" charset="0"/>
              <a:cs typeface="Times New Roman" panose="02020603050405020304" pitchFamily="18" charset="0"/>
            </a:endParaRPr>
          </a:p>
        </p:txBody>
      </p:sp>
      <p:pic>
        <p:nvPicPr>
          <p:cNvPr id="6" name="Image 0" descr="Biểu đồ missing values"/>
          <p:cNvPicPr>
            <a:picLocks noChangeAspect="1"/>
          </p:cNvPicPr>
          <p:nvPr/>
        </p:nvPicPr>
        <p:blipFill>
          <a:blip r:embed="rId3"/>
          <a:stretch>
            <a:fillRect/>
          </a:stretch>
        </p:blipFill>
        <p:spPr>
          <a:xfrm>
            <a:off x="552771" y="748315"/>
            <a:ext cx="5386698" cy="3337560"/>
          </a:xfrm>
          <a:prstGeom prst="rect">
            <a:avLst/>
          </a:prstGeom>
        </p:spPr>
      </p:pic>
      <p:pic>
        <p:nvPicPr>
          <p:cNvPr id="7" name="Image 1" descr="Top 10 quốc gia"/>
          <p:cNvPicPr>
            <a:picLocks noChangeAspect="1"/>
          </p:cNvPicPr>
          <p:nvPr/>
        </p:nvPicPr>
        <p:blipFill>
          <a:blip r:embed="rId4"/>
          <a:stretch>
            <a:fillRect/>
          </a:stretch>
        </p:blipFill>
        <p:spPr>
          <a:xfrm>
            <a:off x="6218624" y="748315"/>
            <a:ext cx="5393552" cy="3337560"/>
          </a:xfrm>
          <a:prstGeom prst="rect">
            <a:avLst/>
          </a:prstGeom>
        </p:spPr>
      </p:pic>
      <p:sp>
        <p:nvSpPr>
          <p:cNvPr id="8" name="Text 4"/>
          <p:cNvSpPr txBox="1"/>
          <p:nvPr/>
        </p:nvSpPr>
        <p:spPr>
          <a:xfrm>
            <a:off x="548640" y="4085875"/>
            <a:ext cx="5394960" cy="376400"/>
          </a:xfrm>
          <a:prstGeom prst="rect">
            <a:avLst/>
          </a:prstGeom>
          <a:noFill/>
          <a:ln/>
        </p:spPr>
        <p:txBody>
          <a:bodyPr wrap="square" lIns="0" tIns="0" rIns="0" bIns="0" rtlCol="0" anchor="ctr"/>
          <a:lstStyle/>
          <a:p>
            <a:pPr marL="0" indent="0" algn="ctr">
              <a:buNone/>
            </a:pPr>
            <a:r>
              <a:rPr lang="en-US" sz="1500" i="1" dirty="0">
                <a:latin typeface="Times New Roman" panose="02020603050405020304" pitchFamily="18" charset="0"/>
                <a:ea typeface="Calibri" pitchFamily="34" charset="-122"/>
                <a:cs typeface="Times New Roman" panose="02020603050405020304" pitchFamily="18" charset="0"/>
              </a:rPr>
              <a:t>Hình 1. Tỷ lệ thiếu theo cột</a:t>
            </a:r>
            <a:endParaRPr lang="en-US" sz="1500" dirty="0">
              <a:latin typeface="Times New Roman" panose="02020603050405020304" pitchFamily="18" charset="0"/>
              <a:cs typeface="Times New Roman" panose="02020603050405020304" pitchFamily="18" charset="0"/>
            </a:endParaRPr>
          </a:p>
        </p:txBody>
      </p:sp>
      <p:sp>
        <p:nvSpPr>
          <p:cNvPr id="9" name="Text 5"/>
          <p:cNvSpPr txBox="1"/>
          <p:nvPr/>
        </p:nvSpPr>
        <p:spPr>
          <a:xfrm>
            <a:off x="6217920" y="4085875"/>
            <a:ext cx="5394960" cy="376400"/>
          </a:xfrm>
          <a:prstGeom prst="rect">
            <a:avLst/>
          </a:prstGeom>
          <a:noFill/>
          <a:ln/>
        </p:spPr>
        <p:txBody>
          <a:bodyPr wrap="square" lIns="0" tIns="0" rIns="0" bIns="0" rtlCol="0" anchor="ctr"/>
          <a:lstStyle/>
          <a:p>
            <a:pPr marL="0" indent="0" algn="ctr">
              <a:buNone/>
            </a:pPr>
            <a:r>
              <a:rPr lang="en-US" sz="1500" i="1" dirty="0">
                <a:latin typeface="Times New Roman" panose="02020603050405020304" pitchFamily="18" charset="0"/>
                <a:ea typeface="Calibri" pitchFamily="34" charset="-122"/>
                <a:cs typeface="Times New Roman" panose="02020603050405020304" pitchFamily="18" charset="0"/>
              </a:rPr>
              <a:t>Hình 2. Top 10 quốc gia theo số dòng</a:t>
            </a:r>
            <a:endParaRPr lang="en-US" sz="1500" dirty="0">
              <a:latin typeface="Times New Roman" panose="02020603050405020304" pitchFamily="18" charset="0"/>
              <a:cs typeface="Times New Roman" panose="02020603050405020304" pitchFamily="18" charset="0"/>
            </a:endParaRPr>
          </a:p>
        </p:txBody>
      </p:sp>
      <p:sp>
        <p:nvSpPr>
          <p:cNvPr id="10" name="Shape 6"/>
          <p:cNvSpPr/>
          <p:nvPr/>
        </p:nvSpPr>
        <p:spPr>
          <a:xfrm>
            <a:off x="548640" y="4562670"/>
            <a:ext cx="5394960" cy="699795"/>
          </a:xfrm>
          <a:prstGeom prst="roundRect">
            <a:avLst>
              <a:gd name="adj" fmla="val 6154"/>
            </a:avLst>
          </a:prstGeom>
          <a:solidFill>
            <a:srgbClr val="F4F6FA"/>
          </a:solidFill>
          <a:ln w="12700">
            <a:solidFill>
              <a:srgbClr val="F4F6FA"/>
            </a:solidFill>
            <a:prstDash val="solid"/>
          </a:ln>
        </p:spPr>
      </p:sp>
      <p:sp>
        <p:nvSpPr>
          <p:cNvPr id="11" name="Text 7"/>
          <p:cNvSpPr txBox="1"/>
          <p:nvPr/>
        </p:nvSpPr>
        <p:spPr>
          <a:xfrm>
            <a:off x="777240" y="4654110"/>
            <a:ext cx="4937760" cy="592134"/>
          </a:xfrm>
          <a:prstGeom prst="rect">
            <a:avLst/>
          </a:prstGeom>
          <a:noFill/>
          <a:ln/>
        </p:spPr>
        <p:txBody>
          <a:bodyPr wrap="square" lIns="0" tIns="0" rIns="0" bIns="0" rtlCol="0" anchor="t"/>
          <a:lstStyle/>
          <a:p>
            <a:pPr marL="203200" indent="-203200">
              <a:spcAft>
                <a:spcPts val="400"/>
              </a:spcAft>
              <a:buSzPct val="100000"/>
              <a:buChar char="•"/>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Customer ID: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T</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hiếu</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22.77%.</a:t>
            </a:r>
            <a:endParaRPr lang="en-US" sz="15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Description: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T</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hiếu</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0.41%</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k</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hông</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đáng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kể</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a:t>
            </a:r>
            <a:endParaRPr lang="vi-VN" sz="1500" dirty="0">
              <a:solidFill>
                <a:srgbClr val="1F2937"/>
              </a:solidFill>
              <a:latin typeface="Times New Roman" panose="02020603050405020304" pitchFamily="18" charset="0"/>
              <a:ea typeface="Calibri" pitchFamily="34" charset="-122"/>
              <a:cs typeface="Times New Roman" panose="02020603050405020304" pitchFamily="18" charset="0"/>
            </a:endParaRPr>
          </a:p>
        </p:txBody>
      </p:sp>
      <p:sp>
        <p:nvSpPr>
          <p:cNvPr id="12" name="Shape 8"/>
          <p:cNvSpPr/>
          <p:nvPr/>
        </p:nvSpPr>
        <p:spPr>
          <a:xfrm>
            <a:off x="6217920" y="4562670"/>
            <a:ext cx="5422392" cy="699795"/>
          </a:xfrm>
          <a:prstGeom prst="roundRect">
            <a:avLst>
              <a:gd name="adj" fmla="val 6154"/>
            </a:avLst>
          </a:prstGeom>
          <a:solidFill>
            <a:srgbClr val="F4F6FA"/>
          </a:solidFill>
          <a:ln w="12700">
            <a:solidFill>
              <a:srgbClr val="F4F6FA"/>
            </a:solidFill>
            <a:prstDash val="solid"/>
          </a:ln>
        </p:spPr>
      </p:sp>
      <p:sp>
        <p:nvSpPr>
          <p:cNvPr id="13" name="Text 9"/>
          <p:cNvSpPr txBox="1"/>
          <p:nvPr/>
        </p:nvSpPr>
        <p:spPr>
          <a:xfrm>
            <a:off x="6446520" y="4654110"/>
            <a:ext cx="4983480" cy="592134"/>
          </a:xfrm>
          <a:prstGeom prst="rect">
            <a:avLst/>
          </a:prstGeom>
          <a:noFill/>
          <a:ln/>
        </p:spPr>
        <p:txBody>
          <a:bodyPr wrap="square" lIns="0" tIns="0" rIns="0" bIns="0" rtlCol="0" anchor="t"/>
          <a:lstStyle/>
          <a:p>
            <a:pPr marL="203200" indent="-203200">
              <a:spcAft>
                <a:spcPts val="400"/>
              </a:spcAft>
              <a:buSzPct val="100000"/>
              <a:buChar char="•"/>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United Kingdom: </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981,330 dòng = 91.94% → kết quả phản ánh chủ yếu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khách</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UK.</a:t>
            </a:r>
          </a:p>
        </p:txBody>
      </p:sp>
      <p:sp>
        <p:nvSpPr>
          <p:cNvPr id="15" name="Text 0">
            <a:extLst>
              <a:ext uri="{FF2B5EF4-FFF2-40B4-BE49-F238E27FC236}">
                <a16:creationId xmlns:a16="http://schemas.microsoft.com/office/drawing/2014/main" id="{2EA9A832-C8D8-E934-6141-6A363AA9B77F}"/>
              </a:ext>
            </a:extLst>
          </p:cNvPr>
          <p:cNvSpPr txBox="1"/>
          <p:nvPr/>
        </p:nvSpPr>
        <p:spPr>
          <a:xfrm>
            <a:off x="548640" y="48512"/>
            <a:ext cx="10515600" cy="660610"/>
          </a:xfrm>
          <a:prstGeom prst="rect">
            <a:avLst/>
          </a:prstGeom>
          <a:noFill/>
          <a:ln/>
        </p:spPr>
        <p:txBody>
          <a:bodyPr wrap="square" lIns="0" tIns="0" rIns="0" bIns="0" rtlCol="0" anchor="ctr"/>
          <a:lstStyle/>
          <a:p>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 Understanding —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Dữ liệu thiếu và phân bố theo quốc gia</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7" name="Text 2">
            <a:extLst>
              <a:ext uri="{FF2B5EF4-FFF2-40B4-BE49-F238E27FC236}">
                <a16:creationId xmlns:a16="http://schemas.microsoft.com/office/drawing/2014/main" id="{4F9D7B8F-6090-F084-2BCD-25CAA9DB085E}"/>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
        <p:nvSpPr>
          <p:cNvPr id="19" name="Shape 6">
            <a:extLst>
              <a:ext uri="{FF2B5EF4-FFF2-40B4-BE49-F238E27FC236}">
                <a16:creationId xmlns:a16="http://schemas.microsoft.com/office/drawing/2014/main" id="{8727985D-2F03-2938-1315-22B7FC47FC74}"/>
              </a:ext>
            </a:extLst>
          </p:cNvPr>
          <p:cNvSpPr/>
          <p:nvPr/>
        </p:nvSpPr>
        <p:spPr>
          <a:xfrm>
            <a:off x="552770" y="5323425"/>
            <a:ext cx="11059405" cy="1150527"/>
          </a:xfrm>
          <a:prstGeom prst="roundRect">
            <a:avLst>
              <a:gd name="adj" fmla="val 6154"/>
            </a:avLst>
          </a:prstGeom>
          <a:solidFill>
            <a:srgbClr val="F4F6FA"/>
          </a:solidFill>
          <a:ln w="12700">
            <a:solidFill>
              <a:srgbClr val="F4F6FA"/>
            </a:solidFill>
            <a:prstDash val="solid"/>
          </a:ln>
        </p:spPr>
      </p:sp>
      <p:sp>
        <p:nvSpPr>
          <p:cNvPr id="21" name="Text 7">
            <a:extLst>
              <a:ext uri="{FF2B5EF4-FFF2-40B4-BE49-F238E27FC236}">
                <a16:creationId xmlns:a16="http://schemas.microsoft.com/office/drawing/2014/main" id="{7EDAA50F-BEAC-B48D-BA79-351CCBDB1222}"/>
              </a:ext>
            </a:extLst>
          </p:cNvPr>
          <p:cNvSpPr txBox="1"/>
          <p:nvPr/>
        </p:nvSpPr>
        <p:spPr>
          <a:xfrm>
            <a:off x="781370" y="5414865"/>
            <a:ext cx="10830805" cy="973522"/>
          </a:xfrm>
          <a:prstGeom prst="rect">
            <a:avLst/>
          </a:prstGeom>
          <a:noFill/>
          <a:ln/>
        </p:spPr>
        <p:txBody>
          <a:bodyPr wrap="square" lIns="0" tIns="0" rIns="0" bIns="0" rtlCol="0" anchor="t"/>
          <a:lstStyle/>
          <a:p>
            <a:pPr marL="285750" indent="-285750">
              <a:spcAft>
                <a:spcPts val="400"/>
              </a:spcAft>
              <a:buSzPct val="100000"/>
              <a:buFontTx/>
              <a:buChar char="-"/>
            </a:pPr>
            <a:r>
              <a:rPr lang="vi-VN" sz="1600" b="1" dirty="0">
                <a:solidFill>
                  <a:srgbClr val="1F2937"/>
                </a:solidFill>
                <a:latin typeface="Times New Roman" panose="02020603050405020304" pitchFamily="18" charset="0"/>
                <a:ea typeface="Calibri" pitchFamily="34" charset="-122"/>
                <a:cs typeface="Times New Roman" panose="02020603050405020304" pitchFamily="18" charset="0"/>
              </a:rPr>
              <a:t>MBA: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Giữ dòng thiếu Customer ID, luật kết hợp chỉ cần biết sản phẩm nào đi cùng nhau trong 1 hoá đơn. Loại bỏ sẽ mất ~22.8% giao dịch không cần thiết.</a:t>
            </a:r>
          </a:p>
          <a:p>
            <a:pPr marL="285750" indent="-285750">
              <a:spcAft>
                <a:spcPts val="400"/>
              </a:spcAft>
              <a:buSzPct val="100000"/>
              <a:buFontTx/>
              <a:buChar char="-"/>
            </a:pPr>
            <a:r>
              <a:rPr lang="vi-VN" sz="1600" b="1" dirty="0">
                <a:solidFill>
                  <a:srgbClr val="1F2937"/>
                </a:solidFill>
                <a:latin typeface="Times New Roman" panose="02020603050405020304" pitchFamily="18" charset="0"/>
                <a:ea typeface="Calibri" pitchFamily="34" charset="-122"/>
                <a:cs typeface="Times New Roman" panose="02020603050405020304" pitchFamily="18" charset="0"/>
              </a:rPr>
              <a:t>RFM / Churn: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Loại dòng thiếu Customer ID, cả hai đều cần định danh khách hàng (229,371 dòng bị loại sau làm sạch).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753913"/>
            <a:ext cx="11091672" cy="365760"/>
          </a:xfrm>
          <a:prstGeom prst="rect">
            <a:avLst/>
          </a:prstGeom>
          <a:noFill/>
          <a:ln/>
        </p:spPr>
        <p:txBody>
          <a:bodyPr wrap="square" lIns="0" tIns="0" rIns="0" bIns="0" rtlCol="0" anchor="t"/>
          <a:lstStyle/>
          <a:p>
            <a:pPr marL="0" indent="0">
              <a:buNone/>
            </a:pPr>
            <a:r>
              <a:rPr lang="en-US" i="1" dirty="0">
                <a:latin typeface="Times New Roman" panose="02020603050405020304" pitchFamily="18" charset="0"/>
                <a:ea typeface="Times New Roman" pitchFamily="34" charset="-122"/>
                <a:cs typeface="Times New Roman" panose="02020603050405020304" pitchFamily="18" charset="0"/>
              </a:rPr>
              <a:t>Hai nguồn gây nhiễu đầu tiên cần loại khỏi tập giao dịch mua thành công</a:t>
            </a:r>
            <a:endParaRPr lang="en-US" dirty="0">
              <a:latin typeface="Times New Roman" panose="02020603050405020304" pitchFamily="18" charset="0"/>
              <a:cs typeface="Times New Roman" panose="02020603050405020304" pitchFamily="18" charset="0"/>
            </a:endParaRPr>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200" dirty="0">
                <a:solidFill>
                  <a:srgbClr val="5B6B82"/>
                </a:solidFill>
                <a:latin typeface="Times New Roman" panose="02020603050405020304" pitchFamily="18" charset="0"/>
                <a:ea typeface="Times New Roman" pitchFamily="34" charset="-122"/>
                <a:cs typeface="Times New Roman" panose="02020603050405020304" pitchFamily="18" charset="0"/>
              </a:rPr>
              <a:t>9</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505960"/>
            <a:ext cx="5362956" cy="4343400"/>
          </a:xfrm>
          <a:prstGeom prst="rect">
            <a:avLst/>
          </a:prstGeom>
          <a:solidFill>
            <a:srgbClr val="EAF2FF"/>
          </a:solidFill>
          <a:ln w="9525">
            <a:solidFill>
              <a:srgbClr val="C9DAF2"/>
            </a:solidFill>
            <a:prstDash val="solid"/>
          </a:ln>
        </p:spPr>
      </p:sp>
      <p:sp>
        <p:nvSpPr>
          <p:cNvPr id="7" name="Shape 5"/>
          <p:cNvSpPr/>
          <p:nvPr/>
        </p:nvSpPr>
        <p:spPr>
          <a:xfrm>
            <a:off x="777240" y="1643120"/>
            <a:ext cx="594360" cy="594360"/>
          </a:xfrm>
          <a:prstGeom prst="ellipse">
            <a:avLst/>
          </a:prstGeom>
          <a:solidFill>
            <a:srgbClr val="1F6FEB"/>
          </a:solidFill>
          <a:ln w="12700">
            <a:solidFill>
              <a:srgbClr val="1F6FEB"/>
            </a:solidFill>
            <a:prstDash val="solid"/>
          </a:ln>
        </p:spPr>
      </p:sp>
      <p:pic>
        <p:nvPicPr>
          <p:cNvPr id="8" name="Image 0" descr="preencoded.png"/>
          <p:cNvPicPr>
            <a:picLocks noChangeAspect="1"/>
          </p:cNvPicPr>
          <p:nvPr/>
        </p:nvPicPr>
        <p:blipFill>
          <a:blip r:embed="rId3"/>
          <a:stretch>
            <a:fillRect/>
          </a:stretch>
        </p:blipFill>
        <p:spPr>
          <a:xfrm>
            <a:off x="919886" y="1785766"/>
            <a:ext cx="309067" cy="309067"/>
          </a:xfrm>
          <a:prstGeom prst="rect">
            <a:avLst/>
          </a:prstGeom>
        </p:spPr>
      </p:pic>
      <p:sp>
        <p:nvSpPr>
          <p:cNvPr id="9" name="Text 6"/>
          <p:cNvSpPr txBox="1"/>
          <p:nvPr/>
        </p:nvSpPr>
        <p:spPr>
          <a:xfrm>
            <a:off x="1508760" y="1688840"/>
            <a:ext cx="4174236" cy="502920"/>
          </a:xfrm>
          <a:prstGeom prst="rect">
            <a:avLst/>
          </a:prstGeom>
          <a:noFill/>
          <a:ln/>
        </p:spPr>
        <p:txBody>
          <a:bodyPr wrap="square" lIns="0" tIns="0" rIns="0" bIns="0" rtlCol="0" anchor="ctr"/>
          <a:lstStyle/>
          <a:p>
            <a:pPr marL="0" indent="0">
              <a:buNone/>
            </a:pPr>
            <a:r>
              <a:rPr lang="en-US" sz="2000" b="1" dirty="0">
                <a:solidFill>
                  <a:srgbClr val="0B2A5B"/>
                </a:solidFill>
                <a:latin typeface="Times New Roman" panose="02020603050405020304" pitchFamily="18" charset="0"/>
                <a:ea typeface="Times New Roman" pitchFamily="34" charset="-122"/>
                <a:cs typeface="Times New Roman" panose="02020603050405020304" pitchFamily="18" charset="0"/>
              </a:rPr>
              <a:t>Dòng trùng lặp</a:t>
            </a:r>
            <a:endParaRPr lang="en-US" sz="2000" dirty="0">
              <a:latin typeface="Times New Roman" panose="02020603050405020304" pitchFamily="18" charset="0"/>
              <a:cs typeface="Times New Roman" panose="02020603050405020304" pitchFamily="18" charset="0"/>
            </a:endParaRPr>
          </a:p>
        </p:txBody>
      </p:sp>
      <p:sp>
        <p:nvSpPr>
          <p:cNvPr id="10" name="Text 7"/>
          <p:cNvSpPr txBox="1"/>
          <p:nvPr/>
        </p:nvSpPr>
        <p:spPr>
          <a:xfrm>
            <a:off x="777240" y="2420360"/>
            <a:ext cx="4905756" cy="868680"/>
          </a:xfrm>
          <a:prstGeom prst="rect">
            <a:avLst/>
          </a:prstGeom>
          <a:noFill/>
          <a:ln/>
        </p:spPr>
        <p:txBody>
          <a:bodyPr wrap="square" lIns="0" tIns="0" rIns="0" bIns="0" rtlCol="0" anchor="ctr"/>
          <a:lstStyle/>
          <a:p>
            <a:pPr marL="0" indent="0">
              <a:buNone/>
            </a:pPr>
            <a:r>
              <a:rPr lang="en-US" sz="5000" b="1" dirty="0">
                <a:solidFill>
                  <a:srgbClr val="1F6FEB"/>
                </a:solidFill>
                <a:latin typeface="Times New Roman" panose="02020603050405020304" pitchFamily="18" charset="0"/>
                <a:ea typeface="Times New Roman" pitchFamily="34" charset="-122"/>
                <a:cs typeface="Times New Roman" panose="02020603050405020304" pitchFamily="18" charset="0"/>
              </a:rPr>
              <a:t>34,335</a:t>
            </a:r>
            <a:endParaRPr lang="en-US" sz="5000" dirty="0">
              <a:latin typeface="Times New Roman" panose="02020603050405020304" pitchFamily="18" charset="0"/>
              <a:cs typeface="Times New Roman" panose="02020603050405020304" pitchFamily="18" charset="0"/>
            </a:endParaRPr>
          </a:p>
        </p:txBody>
      </p:sp>
      <p:sp>
        <p:nvSpPr>
          <p:cNvPr id="11" name="Text 8"/>
          <p:cNvSpPr txBox="1"/>
          <p:nvPr/>
        </p:nvSpPr>
        <p:spPr>
          <a:xfrm>
            <a:off x="777240" y="3261608"/>
            <a:ext cx="4905756" cy="320040"/>
          </a:xfrm>
          <a:prstGeom prst="rect">
            <a:avLst/>
          </a:prstGeom>
          <a:noFill/>
          <a:ln/>
        </p:spPr>
        <p:txBody>
          <a:bodyPr wrap="square" lIns="0" tIns="0" rIns="0" bIns="0" rtlCol="0" anchor="ctr"/>
          <a:lstStyle/>
          <a:p>
            <a:pPr marL="0" indent="0">
              <a:buNone/>
            </a:pPr>
            <a:r>
              <a:rPr lang="vi-VN" sz="1600" dirty="0">
                <a:latin typeface="Times New Roman" panose="02020603050405020304" pitchFamily="18" charset="0"/>
                <a:ea typeface="Times New Roman" pitchFamily="34" charset="-122"/>
                <a:cs typeface="Times New Roman" panose="02020603050405020304" pitchFamily="18" charset="0"/>
              </a:rPr>
              <a:t>D</a:t>
            </a:r>
            <a:r>
              <a:rPr lang="en-US" sz="1600" dirty="0" err="1">
                <a:latin typeface="Times New Roman" panose="02020603050405020304" pitchFamily="18" charset="0"/>
                <a:ea typeface="Times New Roman" pitchFamily="34" charset="-122"/>
                <a:cs typeface="Times New Roman" panose="02020603050405020304" pitchFamily="18" charset="0"/>
              </a:rPr>
              <a:t>òng</a:t>
            </a:r>
            <a:r>
              <a:rPr lang="en-US" sz="1600" dirty="0">
                <a:latin typeface="Times New Roman" panose="02020603050405020304" pitchFamily="18" charset="0"/>
                <a:ea typeface="Times New Roman" pitchFamily="34" charset="-122"/>
                <a:cs typeface="Times New Roman" panose="02020603050405020304" pitchFamily="18" charset="0"/>
              </a:rPr>
              <a:t> </a:t>
            </a:r>
            <a:r>
              <a:rPr lang="en-US" sz="1600" dirty="0" err="1">
                <a:latin typeface="Times New Roman" panose="02020603050405020304" pitchFamily="18" charset="0"/>
                <a:ea typeface="Times New Roman" pitchFamily="34" charset="-122"/>
                <a:cs typeface="Times New Roman" panose="02020603050405020304" pitchFamily="18" charset="0"/>
              </a:rPr>
              <a:t>trùng</a:t>
            </a:r>
            <a:r>
              <a:rPr lang="en-US" sz="1600" dirty="0">
                <a:latin typeface="Times New Roman" panose="02020603050405020304" pitchFamily="18" charset="0"/>
                <a:ea typeface="Times New Roman" pitchFamily="34" charset="-122"/>
                <a:cs typeface="Times New Roman" panose="02020603050405020304" pitchFamily="18" charset="0"/>
              </a:rPr>
              <a:t> </a:t>
            </a:r>
            <a:r>
              <a:rPr lang="vi-VN" sz="1600" dirty="0">
                <a:latin typeface="Times New Roman" panose="02020603050405020304" pitchFamily="18" charset="0"/>
                <a:ea typeface="Times New Roman" pitchFamily="34" charset="-122"/>
                <a:cs typeface="Times New Roman" panose="02020603050405020304" pitchFamily="18" charset="0"/>
              </a:rPr>
              <a:t>lặp,</a:t>
            </a:r>
            <a:r>
              <a:rPr lang="en-US" sz="1600" dirty="0">
                <a:latin typeface="Times New Roman" panose="02020603050405020304" pitchFamily="18" charset="0"/>
                <a:ea typeface="Times New Roman" pitchFamily="34" charset="-122"/>
                <a:cs typeface="Times New Roman" panose="02020603050405020304" pitchFamily="18" charset="0"/>
              </a:rPr>
              <a:t> 3.22% tổng </a:t>
            </a:r>
            <a:r>
              <a:rPr lang="en-US" sz="1600" dirty="0" err="1">
                <a:latin typeface="Times New Roman" panose="02020603050405020304" pitchFamily="18" charset="0"/>
                <a:ea typeface="Times New Roman" pitchFamily="34" charset="-122"/>
                <a:cs typeface="Times New Roman" panose="02020603050405020304" pitchFamily="18" charset="0"/>
              </a:rPr>
              <a:t>số</a:t>
            </a:r>
            <a:r>
              <a:rPr lang="en-US" sz="1600" dirty="0">
                <a:latin typeface="Times New Roman" panose="02020603050405020304" pitchFamily="18" charset="0"/>
                <a:ea typeface="Times New Roman" pitchFamily="34" charset="-122"/>
                <a:cs typeface="Times New Roman" panose="02020603050405020304" pitchFamily="18" charset="0"/>
              </a:rPr>
              <a:t> </a:t>
            </a:r>
            <a:r>
              <a:rPr lang="vi-VN" sz="1600" dirty="0">
                <a:latin typeface="Times New Roman" panose="02020603050405020304" pitchFamily="18" charset="0"/>
                <a:ea typeface="Times New Roman" pitchFamily="34" charset="-122"/>
                <a:cs typeface="Times New Roman" panose="02020603050405020304" pitchFamily="18" charset="0"/>
              </a:rPr>
              <a:t>dòng.</a:t>
            </a:r>
            <a:endParaRPr lang="en-US" sz="1600" dirty="0">
              <a:latin typeface="Times New Roman" panose="02020603050405020304" pitchFamily="18" charset="0"/>
              <a:cs typeface="Times New Roman" panose="02020603050405020304" pitchFamily="18" charset="0"/>
            </a:endParaRPr>
          </a:p>
        </p:txBody>
      </p:sp>
      <p:sp>
        <p:nvSpPr>
          <p:cNvPr id="12" name="Text 9"/>
          <p:cNvSpPr txBox="1"/>
          <p:nvPr/>
        </p:nvSpPr>
        <p:spPr>
          <a:xfrm>
            <a:off x="777240" y="3746240"/>
            <a:ext cx="4905756" cy="2011680"/>
          </a:xfrm>
          <a:prstGeom prst="rect">
            <a:avLst/>
          </a:prstGeom>
          <a:noFill/>
          <a:ln/>
        </p:spPr>
        <p:txBody>
          <a:bodyPr wrap="square" lIns="0" tIns="0" rIns="0" bIns="0" rtlCol="0" anchor="t"/>
          <a:lstStyle/>
          <a:p>
            <a:pPr marL="203200" indent="-203200">
              <a:spcAft>
                <a:spcPts val="500"/>
              </a:spcAft>
              <a:buSzPct val="100000"/>
              <a:buChar char="•"/>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Kiểm tra trên toàn bộ cột, </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không</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tính </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cột</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Sheet.</a:t>
            </a:r>
            <a:endParaRPr lang="en-US" sz="1600" dirty="0">
              <a:latin typeface="Times New Roman" panose="02020603050405020304" pitchFamily="18" charset="0"/>
              <a:cs typeface="Times New Roman" panose="02020603050405020304" pitchFamily="18" charset="0"/>
            </a:endParaRPr>
          </a:p>
          <a:p>
            <a:pPr marL="203200" indent="-203200">
              <a:spcAft>
                <a:spcPts val="500"/>
              </a:spcAft>
              <a:buSzPct val="100000"/>
              <a:buChar char="•"/>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Giữ lần xuất hiện đầu tiên bằng </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drop_duplicates</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3" name="Shape 10"/>
          <p:cNvSpPr/>
          <p:nvPr/>
        </p:nvSpPr>
        <p:spPr>
          <a:xfrm>
            <a:off x="6277356" y="1505960"/>
            <a:ext cx="5362956" cy="4343400"/>
          </a:xfrm>
          <a:prstGeom prst="rect">
            <a:avLst/>
          </a:prstGeom>
          <a:solidFill>
            <a:srgbClr val="EAF2FF"/>
          </a:solidFill>
          <a:ln w="9525">
            <a:solidFill>
              <a:srgbClr val="C9DAF2"/>
            </a:solidFill>
            <a:prstDash val="solid"/>
          </a:ln>
        </p:spPr>
      </p:sp>
      <p:sp>
        <p:nvSpPr>
          <p:cNvPr id="14" name="Shape 11"/>
          <p:cNvSpPr/>
          <p:nvPr/>
        </p:nvSpPr>
        <p:spPr>
          <a:xfrm>
            <a:off x="6505956" y="1643120"/>
            <a:ext cx="594360" cy="594360"/>
          </a:xfrm>
          <a:prstGeom prst="ellipse">
            <a:avLst/>
          </a:prstGeom>
          <a:solidFill>
            <a:srgbClr val="C0392B"/>
          </a:solidFill>
          <a:ln w="12700">
            <a:solidFill>
              <a:srgbClr val="C0392B"/>
            </a:solidFill>
            <a:prstDash val="solid"/>
          </a:ln>
        </p:spPr>
      </p:sp>
      <p:pic>
        <p:nvPicPr>
          <p:cNvPr id="15" name="Image 1" descr="preencoded.png"/>
          <p:cNvPicPr>
            <a:picLocks noChangeAspect="1"/>
          </p:cNvPicPr>
          <p:nvPr/>
        </p:nvPicPr>
        <p:blipFill>
          <a:blip r:embed="rId4"/>
          <a:stretch>
            <a:fillRect/>
          </a:stretch>
        </p:blipFill>
        <p:spPr>
          <a:xfrm>
            <a:off x="6648602" y="1785766"/>
            <a:ext cx="309067" cy="309067"/>
          </a:xfrm>
          <a:prstGeom prst="rect">
            <a:avLst/>
          </a:prstGeom>
        </p:spPr>
      </p:pic>
      <p:sp>
        <p:nvSpPr>
          <p:cNvPr id="16" name="Text 12"/>
          <p:cNvSpPr txBox="1"/>
          <p:nvPr/>
        </p:nvSpPr>
        <p:spPr>
          <a:xfrm>
            <a:off x="7237476" y="1688840"/>
            <a:ext cx="4174236" cy="502920"/>
          </a:xfrm>
          <a:prstGeom prst="rect">
            <a:avLst/>
          </a:prstGeom>
          <a:noFill/>
          <a:ln/>
        </p:spPr>
        <p:txBody>
          <a:bodyPr wrap="square" lIns="0" tIns="0" rIns="0" bIns="0" rtlCol="0" anchor="ctr"/>
          <a:lstStyle/>
          <a:p>
            <a:pPr marL="0" indent="0">
              <a:buNone/>
            </a:pPr>
            <a:r>
              <a:rPr lang="en-US" sz="2000" b="1" dirty="0">
                <a:solidFill>
                  <a:srgbClr val="0B2A5B"/>
                </a:solidFill>
                <a:latin typeface="Times New Roman" panose="02020603050405020304" pitchFamily="18" charset="0"/>
                <a:ea typeface="Times New Roman" pitchFamily="34" charset="-122"/>
                <a:cs typeface="Times New Roman" panose="02020603050405020304" pitchFamily="18" charset="0"/>
              </a:rPr>
              <a:t>Hoá đơn </a:t>
            </a:r>
            <a:r>
              <a:rPr lang="en-US" sz="2000" b="1" dirty="0" err="1">
                <a:solidFill>
                  <a:srgbClr val="0B2A5B"/>
                </a:solidFill>
                <a:latin typeface="Times New Roman" panose="02020603050405020304" pitchFamily="18" charset="0"/>
                <a:ea typeface="Times New Roman" pitchFamily="34" charset="-122"/>
                <a:cs typeface="Times New Roman" panose="02020603050405020304" pitchFamily="18" charset="0"/>
              </a:rPr>
              <a:t>huỷ</a:t>
            </a:r>
            <a:r>
              <a:rPr lang="en-US" sz="2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vi-VN" sz="2000" b="1" dirty="0">
                <a:solidFill>
                  <a:srgbClr val="0B2A5B"/>
                </a:solidFill>
                <a:latin typeface="Times New Roman" panose="02020603050405020304" pitchFamily="18" charset="0"/>
                <a:ea typeface="Times New Roman" pitchFamily="34" charset="-122"/>
                <a:cs typeface="Times New Roman" panose="02020603050405020304" pitchFamily="18" charset="0"/>
              </a:rPr>
              <a:t>B</a:t>
            </a:r>
            <a:r>
              <a:rPr lang="en-US" sz="2000" b="1" dirty="0" err="1">
                <a:solidFill>
                  <a:srgbClr val="0B2A5B"/>
                </a:solidFill>
                <a:latin typeface="Times New Roman" panose="02020603050405020304" pitchFamily="18" charset="0"/>
                <a:ea typeface="Times New Roman" pitchFamily="34" charset="-122"/>
                <a:cs typeface="Times New Roman" panose="02020603050405020304" pitchFamily="18" charset="0"/>
              </a:rPr>
              <a:t>ắt</a:t>
            </a:r>
            <a:r>
              <a:rPr lang="en-US" sz="2000" b="1" dirty="0">
                <a:solidFill>
                  <a:srgbClr val="0B2A5B"/>
                </a:solidFill>
                <a:latin typeface="Times New Roman" panose="02020603050405020304" pitchFamily="18" charset="0"/>
                <a:ea typeface="Times New Roman" pitchFamily="34" charset="-122"/>
                <a:cs typeface="Times New Roman" panose="02020603050405020304" pitchFamily="18" charset="0"/>
              </a:rPr>
              <a:t> đầu bằng “C”)</a:t>
            </a:r>
            <a:endParaRPr lang="en-US" sz="2000" dirty="0">
              <a:latin typeface="Times New Roman" panose="02020603050405020304" pitchFamily="18" charset="0"/>
              <a:cs typeface="Times New Roman" panose="02020603050405020304" pitchFamily="18" charset="0"/>
            </a:endParaRPr>
          </a:p>
        </p:txBody>
      </p:sp>
      <p:sp>
        <p:nvSpPr>
          <p:cNvPr id="17" name="Text 13"/>
          <p:cNvSpPr txBox="1"/>
          <p:nvPr/>
        </p:nvSpPr>
        <p:spPr>
          <a:xfrm>
            <a:off x="6505956" y="2420360"/>
            <a:ext cx="4905756" cy="868680"/>
          </a:xfrm>
          <a:prstGeom prst="rect">
            <a:avLst/>
          </a:prstGeom>
          <a:noFill/>
          <a:ln/>
        </p:spPr>
        <p:txBody>
          <a:bodyPr wrap="square" lIns="0" tIns="0" rIns="0" bIns="0" rtlCol="0" anchor="ctr"/>
          <a:lstStyle/>
          <a:p>
            <a:pPr marL="0" indent="0">
              <a:buNone/>
            </a:pPr>
            <a:r>
              <a:rPr lang="en-US" sz="5000" b="1" dirty="0">
                <a:solidFill>
                  <a:srgbClr val="C0392B"/>
                </a:solidFill>
                <a:latin typeface="Times New Roman" panose="02020603050405020304" pitchFamily="18" charset="0"/>
                <a:ea typeface="Times New Roman" pitchFamily="34" charset="-122"/>
                <a:cs typeface="Times New Roman" panose="02020603050405020304" pitchFamily="18" charset="0"/>
              </a:rPr>
              <a:t>15.46%</a:t>
            </a:r>
            <a:endParaRPr lang="en-US" sz="5000" dirty="0">
              <a:latin typeface="Times New Roman" panose="02020603050405020304" pitchFamily="18" charset="0"/>
              <a:cs typeface="Times New Roman" panose="02020603050405020304" pitchFamily="18" charset="0"/>
            </a:endParaRPr>
          </a:p>
        </p:txBody>
      </p:sp>
      <p:sp>
        <p:nvSpPr>
          <p:cNvPr id="18" name="Text 14"/>
          <p:cNvSpPr txBox="1"/>
          <p:nvPr/>
        </p:nvSpPr>
        <p:spPr>
          <a:xfrm>
            <a:off x="6515287" y="3261608"/>
            <a:ext cx="4905756" cy="320040"/>
          </a:xfrm>
          <a:prstGeom prst="rect">
            <a:avLst/>
          </a:prstGeom>
          <a:noFill/>
          <a:ln/>
        </p:spPr>
        <p:txBody>
          <a:bodyPr wrap="square" lIns="0" tIns="0" rIns="0" bIns="0" rtlCol="0" anchor="ctr"/>
          <a:lstStyle/>
          <a:p>
            <a:r>
              <a:rPr lang="vi-VN" sz="1600" dirty="0">
                <a:latin typeface="Times New Roman" panose="02020603050405020304" pitchFamily="18" charset="0"/>
                <a:ea typeface="Times New Roman" pitchFamily="34" charset="-122"/>
                <a:cs typeface="Times New Roman" panose="02020603050405020304" pitchFamily="18" charset="0"/>
              </a:rPr>
              <a:t>S</a:t>
            </a:r>
            <a:r>
              <a:rPr lang="en-US" sz="1600" dirty="0">
                <a:latin typeface="Times New Roman" panose="02020603050405020304" pitchFamily="18" charset="0"/>
                <a:ea typeface="Times New Roman" pitchFamily="34" charset="-122"/>
                <a:cs typeface="Times New Roman" panose="02020603050405020304" pitchFamily="18" charset="0"/>
              </a:rPr>
              <a:t>ố hoá đơn bị </a:t>
            </a:r>
            <a:r>
              <a:rPr lang="en-US" sz="1600" dirty="0" err="1">
                <a:latin typeface="Times New Roman" panose="02020603050405020304" pitchFamily="18" charset="0"/>
                <a:ea typeface="Times New Roman" pitchFamily="34" charset="-122"/>
                <a:cs typeface="Times New Roman" panose="02020603050405020304" pitchFamily="18" charset="0"/>
              </a:rPr>
              <a:t>huỷ</a:t>
            </a:r>
            <a:r>
              <a:rPr lang="en-US" sz="1600" dirty="0">
                <a:latin typeface="Times New Roman" panose="02020603050405020304" pitchFamily="18" charset="0"/>
                <a:ea typeface="Times New Roman" pitchFamily="34" charset="-122"/>
                <a:cs typeface="Times New Roman" panose="02020603050405020304" pitchFamily="18" charset="0"/>
              </a:rPr>
              <a:t> </a:t>
            </a:r>
            <a:r>
              <a:rPr lang="vi-VN" sz="1600" dirty="0">
                <a:latin typeface="Times New Roman" panose="02020603050405020304" pitchFamily="18" charset="0"/>
                <a:ea typeface="Times New Roman" pitchFamily="34" charset="-122"/>
                <a:cs typeface="Times New Roman" panose="02020603050405020304" pitchFamily="18" charset="0"/>
              </a:rPr>
              <a:t>(</a:t>
            </a:r>
            <a:r>
              <a:rPr lang="en-US" sz="1600" dirty="0">
                <a:latin typeface="Times New Roman" panose="02020603050405020304" pitchFamily="18" charset="0"/>
                <a:ea typeface="Times New Roman" pitchFamily="34" charset="-122"/>
                <a:cs typeface="Times New Roman" panose="02020603050405020304" pitchFamily="18" charset="0"/>
              </a:rPr>
              <a:t>8,292 / 53,</a:t>
            </a:r>
            <a:r>
              <a:rPr lang="vi-VN" sz="1600" dirty="0">
                <a:latin typeface="Times New Roman" panose="02020603050405020304" pitchFamily="18" charset="0"/>
                <a:ea typeface="Times New Roman" pitchFamily="34" charset="-122"/>
                <a:cs typeface="Times New Roman" panose="02020603050405020304" pitchFamily="18" charset="0"/>
              </a:rPr>
              <a:t>628)</a:t>
            </a:r>
            <a:endParaRPr lang="en-US" sz="1600" dirty="0">
              <a:latin typeface="Times New Roman" panose="02020603050405020304" pitchFamily="18" charset="0"/>
              <a:cs typeface="Times New Roman" panose="02020603050405020304" pitchFamily="18" charset="0"/>
            </a:endParaRPr>
          </a:p>
        </p:txBody>
      </p:sp>
      <p:sp>
        <p:nvSpPr>
          <p:cNvPr id="19" name="Text 15"/>
          <p:cNvSpPr txBox="1"/>
          <p:nvPr/>
        </p:nvSpPr>
        <p:spPr>
          <a:xfrm>
            <a:off x="6505956" y="3746240"/>
            <a:ext cx="4905756" cy="2011680"/>
          </a:xfrm>
          <a:prstGeom prst="rect">
            <a:avLst/>
          </a:prstGeom>
          <a:noFill/>
          <a:ln/>
        </p:spPr>
        <p:txBody>
          <a:bodyPr wrap="square" lIns="0" tIns="0" rIns="0" bIns="0" rtlCol="0" anchor="t"/>
          <a:lstStyle/>
          <a:p>
            <a:pPr marL="203200" indent="-203200">
              <a:spcAft>
                <a:spcPts val="500"/>
              </a:spcAft>
              <a:buSzPct val="100000"/>
              <a:buChar char="•"/>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Chiếm 19,494 </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dòng,</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chỉ 1.83% số dòng, vì hoá đơn huỷ </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thường</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ngắn.</a:t>
            </a:r>
            <a:endParaRPr lang="en-US" sz="1600" dirty="0">
              <a:latin typeface="Times New Roman" panose="02020603050405020304" pitchFamily="18" charset="0"/>
              <a:cs typeface="Times New Roman" panose="02020603050405020304" pitchFamily="18" charset="0"/>
            </a:endParaRPr>
          </a:p>
          <a:p>
            <a:pPr marL="203200" indent="-203200">
              <a:spcAft>
                <a:spcPts val="500"/>
              </a:spcAft>
              <a:buSzPct val="100000"/>
              <a:buChar char="•"/>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Đi kèm Quantity </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âm</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T</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rả</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hàng / </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H</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uỷ</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đơn</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a:t>
            </a:r>
            <a:endParaRPr lang="vi-VN" sz="1600" dirty="0">
              <a:latin typeface="Times New Roman" panose="02020603050405020304" pitchFamily="18" charset="0"/>
              <a:cs typeface="Times New Roman" panose="02020603050405020304" pitchFamily="18" charset="0"/>
            </a:endParaRPr>
          </a:p>
          <a:p>
            <a:pPr marL="203200" indent="-203200">
              <a:spcAft>
                <a:spcPts val="500"/>
              </a:spcAft>
              <a:buSzPct val="100000"/>
              <a:buChar char="•"/>
            </a:pP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Loại</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khỏi tập giao dịch trước khi chạy MBA và RFM/</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Churn.</a:t>
            </a:r>
            <a:endParaRPr lang="en-US" sz="1600" dirty="0">
              <a:latin typeface="Times New Roman" panose="02020603050405020304" pitchFamily="18" charset="0"/>
              <a:cs typeface="Times New Roman" panose="02020603050405020304" pitchFamily="18" charset="0"/>
            </a:endParaRPr>
          </a:p>
        </p:txBody>
      </p:sp>
      <p:sp>
        <p:nvSpPr>
          <p:cNvPr id="21" name="Text 0">
            <a:extLst>
              <a:ext uri="{FF2B5EF4-FFF2-40B4-BE49-F238E27FC236}">
                <a16:creationId xmlns:a16="http://schemas.microsoft.com/office/drawing/2014/main" id="{8133E98D-5B51-CD52-4F2F-B9A15411EB50}"/>
              </a:ext>
            </a:extLst>
          </p:cNvPr>
          <p:cNvSpPr txBox="1"/>
          <p:nvPr/>
        </p:nvSpPr>
        <p:spPr>
          <a:xfrm>
            <a:off x="548640" y="48512"/>
            <a:ext cx="10515600" cy="660610"/>
          </a:xfrm>
          <a:prstGeom prst="rect">
            <a:avLst/>
          </a:prstGeom>
          <a:noFill/>
          <a:ln/>
        </p:spPr>
        <p:txBody>
          <a:bodyPr wrap="square" lIns="0" tIns="0" rIns="0" bIns="0" rtlCol="0" anchor="ctr"/>
          <a:lstStyle/>
          <a:p>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 Understanding —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Dòng trùng lặp và Hóa đơn hủy</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3" name="Text 2">
            <a:extLst>
              <a:ext uri="{FF2B5EF4-FFF2-40B4-BE49-F238E27FC236}">
                <a16:creationId xmlns:a16="http://schemas.microsoft.com/office/drawing/2014/main" id="{F918CF23-0810-EAB3-9E1B-8E6FACB95E92}"/>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716595"/>
            <a:ext cx="11091672" cy="365760"/>
          </a:xfrm>
          <a:prstGeom prst="rect">
            <a:avLst/>
          </a:prstGeom>
          <a:noFill/>
          <a:ln/>
        </p:spPr>
        <p:txBody>
          <a:bodyPr wrap="square" lIns="0" tIns="0" rIns="0" bIns="0" rtlCol="0" anchor="t"/>
          <a:lstStyle/>
          <a:p>
            <a:pPr marL="0" indent="0">
              <a:buNone/>
            </a:pPr>
            <a:r>
              <a:rPr lang="en-US" i="1" dirty="0">
                <a:latin typeface="Times New Roman" panose="02020603050405020304" pitchFamily="18" charset="0"/>
                <a:ea typeface="Times New Roman" pitchFamily="34" charset="-122"/>
                <a:cs typeface="Times New Roman" panose="02020603050405020304" pitchFamily="18" charset="0"/>
              </a:rPr>
              <a:t>Không phải mọi dòng Quantity âm đều là hoá đơn huỷ</a:t>
            </a:r>
            <a:endParaRPr lang="en-US" dirty="0">
              <a:latin typeface="Times New Roman" panose="02020603050405020304" pitchFamily="18" charset="0"/>
              <a:cs typeface="Times New Roman" panose="02020603050405020304" pitchFamily="18" charset="0"/>
            </a:endParaRPr>
          </a:p>
        </p:txBody>
      </p:sp>
      <p:sp>
        <p:nvSpPr>
          <p:cNvPr id="4" name="Text 2"/>
          <p:cNvSpPr txBox="1"/>
          <p:nvPr/>
        </p:nvSpPr>
        <p:spPr>
          <a:xfrm>
            <a:off x="10725912" y="6494105"/>
            <a:ext cx="914400" cy="274320"/>
          </a:xfrm>
          <a:prstGeom prst="rect">
            <a:avLst/>
          </a:prstGeom>
          <a:noFill/>
          <a:ln/>
        </p:spPr>
        <p:txBody>
          <a:bodyPr wrap="square" lIns="0" tIns="0" rIns="0" bIns="0" rtlCol="0" anchor="ctr"/>
          <a:lstStyle/>
          <a:p>
            <a:pPr marL="0" indent="0" algn="r">
              <a:buNone/>
            </a:pPr>
            <a:r>
              <a:rPr lang="en-US" sz="1200" dirty="0">
                <a:solidFill>
                  <a:srgbClr val="5B6B82"/>
                </a:solidFill>
                <a:latin typeface="Times New Roman" panose="02020603050405020304" pitchFamily="18" charset="0"/>
                <a:ea typeface="Times New Roman" pitchFamily="34" charset="-122"/>
                <a:cs typeface="Times New Roman" panose="02020603050405020304" pitchFamily="18" charset="0"/>
              </a:rPr>
              <a:t>10</a:t>
            </a:r>
            <a:endParaRPr lang="en-US" sz="1200" dirty="0">
              <a:latin typeface="Times New Roman" panose="02020603050405020304" pitchFamily="18" charset="0"/>
              <a:cs typeface="Times New Roman" panose="02020603050405020304" pitchFamily="18" charset="0"/>
            </a:endParaRPr>
          </a:p>
        </p:txBody>
      </p:sp>
      <p:sp>
        <p:nvSpPr>
          <p:cNvPr id="6" name="Text 4"/>
          <p:cNvSpPr txBox="1"/>
          <p:nvPr/>
        </p:nvSpPr>
        <p:spPr>
          <a:xfrm>
            <a:off x="548640" y="1441581"/>
            <a:ext cx="5486400" cy="320040"/>
          </a:xfrm>
          <a:prstGeom prst="rect">
            <a:avLst/>
          </a:prstGeom>
          <a:noFill/>
          <a:ln/>
        </p:spPr>
        <p:txBody>
          <a:bodyPr wrap="square" lIns="0" tIns="0" rIns="0" bIns="0" rtlCol="0" anchor="ctr"/>
          <a:lstStyle/>
          <a:p>
            <a:pPr marL="0" indent="0">
              <a:buNone/>
            </a:pPr>
            <a:r>
              <a:rPr lang="en-US" b="1" dirty="0">
                <a:solidFill>
                  <a:srgbClr val="0B2A5B"/>
                </a:solidFill>
                <a:latin typeface="Times New Roman" panose="02020603050405020304" pitchFamily="18" charset="0"/>
                <a:ea typeface="Times New Roman" pitchFamily="34" charset="-122"/>
                <a:cs typeface="Times New Roman" panose="02020603050405020304" pitchFamily="18" charset="0"/>
              </a:rPr>
              <a:t>Phân rã 22,950 dòng có Quantity âm</a:t>
            </a:r>
            <a:endParaRPr lang="en-US" dirty="0">
              <a:latin typeface="Times New Roman" panose="02020603050405020304" pitchFamily="18" charset="0"/>
              <a:cs typeface="Times New Roman" panose="02020603050405020304" pitchFamily="18" charset="0"/>
            </a:endParaRPr>
          </a:p>
        </p:txBody>
      </p:sp>
      <p:sp>
        <p:nvSpPr>
          <p:cNvPr id="14" name="Shape 12"/>
          <p:cNvSpPr/>
          <p:nvPr/>
        </p:nvSpPr>
        <p:spPr>
          <a:xfrm>
            <a:off x="543440" y="3275971"/>
            <a:ext cx="5577840" cy="1725238"/>
          </a:xfrm>
          <a:prstGeom prst="rect">
            <a:avLst/>
          </a:prstGeom>
          <a:solidFill>
            <a:srgbClr val="EAF2FF"/>
          </a:solidFill>
          <a:ln w="9525">
            <a:solidFill>
              <a:srgbClr val="C9DAF2"/>
            </a:solidFill>
            <a:prstDash val="solid"/>
          </a:ln>
        </p:spPr>
      </p:sp>
      <p:sp>
        <p:nvSpPr>
          <p:cNvPr id="15" name="Text 13"/>
          <p:cNvSpPr txBox="1"/>
          <p:nvPr/>
        </p:nvSpPr>
        <p:spPr>
          <a:xfrm>
            <a:off x="731520" y="3432163"/>
            <a:ext cx="5212080" cy="292608"/>
          </a:xfrm>
          <a:prstGeom prst="rect">
            <a:avLst/>
          </a:prstGeom>
          <a:noFill/>
          <a:ln/>
        </p:spPr>
        <p:txBody>
          <a:bodyPr wrap="square" lIns="0" tIns="0" rIns="0" bIns="0" rtlCol="0" anchor="ctr"/>
          <a:lstStyle/>
          <a:p>
            <a:pPr marL="0" indent="0">
              <a:buNone/>
            </a:pPr>
            <a:r>
              <a:rPr lang="en-US" sz="1700" b="1" dirty="0">
                <a:solidFill>
                  <a:srgbClr val="0B2A5B"/>
                </a:solidFill>
                <a:latin typeface="Times New Roman" panose="02020603050405020304" pitchFamily="18" charset="0"/>
                <a:ea typeface="Times New Roman" pitchFamily="34" charset="-122"/>
                <a:cs typeface="Times New Roman" panose="02020603050405020304" pitchFamily="18" charset="0"/>
              </a:rPr>
              <a:t>Dấu hiệu nhận diện nhóm 3,457 dòng</a:t>
            </a:r>
            <a:endParaRPr lang="en-US" sz="17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731520" y="3882239"/>
            <a:ext cx="5212080" cy="997673"/>
          </a:xfrm>
          <a:prstGeom prst="rect">
            <a:avLst/>
          </a:prstGeom>
          <a:noFill/>
          <a:ln/>
        </p:spPr>
        <p:txBody>
          <a:bodyPr wrap="square" lIns="0" tIns="0" rIns="0" bIns="0" rtlCol="0" anchor="t"/>
          <a:lstStyle/>
          <a:p>
            <a:pPr marL="203200" indent="-203200">
              <a:spcAft>
                <a:spcPts val="400"/>
              </a:spcAft>
              <a:buSzPct val="100000"/>
              <a:buChar char="•"/>
            </a:pPr>
            <a:r>
              <a:rPr lang="en-US" sz="1600" b="1" dirty="0">
                <a:solidFill>
                  <a:srgbClr val="0B2A5B"/>
                </a:solidFill>
                <a:latin typeface="Times New Roman" panose="02020603050405020304" pitchFamily="18" charset="0"/>
                <a:ea typeface="Times New Roman" pitchFamily="34" charset="-122"/>
                <a:cs typeface="Times New Roman" panose="02020603050405020304" pitchFamily="18" charset="0"/>
              </a:rPr>
              <a:t>100% </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có Price = 0 và 100% thiếu Customer ID</a:t>
            </a:r>
            <a:endParaRPr lang="en-US" sz="16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600" b="1" dirty="0">
                <a:solidFill>
                  <a:srgbClr val="0B2A5B"/>
                </a:solidFill>
                <a:latin typeface="Times New Roman" panose="02020603050405020304" pitchFamily="18" charset="0"/>
                <a:ea typeface="Times New Roman" pitchFamily="34" charset="-122"/>
                <a:cs typeface="Times New Roman" panose="02020603050405020304" pitchFamily="18" charset="0"/>
              </a:rPr>
              <a:t>481 dòng </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có Description chứa từ khoá: damage, missing, check, thrown away, lost…</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6378390" y="811763"/>
            <a:ext cx="5261922" cy="1925991"/>
          </a:xfrm>
          <a:prstGeom prst="rect">
            <a:avLst/>
          </a:prstGeom>
          <a:solidFill>
            <a:srgbClr val="EAF2FF"/>
          </a:solidFill>
          <a:ln w="9525">
            <a:solidFill>
              <a:srgbClr val="C9DAF2"/>
            </a:solidFill>
            <a:prstDash val="solid"/>
          </a:ln>
        </p:spPr>
      </p:sp>
      <p:sp>
        <p:nvSpPr>
          <p:cNvPr id="18" name="Shape 16"/>
          <p:cNvSpPr/>
          <p:nvPr/>
        </p:nvSpPr>
        <p:spPr>
          <a:xfrm>
            <a:off x="6663998" y="981957"/>
            <a:ext cx="514042" cy="502920"/>
          </a:xfrm>
          <a:prstGeom prst="ellipse">
            <a:avLst/>
          </a:prstGeom>
          <a:solidFill>
            <a:srgbClr val="C0392B"/>
          </a:solidFill>
          <a:ln w="12700">
            <a:solidFill>
              <a:srgbClr val="C0392B"/>
            </a:solidFill>
            <a:prstDash val="solid"/>
          </a:ln>
        </p:spPr>
      </p:sp>
      <p:pic>
        <p:nvPicPr>
          <p:cNvPr id="19" name="Image 0" descr="preencoded.png"/>
          <p:cNvPicPr>
            <a:picLocks noChangeAspect="1"/>
          </p:cNvPicPr>
          <p:nvPr/>
        </p:nvPicPr>
        <p:blipFill>
          <a:blip r:embed="rId3"/>
          <a:stretch>
            <a:fillRect/>
          </a:stretch>
        </p:blipFill>
        <p:spPr>
          <a:xfrm>
            <a:off x="6790038" y="1046672"/>
            <a:ext cx="267301" cy="261518"/>
          </a:xfrm>
          <a:prstGeom prst="rect">
            <a:avLst/>
          </a:prstGeom>
        </p:spPr>
      </p:pic>
      <p:sp>
        <p:nvSpPr>
          <p:cNvPr id="20" name="Text 17"/>
          <p:cNvSpPr txBox="1"/>
          <p:nvPr/>
        </p:nvSpPr>
        <p:spPr>
          <a:xfrm>
            <a:off x="7223594" y="944259"/>
            <a:ext cx="4233838" cy="457200"/>
          </a:xfrm>
          <a:prstGeom prst="rect">
            <a:avLst/>
          </a:prstGeom>
          <a:noFill/>
          <a:ln/>
        </p:spPr>
        <p:txBody>
          <a:bodyPr wrap="square" lIns="0" tIns="0" rIns="0" bIns="0" rtlCol="0" anchor="ctr"/>
          <a:lstStyle/>
          <a:p>
            <a:pPr marL="0" indent="0">
              <a:buNone/>
            </a:pPr>
            <a:r>
              <a:rPr lang="en-US" sz="1700" b="1" dirty="0">
                <a:solidFill>
                  <a:srgbClr val="0B2A5B"/>
                </a:solidFill>
                <a:latin typeface="Times New Roman" panose="02020603050405020304" pitchFamily="18" charset="0"/>
                <a:ea typeface="Times New Roman" pitchFamily="34" charset="-122"/>
                <a:cs typeface="Times New Roman" panose="02020603050405020304" pitchFamily="18" charset="0"/>
              </a:rPr>
              <a:t>“Adjust bad debt” — </a:t>
            </a:r>
            <a:r>
              <a:rPr lang="vi-VN" sz="1700" b="1" dirty="0">
                <a:solidFill>
                  <a:srgbClr val="0B2A5B"/>
                </a:solidFill>
                <a:latin typeface="Times New Roman" panose="02020603050405020304" pitchFamily="18" charset="0"/>
                <a:ea typeface="Times New Roman" pitchFamily="34" charset="-122"/>
                <a:cs typeface="Times New Roman" panose="02020603050405020304" pitchFamily="18" charset="0"/>
              </a:rPr>
              <a:t>B</a:t>
            </a:r>
            <a:r>
              <a:rPr lang="en-US" sz="1700" b="1" dirty="0" err="1">
                <a:solidFill>
                  <a:srgbClr val="0B2A5B"/>
                </a:solidFill>
                <a:latin typeface="Times New Roman" panose="02020603050405020304" pitchFamily="18" charset="0"/>
                <a:ea typeface="Times New Roman" pitchFamily="34" charset="-122"/>
                <a:cs typeface="Times New Roman" panose="02020603050405020304" pitchFamily="18" charset="0"/>
              </a:rPr>
              <a:t>út</a:t>
            </a:r>
            <a:r>
              <a:rPr lang="en-US" sz="1700" b="1" dirty="0">
                <a:solidFill>
                  <a:srgbClr val="0B2A5B"/>
                </a:solidFill>
                <a:latin typeface="Times New Roman" panose="02020603050405020304" pitchFamily="18" charset="0"/>
                <a:ea typeface="Times New Roman" pitchFamily="34" charset="-122"/>
                <a:cs typeface="Times New Roman" panose="02020603050405020304" pitchFamily="18" charset="0"/>
              </a:rPr>
              <a:t> toán xoá nợ xấu</a:t>
            </a:r>
            <a:endParaRPr lang="en-US" sz="1700" dirty="0">
              <a:latin typeface="Times New Roman" panose="02020603050405020304" pitchFamily="18" charset="0"/>
              <a:cs typeface="Times New Roman" panose="02020603050405020304" pitchFamily="18" charset="0"/>
            </a:endParaRPr>
          </a:p>
        </p:txBody>
      </p:sp>
      <p:sp>
        <p:nvSpPr>
          <p:cNvPr id="21" name="Text 18"/>
          <p:cNvSpPr txBox="1"/>
          <p:nvPr/>
        </p:nvSpPr>
        <p:spPr>
          <a:xfrm>
            <a:off x="6569359" y="1537299"/>
            <a:ext cx="5070953" cy="1093934"/>
          </a:xfrm>
          <a:prstGeom prst="rect">
            <a:avLst/>
          </a:prstGeom>
          <a:noFill/>
          <a:ln/>
        </p:spPr>
        <p:txBody>
          <a:bodyPr wrap="square" lIns="0" tIns="0" rIns="0" bIns="0" rtlCol="0" anchor="t"/>
          <a:lstStyle/>
          <a:p>
            <a:pPr marL="203200" indent="-203200">
              <a:spcAft>
                <a:spcPts val="400"/>
              </a:spcAft>
              <a:buSzPct val="100000"/>
              <a:buChar char="•"/>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6 dòng: Invoice bắt đầu bằng “A” và StockCode = “B”</a:t>
            </a:r>
            <a:endParaRPr lang="en-US" sz="16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Giá trị đơn lẻ lớn: −£53,594.36; −£44,031.79; −£38,925.87</a:t>
            </a:r>
            <a:endParaRPr lang="en-US" sz="16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Không phải giao </a:t>
            </a:r>
            <a:r>
              <a:rPr lang="en-US" sz="1600" dirty="0" err="1">
                <a:solidFill>
                  <a:srgbClr val="1A2B45"/>
                </a:solidFill>
                <a:latin typeface="Times New Roman" panose="02020603050405020304" pitchFamily="18" charset="0"/>
                <a:ea typeface="Times New Roman" pitchFamily="34" charset="-122"/>
                <a:cs typeface="Times New Roman" panose="02020603050405020304" pitchFamily="18" charset="0"/>
              </a:rPr>
              <a:t>dịch</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600" dirty="0">
                <a:solidFill>
                  <a:srgbClr val="1A2B45"/>
                </a:solidFill>
                <a:latin typeface="Times New Roman" panose="02020603050405020304" pitchFamily="18" charset="0"/>
                <a:ea typeface="Times New Roman" pitchFamily="34" charset="-122"/>
                <a:cs typeface="Times New Roman" panose="02020603050405020304" pitchFamily="18" charset="0"/>
              </a:rPr>
              <a:t>thật,</a:t>
            </a: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 nếu giữ lại sẽ làm méo Monetary</a:t>
            </a:r>
            <a:endParaRPr lang="en-US" sz="1600" dirty="0">
              <a:latin typeface="Times New Roman" panose="02020603050405020304" pitchFamily="18" charset="0"/>
              <a:cs typeface="Times New Roman" panose="02020603050405020304" pitchFamily="18" charset="0"/>
            </a:endParaRPr>
          </a:p>
        </p:txBody>
      </p:sp>
      <p:sp>
        <p:nvSpPr>
          <p:cNvPr id="22" name="Shape 19"/>
          <p:cNvSpPr/>
          <p:nvPr/>
        </p:nvSpPr>
        <p:spPr>
          <a:xfrm>
            <a:off x="6492240" y="4812301"/>
            <a:ext cx="5148072" cy="1680875"/>
          </a:xfrm>
          <a:prstGeom prst="rect">
            <a:avLst/>
          </a:prstGeom>
          <a:solidFill>
            <a:srgbClr val="EAF2FF"/>
          </a:solidFill>
          <a:ln w="9525">
            <a:solidFill>
              <a:srgbClr val="C9DAF2"/>
            </a:solidFill>
            <a:prstDash val="solid"/>
          </a:ln>
        </p:spPr>
      </p:sp>
      <p:sp>
        <p:nvSpPr>
          <p:cNvPr id="23" name="Shape 20"/>
          <p:cNvSpPr/>
          <p:nvPr/>
        </p:nvSpPr>
        <p:spPr>
          <a:xfrm>
            <a:off x="6675120" y="4918541"/>
            <a:ext cx="502920" cy="502920"/>
          </a:xfrm>
          <a:prstGeom prst="ellipse">
            <a:avLst/>
          </a:prstGeom>
          <a:solidFill>
            <a:srgbClr val="1F6FEB"/>
          </a:solidFill>
          <a:ln w="12700">
            <a:solidFill>
              <a:srgbClr val="1F6FEB"/>
            </a:solidFill>
            <a:prstDash val="solid"/>
          </a:ln>
        </p:spPr>
      </p:sp>
      <p:pic>
        <p:nvPicPr>
          <p:cNvPr id="24" name="Image 1" descr="preencoded.png"/>
          <p:cNvPicPr>
            <a:picLocks noChangeAspect="1"/>
          </p:cNvPicPr>
          <p:nvPr/>
        </p:nvPicPr>
        <p:blipFill>
          <a:blip r:embed="rId4"/>
          <a:stretch>
            <a:fillRect/>
          </a:stretch>
        </p:blipFill>
        <p:spPr>
          <a:xfrm>
            <a:off x="6795821" y="5039242"/>
            <a:ext cx="261518" cy="261518"/>
          </a:xfrm>
          <a:prstGeom prst="rect">
            <a:avLst/>
          </a:prstGeom>
        </p:spPr>
      </p:pic>
      <p:sp>
        <p:nvSpPr>
          <p:cNvPr id="25" name="Text 21"/>
          <p:cNvSpPr txBox="1"/>
          <p:nvPr/>
        </p:nvSpPr>
        <p:spPr>
          <a:xfrm>
            <a:off x="7315200" y="4936829"/>
            <a:ext cx="4142232" cy="457200"/>
          </a:xfrm>
          <a:prstGeom prst="rect">
            <a:avLst/>
          </a:prstGeom>
          <a:noFill/>
          <a:ln/>
        </p:spPr>
        <p:txBody>
          <a:bodyPr wrap="square" lIns="0" tIns="0" rIns="0" bIns="0" rtlCol="0" anchor="ctr"/>
          <a:lstStyle/>
          <a:p>
            <a:pPr marL="0" indent="0">
              <a:buNone/>
            </a:pPr>
            <a:r>
              <a:rPr lang="vi-VN" sz="1700" b="1" dirty="0">
                <a:solidFill>
                  <a:srgbClr val="0B2A5B"/>
                </a:solidFill>
                <a:latin typeface="Times New Roman" panose="02020603050405020304" pitchFamily="18" charset="0"/>
                <a:ea typeface="Times New Roman" pitchFamily="34" charset="-122"/>
                <a:cs typeface="Times New Roman" panose="02020603050405020304" pitchFamily="18" charset="0"/>
              </a:rPr>
              <a:t>Lý do đây</a:t>
            </a:r>
            <a:r>
              <a:rPr lang="en-US" sz="1700" b="1" dirty="0">
                <a:solidFill>
                  <a:srgbClr val="0B2A5B"/>
                </a:solidFill>
                <a:latin typeface="Times New Roman" panose="02020603050405020304" pitchFamily="18" charset="0"/>
                <a:ea typeface="Times New Roman" pitchFamily="34" charset="-122"/>
                <a:cs typeface="Times New Roman" panose="02020603050405020304" pitchFamily="18" charset="0"/>
              </a:rPr>
              <a:t> là phát hiện đáng </a:t>
            </a:r>
            <a:r>
              <a:rPr lang="en-US" sz="1700" b="1" dirty="0" err="1">
                <a:solidFill>
                  <a:srgbClr val="0B2A5B"/>
                </a:solidFill>
                <a:latin typeface="Times New Roman" panose="02020603050405020304" pitchFamily="18" charset="0"/>
                <a:ea typeface="Times New Roman" pitchFamily="34" charset="-122"/>
                <a:cs typeface="Times New Roman" panose="02020603050405020304" pitchFamily="18" charset="0"/>
              </a:rPr>
              <a:t>chú</a:t>
            </a:r>
            <a:r>
              <a:rPr lang="en-US" sz="1700" b="1" dirty="0">
                <a:solidFill>
                  <a:srgbClr val="0B2A5B"/>
                </a:solidFill>
                <a:latin typeface="Times New Roman" panose="02020603050405020304" pitchFamily="18" charset="0"/>
                <a:ea typeface="Times New Roman" pitchFamily="34" charset="-122"/>
                <a:cs typeface="Times New Roman" panose="02020603050405020304" pitchFamily="18" charset="0"/>
              </a:rPr>
              <a:t> ý</a:t>
            </a:r>
            <a:endParaRPr lang="en-US" sz="1700" dirty="0">
              <a:latin typeface="Times New Roman" panose="02020603050405020304" pitchFamily="18" charset="0"/>
              <a:cs typeface="Times New Roman" panose="02020603050405020304" pitchFamily="18" charset="0"/>
            </a:endParaRPr>
          </a:p>
        </p:txBody>
      </p:sp>
      <p:sp>
        <p:nvSpPr>
          <p:cNvPr id="26" name="Text 22"/>
          <p:cNvSpPr txBox="1"/>
          <p:nvPr/>
        </p:nvSpPr>
        <p:spPr>
          <a:xfrm>
            <a:off x="6675120" y="5486399"/>
            <a:ext cx="4782312" cy="802430"/>
          </a:xfrm>
          <a:prstGeom prst="rect">
            <a:avLst/>
          </a:prstGeom>
          <a:noFill/>
          <a:ln/>
        </p:spPr>
        <p:txBody>
          <a:bodyPr wrap="square" lIns="0" tIns="0" rIns="0" bIns="0" rtlCol="0" anchor="t"/>
          <a:lstStyle/>
          <a:p>
            <a:pPr marL="0" indent="0">
              <a:buNone/>
            </a:pPr>
            <a:r>
              <a:rPr lang="en-US" sz="1600" dirty="0">
                <a:solidFill>
                  <a:srgbClr val="1A2B45"/>
                </a:solidFill>
                <a:latin typeface="Times New Roman" panose="02020603050405020304" pitchFamily="18" charset="0"/>
                <a:ea typeface="Times New Roman" pitchFamily="34" charset="-122"/>
                <a:cs typeface="Times New Roman" panose="02020603050405020304" pitchFamily="18" charset="0"/>
              </a:rPr>
              <a:t>Nếu chỉ lọc theo tiền tố “C”, các dòng Quantity âm này vẫn lọt qua và làm sai doanh thu, số lượng bán. Nhóm bổ sung bước lọc riêng cho từng loại bất thường thay vì một điều kiện chung.</a:t>
            </a:r>
            <a:endParaRPr lang="en-US" sz="1600" dirty="0">
              <a:latin typeface="Times New Roman" panose="02020603050405020304" pitchFamily="18" charset="0"/>
              <a:cs typeface="Times New Roman" panose="02020603050405020304" pitchFamily="18" charset="0"/>
            </a:endParaRPr>
          </a:p>
        </p:txBody>
      </p:sp>
      <p:sp>
        <p:nvSpPr>
          <p:cNvPr id="30" name="Text 0">
            <a:extLst>
              <a:ext uri="{FF2B5EF4-FFF2-40B4-BE49-F238E27FC236}">
                <a16:creationId xmlns:a16="http://schemas.microsoft.com/office/drawing/2014/main" id="{56698327-B917-923F-3939-27F4E90E6C9D}"/>
              </a:ext>
            </a:extLst>
          </p:cNvPr>
          <p:cNvSpPr txBox="1"/>
          <p:nvPr/>
        </p:nvSpPr>
        <p:spPr>
          <a:xfrm>
            <a:off x="548640" y="48512"/>
            <a:ext cx="10515600" cy="660610"/>
          </a:xfrm>
          <a:prstGeom prst="rect">
            <a:avLst/>
          </a:prstGeom>
          <a:noFill/>
          <a:ln/>
        </p:spPr>
        <p:txBody>
          <a:bodyPr wrap="square" lIns="0" tIns="0" rIns="0" bIns="0" rtlCol="0" anchor="ctr"/>
          <a:lstStyle/>
          <a:p>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 Understanding —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Bút toán điều chỉnh sổ sách</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2" name="Text 2">
            <a:extLst>
              <a:ext uri="{FF2B5EF4-FFF2-40B4-BE49-F238E27FC236}">
                <a16:creationId xmlns:a16="http://schemas.microsoft.com/office/drawing/2014/main" id="{59455127-E093-C836-7B32-A0C9E99B9CE8}"/>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id="{6EA8DFC9-2F57-EFCE-7971-8619EC853A2E}"/>
              </a:ext>
            </a:extLst>
          </p:cNvPr>
          <p:cNvPicPr>
            <a:picLocks noChangeAspect="1"/>
          </p:cNvPicPr>
          <p:nvPr/>
        </p:nvPicPr>
        <p:blipFill>
          <a:blip r:embed="rId5"/>
          <a:stretch>
            <a:fillRect/>
          </a:stretch>
        </p:blipFill>
        <p:spPr>
          <a:xfrm>
            <a:off x="543440" y="1920194"/>
            <a:ext cx="5380186" cy="1257409"/>
          </a:xfrm>
          <a:prstGeom prst="rect">
            <a:avLst/>
          </a:prstGeom>
        </p:spPr>
      </p:pic>
      <p:pic>
        <p:nvPicPr>
          <p:cNvPr id="36" name="Picture 35">
            <a:extLst>
              <a:ext uri="{FF2B5EF4-FFF2-40B4-BE49-F238E27FC236}">
                <a16:creationId xmlns:a16="http://schemas.microsoft.com/office/drawing/2014/main" id="{5C2C7AD7-39A5-7921-2B91-681E0333DAF5}"/>
              </a:ext>
            </a:extLst>
          </p:cNvPr>
          <p:cNvPicPr>
            <a:picLocks noChangeAspect="1"/>
          </p:cNvPicPr>
          <p:nvPr/>
        </p:nvPicPr>
        <p:blipFill>
          <a:blip r:embed="rId6"/>
          <a:stretch>
            <a:fillRect/>
          </a:stretch>
        </p:blipFill>
        <p:spPr>
          <a:xfrm>
            <a:off x="543440" y="5127280"/>
            <a:ext cx="5715495" cy="1082134"/>
          </a:xfrm>
          <a:prstGeom prst="rect">
            <a:avLst/>
          </a:prstGeom>
        </p:spPr>
      </p:pic>
      <p:pic>
        <p:nvPicPr>
          <p:cNvPr id="38" name="Picture 37">
            <a:extLst>
              <a:ext uri="{FF2B5EF4-FFF2-40B4-BE49-F238E27FC236}">
                <a16:creationId xmlns:a16="http://schemas.microsoft.com/office/drawing/2014/main" id="{E89E1F09-1D56-BA02-96CE-7331D2B85CBF}"/>
              </a:ext>
            </a:extLst>
          </p:cNvPr>
          <p:cNvPicPr>
            <a:picLocks noChangeAspect="1"/>
          </p:cNvPicPr>
          <p:nvPr/>
        </p:nvPicPr>
        <p:blipFill>
          <a:blip r:embed="rId7"/>
          <a:stretch>
            <a:fillRect/>
          </a:stretch>
        </p:blipFill>
        <p:spPr>
          <a:xfrm>
            <a:off x="6378390" y="2737754"/>
            <a:ext cx="5630108" cy="20745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716591"/>
            <a:ext cx="11091672" cy="365760"/>
          </a:xfrm>
          <a:prstGeom prst="rect">
            <a:avLst/>
          </a:prstGeom>
          <a:noFill/>
          <a:ln/>
        </p:spPr>
        <p:txBody>
          <a:bodyPr wrap="square" lIns="0" tIns="0" rIns="0" bIns="0" rtlCol="0" anchor="t"/>
          <a:lstStyle/>
          <a:p>
            <a:pPr marL="0" indent="0">
              <a:buNone/>
            </a:pPr>
            <a:r>
              <a:rPr lang="en-US" i="1" dirty="0">
                <a:latin typeface="Times New Roman" panose="02020603050405020304" pitchFamily="18" charset="0"/>
                <a:ea typeface="Times New Roman" pitchFamily="34" charset="-122"/>
                <a:cs typeface="Times New Roman" panose="02020603050405020304" pitchFamily="18" charset="0"/>
              </a:rPr>
              <a:t>Chỉ 0.55% số dòng nhưng chiếm 4.05% giá trị giao dịch dương — </a:t>
            </a:r>
            <a:r>
              <a:rPr lang="vi-VN" i="1" dirty="0">
                <a:latin typeface="Times New Roman" panose="02020603050405020304" pitchFamily="18" charset="0"/>
                <a:ea typeface="Times New Roman" pitchFamily="34" charset="-122"/>
                <a:cs typeface="Times New Roman" panose="02020603050405020304" pitchFamily="18" charset="0"/>
              </a:rPr>
              <a:t>T</a:t>
            </a:r>
            <a:r>
              <a:rPr lang="en-US" i="1" dirty="0">
                <a:latin typeface="Times New Roman" panose="02020603050405020304" pitchFamily="18" charset="0"/>
                <a:ea typeface="Times New Roman" pitchFamily="34" charset="-122"/>
                <a:cs typeface="Times New Roman" panose="02020603050405020304" pitchFamily="18" charset="0"/>
              </a:rPr>
              <a:t>ỷ lệ chênh lệch này là lý do phải loại</a:t>
            </a:r>
            <a:endParaRPr lang="en-US" dirty="0">
              <a:latin typeface="Times New Roman" panose="02020603050405020304" pitchFamily="18" charset="0"/>
              <a:cs typeface="Times New Roman" panose="02020603050405020304" pitchFamily="18" charset="0"/>
            </a:endParaRPr>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200" dirty="0">
                <a:solidFill>
                  <a:srgbClr val="5B6B82"/>
                </a:solidFill>
                <a:latin typeface="Times New Roman" panose="02020603050405020304" pitchFamily="18" charset="0"/>
                <a:ea typeface="Times New Roman" pitchFamily="34" charset="-122"/>
                <a:cs typeface="Times New Roman" panose="02020603050405020304" pitchFamily="18" charset="0"/>
              </a:rPr>
              <a:t>11</a:t>
            </a:r>
            <a:endParaRPr lang="en-US" sz="1200" dirty="0">
              <a:latin typeface="Times New Roman" panose="02020603050405020304" pitchFamily="18" charset="0"/>
              <a:cs typeface="Times New Roman" panose="02020603050405020304" pitchFamily="18" charset="0"/>
            </a:endParaRPr>
          </a:p>
        </p:txBody>
      </p:sp>
      <p:graphicFrame>
        <p:nvGraphicFramePr>
          <p:cNvPr id="12" name="Table 0"/>
          <p:cNvGraphicFramePr>
            <a:graphicFrameLocks noGrp="1"/>
          </p:cNvGraphicFramePr>
          <p:nvPr>
            <p:extLst>
              <p:ext uri="{D42A27DB-BD31-4B8C-83A1-F6EECF244321}">
                <p14:modId xmlns:p14="http://schemas.microsoft.com/office/powerpoint/2010/main" val="316265459"/>
              </p:ext>
            </p:extLst>
          </p:nvPr>
        </p:nvGraphicFramePr>
        <p:xfrm>
          <a:off x="548640" y="1645920"/>
          <a:ext cx="6607940" cy="4343404"/>
        </p:xfrm>
        <a:graphic>
          <a:graphicData uri="http://schemas.openxmlformats.org/drawingml/2006/table">
            <a:tbl>
              <a:tblPr/>
              <a:tblGrid>
                <a:gridCol w="2873017">
                  <a:extLst>
                    <a:ext uri="{9D8B030D-6E8A-4147-A177-3AD203B41FA5}">
                      <a16:colId xmlns:a16="http://schemas.microsoft.com/office/drawing/2014/main" val="20000"/>
                    </a:ext>
                  </a:extLst>
                </a:gridCol>
                <a:gridCol w="1053440">
                  <a:extLst>
                    <a:ext uri="{9D8B030D-6E8A-4147-A177-3AD203B41FA5}">
                      <a16:colId xmlns:a16="http://schemas.microsoft.com/office/drawing/2014/main" val="20001"/>
                    </a:ext>
                  </a:extLst>
                </a:gridCol>
                <a:gridCol w="2681483">
                  <a:extLst>
                    <a:ext uri="{9D8B030D-6E8A-4147-A177-3AD203B41FA5}">
                      <a16:colId xmlns:a16="http://schemas.microsoft.com/office/drawing/2014/main" val="20002"/>
                    </a:ext>
                  </a:extLst>
                </a:gridCol>
              </a:tblGrid>
              <a:tr h="346180">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StockCode</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Số dòng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Ý nghĩa</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POST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2,122</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Phí bưu điện</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DOT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1,446</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err="1">
                          <a:solidFill>
                            <a:srgbClr val="1A2B45"/>
                          </a:solidFill>
                          <a:latin typeface="Times New Roman" pitchFamily="34" charset="0"/>
                          <a:ea typeface="Times New Roman" pitchFamily="34" charset="-122"/>
                          <a:cs typeface="Times New Roman" pitchFamily="34" charset="-120"/>
                        </a:rPr>
                        <a:t>Phí</a:t>
                      </a:r>
                      <a:r>
                        <a:rPr lang="en-US" sz="1500" dirty="0">
                          <a:solidFill>
                            <a:srgbClr val="1A2B45"/>
                          </a:solidFill>
                          <a:latin typeface="Times New Roman" pitchFamily="34" charset="0"/>
                          <a:ea typeface="Times New Roman" pitchFamily="34" charset="-122"/>
                          <a:cs typeface="Times New Roman" pitchFamily="34" charset="-120"/>
                        </a:rPr>
                        <a:t> </a:t>
                      </a:r>
                      <a:r>
                        <a:rPr lang="vi-VN" sz="1500" dirty="0">
                          <a:solidFill>
                            <a:srgbClr val="1A2B45"/>
                          </a:solidFill>
                          <a:latin typeface="Times New Roman" pitchFamily="34" charset="0"/>
                          <a:ea typeface="Times New Roman" pitchFamily="34" charset="-122"/>
                          <a:cs typeface="Times New Roman" pitchFamily="34" charset="-120"/>
                        </a:rPr>
                        <a:t>D</a:t>
                      </a:r>
                      <a:r>
                        <a:rPr lang="en-US" sz="1500" dirty="0" err="1">
                          <a:solidFill>
                            <a:srgbClr val="1A2B45"/>
                          </a:solidFill>
                          <a:latin typeface="Times New Roman" pitchFamily="34" charset="0"/>
                          <a:ea typeface="Times New Roman" pitchFamily="34" charset="-122"/>
                          <a:cs typeface="Times New Roman" pitchFamily="34" charset="-120"/>
                        </a:rPr>
                        <a:t>otcom</a:t>
                      </a:r>
                      <a:r>
                        <a:rPr lang="en-US" sz="1500" dirty="0">
                          <a:solidFill>
                            <a:srgbClr val="1A2B45"/>
                          </a:solidFill>
                          <a:latin typeface="Times New Roman" pitchFamily="34" charset="0"/>
                          <a:ea typeface="Times New Roman" pitchFamily="34" charset="-122"/>
                          <a:cs typeface="Times New Roman" pitchFamily="34" charset="-120"/>
                        </a:rPr>
                        <a:t> </a:t>
                      </a:r>
                      <a:r>
                        <a:rPr lang="vi-VN" sz="1500" dirty="0">
                          <a:solidFill>
                            <a:srgbClr val="1A2B45"/>
                          </a:solidFill>
                          <a:latin typeface="Times New Roman" pitchFamily="34" charset="0"/>
                          <a:ea typeface="Times New Roman" pitchFamily="34" charset="-122"/>
                          <a:cs typeface="Times New Roman" pitchFamily="34" charset="-120"/>
                        </a:rPr>
                        <a:t>P</a:t>
                      </a:r>
                      <a:r>
                        <a:rPr lang="en-US" sz="1500" dirty="0" err="1">
                          <a:solidFill>
                            <a:srgbClr val="1A2B45"/>
                          </a:solidFill>
                          <a:latin typeface="Times New Roman" pitchFamily="34" charset="0"/>
                          <a:ea typeface="Times New Roman" pitchFamily="34" charset="-122"/>
                          <a:cs typeface="Times New Roman" pitchFamily="34" charset="-120"/>
                        </a:rPr>
                        <a:t>ostage</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M</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1,426</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Manual (nhập tay)</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C2</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282</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Phí vận chuyển (Carriage)</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4"/>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D</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177</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Chiết khấu (Discount)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S</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104</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Mẫu thử (Samples)</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6"/>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BANK CHARGES</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102</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Phí </a:t>
                      </a:r>
                      <a:r>
                        <a:rPr lang="en-US" sz="1500" dirty="0" err="1">
                          <a:solidFill>
                            <a:srgbClr val="1A2B45"/>
                          </a:solidFill>
                          <a:latin typeface="Times New Roman" pitchFamily="34" charset="0"/>
                          <a:ea typeface="Times New Roman" pitchFamily="34" charset="-122"/>
                          <a:cs typeface="Times New Roman" pitchFamily="34" charset="-120"/>
                        </a:rPr>
                        <a:t>ngân</a:t>
                      </a:r>
                      <a:r>
                        <a:rPr lang="en-US" sz="1500" dirty="0">
                          <a:solidFill>
                            <a:srgbClr val="1A2B45"/>
                          </a:solidFill>
                          <a:latin typeface="Times New Roman" pitchFamily="34" charset="0"/>
                          <a:ea typeface="Times New Roman" pitchFamily="34" charset="-122"/>
                          <a:cs typeface="Times New Roman" pitchFamily="34" charset="-120"/>
                        </a:rPr>
                        <a:t> hang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ADJUST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67</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Điều chỉnh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8"/>
                  </a:ext>
                </a:extLst>
              </a:tr>
              <a:tr h="346180">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AMAZONFEE</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43</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Phí Amazon</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35424">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Còn lại (PADS, CRUK, TEST001/</a:t>
                      </a:r>
                      <a:r>
                        <a:rPr lang="vi-VN" sz="1500" dirty="0">
                          <a:solidFill>
                            <a:srgbClr val="1A2B45"/>
                          </a:solidFill>
                          <a:latin typeface="Times New Roman" pitchFamily="34" charset="0"/>
                          <a:ea typeface="Times New Roman" pitchFamily="34" charset="-122"/>
                          <a:cs typeface="Times New Roman" pitchFamily="34" charset="-120"/>
                        </a:rPr>
                        <a:t>00</a:t>
                      </a:r>
                      <a:r>
                        <a:rPr lang="en-US" sz="1500" dirty="0">
                          <a:solidFill>
                            <a:srgbClr val="1A2B45"/>
                          </a:solidFill>
                          <a:latin typeface="Times New Roman" pitchFamily="34" charset="0"/>
                          <a:ea typeface="Times New Roman" pitchFamily="34" charset="-122"/>
                          <a:cs typeface="Times New Roman" pitchFamily="34" charset="-120"/>
                        </a:rPr>
                        <a:t>2)</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500" dirty="0">
                          <a:solidFill>
                            <a:srgbClr val="1A2B45"/>
                          </a:solidFill>
                          <a:latin typeface="Times New Roman" pitchFamily="34" charset="0"/>
                          <a:ea typeface="Times New Roman" pitchFamily="34" charset="-122"/>
                          <a:cs typeface="Times New Roman" pitchFamily="34" charset="-120"/>
                        </a:rPr>
                        <a:t>52</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Khác</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10"/>
                  </a:ext>
                </a:extLst>
              </a:tr>
              <a:tr h="346180">
                <a:tc>
                  <a:txBody>
                    <a:bodyPr/>
                    <a:lstStyle/>
                    <a:p>
                      <a:pPr marL="0" indent="0" algn="l">
                        <a:buNone/>
                      </a:pPr>
                      <a:r>
                        <a:rPr lang="en-US" sz="1500" b="1" dirty="0">
                          <a:solidFill>
                            <a:srgbClr val="1A2B45"/>
                          </a:solidFill>
                          <a:latin typeface="Times New Roman" pitchFamily="34" charset="0"/>
                          <a:ea typeface="Times New Roman" pitchFamily="34" charset="-122"/>
                          <a:cs typeface="Times New Roman" pitchFamily="34" charset="-120"/>
                        </a:rPr>
                        <a:t>Tổng cộng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1A2B45"/>
                          </a:solidFill>
                          <a:latin typeface="Times New Roman" pitchFamily="34" charset="0"/>
                          <a:ea typeface="Times New Roman" pitchFamily="34" charset="-122"/>
                          <a:cs typeface="Times New Roman" pitchFamily="34" charset="-120"/>
                        </a:rPr>
                        <a:t>5,821</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1A2B45"/>
                          </a:solidFill>
                          <a:latin typeface="Times New Roman" pitchFamily="34" charset="0"/>
                          <a:ea typeface="Times New Roman" pitchFamily="34" charset="-122"/>
                          <a:cs typeface="Times New Roman" pitchFamily="34" charset="-120"/>
                        </a:rPr>
                        <a:t>0.55% </a:t>
                      </a:r>
                      <a:r>
                        <a:rPr lang="vi-VN" sz="1500" b="1" dirty="0">
                          <a:solidFill>
                            <a:srgbClr val="1A2B45"/>
                          </a:solidFill>
                          <a:latin typeface="Times New Roman" pitchFamily="34" charset="0"/>
                          <a:ea typeface="Times New Roman" pitchFamily="34" charset="-122"/>
                          <a:cs typeface="Times New Roman" pitchFamily="34" charset="-120"/>
                        </a:rPr>
                        <a:t>T</a:t>
                      </a:r>
                      <a:r>
                        <a:rPr lang="en-US" sz="1500" b="1" dirty="0" err="1">
                          <a:solidFill>
                            <a:srgbClr val="1A2B45"/>
                          </a:solidFill>
                          <a:latin typeface="Times New Roman" pitchFamily="34" charset="0"/>
                          <a:ea typeface="Times New Roman" pitchFamily="34" charset="-122"/>
                          <a:cs typeface="Times New Roman" pitchFamily="34" charset="-120"/>
                        </a:rPr>
                        <a:t>ổng</a:t>
                      </a:r>
                      <a:r>
                        <a:rPr lang="en-US" sz="1500" b="1" dirty="0">
                          <a:solidFill>
                            <a:srgbClr val="1A2B45"/>
                          </a:solidFill>
                          <a:latin typeface="Times New Roman" pitchFamily="34" charset="0"/>
                          <a:ea typeface="Times New Roman" pitchFamily="34" charset="-122"/>
                          <a:cs typeface="Times New Roman" pitchFamily="34" charset="-120"/>
                        </a:rPr>
                        <a:t> số dòng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Shape 4"/>
          <p:cNvSpPr/>
          <p:nvPr/>
        </p:nvSpPr>
        <p:spPr>
          <a:xfrm>
            <a:off x="7223760" y="1645920"/>
            <a:ext cx="4416552" cy="1417320"/>
          </a:xfrm>
          <a:prstGeom prst="rect">
            <a:avLst/>
          </a:prstGeom>
          <a:solidFill>
            <a:srgbClr val="EAF2FF"/>
          </a:solidFill>
          <a:ln w="9525">
            <a:solidFill>
              <a:srgbClr val="C9DAF2"/>
            </a:solidFill>
            <a:prstDash val="solid"/>
          </a:ln>
        </p:spPr>
      </p:sp>
      <p:sp>
        <p:nvSpPr>
          <p:cNvPr id="8" name="Text 5"/>
          <p:cNvSpPr txBox="1"/>
          <p:nvPr/>
        </p:nvSpPr>
        <p:spPr>
          <a:xfrm>
            <a:off x="7223760" y="1691640"/>
            <a:ext cx="2208276" cy="777240"/>
          </a:xfrm>
          <a:prstGeom prst="rect">
            <a:avLst/>
          </a:prstGeom>
          <a:noFill/>
          <a:ln/>
        </p:spPr>
        <p:txBody>
          <a:bodyPr wrap="square" lIns="0" tIns="0" rIns="0" bIns="0" rtlCol="0" anchor="ctr"/>
          <a:lstStyle/>
          <a:p>
            <a:pPr marL="0" indent="0" algn="ctr">
              <a:buNone/>
            </a:pPr>
            <a:r>
              <a:rPr lang="en-US" sz="4000" b="1" dirty="0">
                <a:solidFill>
                  <a:srgbClr val="1F6FEB"/>
                </a:solidFill>
                <a:latin typeface="Times New Roman" panose="02020603050405020304" pitchFamily="18" charset="0"/>
                <a:ea typeface="Times New Roman" pitchFamily="34" charset="-122"/>
                <a:cs typeface="Times New Roman" panose="02020603050405020304" pitchFamily="18" charset="0"/>
              </a:rPr>
              <a:t>0.55%</a:t>
            </a:r>
            <a:endParaRPr lang="en-US" sz="4000" dirty="0">
              <a:latin typeface="Times New Roman" panose="02020603050405020304" pitchFamily="18" charset="0"/>
              <a:cs typeface="Times New Roman" panose="02020603050405020304" pitchFamily="18" charset="0"/>
            </a:endParaRPr>
          </a:p>
        </p:txBody>
      </p:sp>
      <p:sp>
        <p:nvSpPr>
          <p:cNvPr id="9" name="Text 6"/>
          <p:cNvSpPr txBox="1"/>
          <p:nvPr/>
        </p:nvSpPr>
        <p:spPr>
          <a:xfrm>
            <a:off x="7223760" y="2468880"/>
            <a:ext cx="2208276" cy="457200"/>
          </a:xfrm>
          <a:prstGeom prst="rect">
            <a:avLst/>
          </a:prstGeom>
          <a:noFill/>
          <a:ln/>
        </p:spPr>
        <p:txBody>
          <a:bodyPr wrap="square" lIns="0" tIns="0" rIns="0" bIns="0" rtlCol="0" anchor="ctr"/>
          <a:lstStyle/>
          <a:p>
            <a:pPr marL="0" indent="0" algn="ctr">
              <a:buNone/>
            </a:pPr>
            <a:r>
              <a:rPr lang="vi-VN" sz="1600" dirty="0">
                <a:solidFill>
                  <a:srgbClr val="5B6B82"/>
                </a:solidFill>
                <a:latin typeface="Times New Roman" panose="02020603050405020304" pitchFamily="18" charset="0"/>
                <a:ea typeface="Times New Roman" pitchFamily="34" charset="-122"/>
                <a:cs typeface="Times New Roman" panose="02020603050405020304" pitchFamily="18" charset="0"/>
              </a:rPr>
              <a:t>S</a:t>
            </a:r>
            <a:r>
              <a:rPr lang="en-US" sz="1600" dirty="0">
                <a:solidFill>
                  <a:srgbClr val="5B6B82"/>
                </a:solidFill>
                <a:latin typeface="Times New Roman" panose="02020603050405020304" pitchFamily="18" charset="0"/>
                <a:ea typeface="Times New Roman" pitchFamily="34" charset="-122"/>
                <a:cs typeface="Times New Roman" panose="02020603050405020304" pitchFamily="18" charset="0"/>
              </a:rPr>
              <a:t>ố </a:t>
            </a:r>
            <a:r>
              <a:rPr lang="en-US" sz="1600" dirty="0" err="1">
                <a:solidFill>
                  <a:srgbClr val="5B6B82"/>
                </a:solidFill>
                <a:latin typeface="Times New Roman" panose="02020603050405020304" pitchFamily="18" charset="0"/>
                <a:ea typeface="Times New Roman" pitchFamily="34" charset="-122"/>
                <a:cs typeface="Times New Roman" panose="02020603050405020304" pitchFamily="18" charset="0"/>
              </a:rPr>
              <a:t>dòng</a:t>
            </a:r>
            <a:r>
              <a:rPr lang="en-US" sz="1600" dirty="0">
                <a:solidFill>
                  <a:srgbClr val="5B6B82"/>
                </a:solidFill>
                <a:latin typeface="Times New Roman" panose="02020603050405020304" pitchFamily="18" charset="0"/>
                <a:ea typeface="Times New Roman" pitchFamily="34" charset="-122"/>
                <a:cs typeface="Times New Roman" panose="02020603050405020304" pitchFamily="18" charset="0"/>
              </a:rPr>
              <a:t> dữ liệu</a:t>
            </a:r>
            <a:endParaRPr lang="en-US" sz="1600" dirty="0">
              <a:latin typeface="Times New Roman" panose="02020603050405020304" pitchFamily="18" charset="0"/>
              <a:cs typeface="Times New Roman" panose="02020603050405020304" pitchFamily="18" charset="0"/>
            </a:endParaRPr>
          </a:p>
        </p:txBody>
      </p:sp>
      <p:sp>
        <p:nvSpPr>
          <p:cNvPr id="10" name="Text 7"/>
          <p:cNvSpPr txBox="1"/>
          <p:nvPr/>
        </p:nvSpPr>
        <p:spPr>
          <a:xfrm>
            <a:off x="9432036" y="1691640"/>
            <a:ext cx="2208276" cy="777240"/>
          </a:xfrm>
          <a:prstGeom prst="rect">
            <a:avLst/>
          </a:prstGeom>
          <a:noFill/>
          <a:ln/>
        </p:spPr>
        <p:txBody>
          <a:bodyPr wrap="square" lIns="0" tIns="0" rIns="0" bIns="0" rtlCol="0" anchor="ctr"/>
          <a:lstStyle/>
          <a:p>
            <a:pPr marL="0" indent="0" algn="ctr">
              <a:buNone/>
            </a:pPr>
            <a:r>
              <a:rPr lang="en-US" sz="4000" b="1" dirty="0">
                <a:solidFill>
                  <a:srgbClr val="C0392B"/>
                </a:solidFill>
                <a:latin typeface="Times New Roman" panose="02020603050405020304" pitchFamily="18" charset="0"/>
                <a:ea typeface="Times New Roman" pitchFamily="34" charset="-122"/>
                <a:cs typeface="Times New Roman" panose="02020603050405020304" pitchFamily="18" charset="0"/>
              </a:rPr>
              <a:t>4.05%</a:t>
            </a:r>
            <a:endParaRPr lang="en-US" sz="4000" dirty="0">
              <a:latin typeface="Times New Roman" panose="02020603050405020304" pitchFamily="18" charset="0"/>
              <a:cs typeface="Times New Roman" panose="02020603050405020304" pitchFamily="18" charset="0"/>
            </a:endParaRPr>
          </a:p>
        </p:txBody>
      </p:sp>
      <p:sp>
        <p:nvSpPr>
          <p:cNvPr id="11" name="Text 8"/>
          <p:cNvSpPr txBox="1"/>
          <p:nvPr/>
        </p:nvSpPr>
        <p:spPr>
          <a:xfrm>
            <a:off x="9432036" y="2468880"/>
            <a:ext cx="2208276" cy="457200"/>
          </a:xfrm>
          <a:prstGeom prst="rect">
            <a:avLst/>
          </a:prstGeom>
          <a:noFill/>
          <a:ln/>
        </p:spPr>
        <p:txBody>
          <a:bodyPr wrap="square" lIns="0" tIns="0" rIns="0" bIns="0" rtlCol="0" anchor="ctr"/>
          <a:lstStyle/>
          <a:p>
            <a:pPr marL="0" indent="0" algn="ctr">
              <a:buNone/>
            </a:pPr>
            <a:r>
              <a:rPr lang="vi-VN" sz="1600" dirty="0">
                <a:solidFill>
                  <a:srgbClr val="5B6B82"/>
                </a:solidFill>
                <a:latin typeface="Times New Roman" panose="02020603050405020304" pitchFamily="18" charset="0"/>
                <a:ea typeface="Times New Roman" pitchFamily="34" charset="-122"/>
                <a:cs typeface="Times New Roman" panose="02020603050405020304" pitchFamily="18" charset="0"/>
              </a:rPr>
              <a:t>G</a:t>
            </a:r>
            <a:r>
              <a:rPr lang="en-US" sz="1600" dirty="0" err="1">
                <a:solidFill>
                  <a:srgbClr val="5B6B82"/>
                </a:solidFill>
                <a:latin typeface="Times New Roman" panose="02020603050405020304" pitchFamily="18" charset="0"/>
                <a:ea typeface="Times New Roman" pitchFamily="34" charset="-122"/>
                <a:cs typeface="Times New Roman" panose="02020603050405020304" pitchFamily="18" charset="0"/>
              </a:rPr>
              <a:t>iá</a:t>
            </a:r>
            <a:r>
              <a:rPr lang="en-US" sz="1600" dirty="0">
                <a:solidFill>
                  <a:srgbClr val="5B6B82"/>
                </a:solidFill>
                <a:latin typeface="Times New Roman" panose="02020603050405020304" pitchFamily="18" charset="0"/>
                <a:ea typeface="Times New Roman" pitchFamily="34" charset="-122"/>
                <a:cs typeface="Times New Roman" panose="02020603050405020304" pitchFamily="18" charset="0"/>
              </a:rPr>
              <a:t> trị giao dịch dương</a:t>
            </a:r>
            <a:endParaRPr lang="en-US" sz="1600" dirty="0">
              <a:latin typeface="Times New Roman" panose="02020603050405020304" pitchFamily="18" charset="0"/>
              <a:cs typeface="Times New Roman" panose="02020603050405020304" pitchFamily="18" charset="0"/>
            </a:endParaRPr>
          </a:p>
        </p:txBody>
      </p:sp>
      <p:sp>
        <p:nvSpPr>
          <p:cNvPr id="6" name="Shape 9"/>
          <p:cNvSpPr/>
          <p:nvPr/>
        </p:nvSpPr>
        <p:spPr>
          <a:xfrm>
            <a:off x="7223760" y="3246120"/>
            <a:ext cx="4416552" cy="2743200"/>
          </a:xfrm>
          <a:prstGeom prst="rect">
            <a:avLst/>
          </a:prstGeom>
          <a:solidFill>
            <a:srgbClr val="EAF2FF"/>
          </a:solidFill>
          <a:ln w="9525">
            <a:solidFill>
              <a:srgbClr val="C9DAF2"/>
            </a:solidFill>
            <a:prstDash val="solid"/>
          </a:ln>
        </p:spPr>
      </p:sp>
      <p:sp>
        <p:nvSpPr>
          <p:cNvPr id="13" name="Text 10"/>
          <p:cNvSpPr txBox="1"/>
          <p:nvPr/>
        </p:nvSpPr>
        <p:spPr>
          <a:xfrm>
            <a:off x="7406640" y="3319272"/>
            <a:ext cx="4050792" cy="320040"/>
          </a:xfrm>
          <a:prstGeom prst="rect">
            <a:avLst/>
          </a:prstGeom>
          <a:noFill/>
          <a:ln/>
        </p:spPr>
        <p:txBody>
          <a:bodyPr wrap="square" lIns="0" tIns="0" rIns="0" bIns="0" rtlCol="0" anchor="ctr"/>
          <a:lstStyle/>
          <a:p>
            <a:pPr marL="0" indent="0">
              <a:buNone/>
            </a:pPr>
            <a:r>
              <a:rPr lang="en-US" b="1" dirty="0">
                <a:solidFill>
                  <a:srgbClr val="0B2A5B"/>
                </a:solidFill>
                <a:latin typeface="Times New Roman" panose="02020603050405020304" pitchFamily="18" charset="0"/>
                <a:ea typeface="Times New Roman" pitchFamily="34" charset="-122"/>
                <a:cs typeface="Times New Roman" panose="02020603050405020304" pitchFamily="18" charset="0"/>
              </a:rPr>
              <a:t>Tác động nếu không loại</a:t>
            </a:r>
            <a:endParaRPr lang="en-US" dirty="0">
              <a:latin typeface="Times New Roman" panose="02020603050405020304" pitchFamily="18" charset="0"/>
              <a:cs typeface="Times New Roman" panose="02020603050405020304" pitchFamily="18" charset="0"/>
            </a:endParaRPr>
          </a:p>
        </p:txBody>
      </p:sp>
      <p:sp>
        <p:nvSpPr>
          <p:cNvPr id="14" name="Text 11"/>
          <p:cNvSpPr txBox="1"/>
          <p:nvPr/>
        </p:nvSpPr>
        <p:spPr>
          <a:xfrm>
            <a:off x="7406640" y="3759306"/>
            <a:ext cx="4050792" cy="2128313"/>
          </a:xfrm>
          <a:prstGeom prst="rect">
            <a:avLst/>
          </a:prstGeom>
          <a:noFill/>
          <a:ln/>
        </p:spPr>
        <p:txBody>
          <a:bodyPr wrap="square" lIns="0" tIns="0" rIns="0" bIns="0" rtlCol="0" anchor="t"/>
          <a:lstStyle/>
          <a:p>
            <a:pPr marL="203200" indent="-203200">
              <a:spcAft>
                <a:spcPts val="500"/>
              </a:spcAft>
              <a:buSzPct val="100000"/>
              <a:buChar char="•"/>
            </a:pPr>
            <a:r>
              <a:rPr lang="en-US" sz="1700" b="1" dirty="0">
                <a:solidFill>
                  <a:srgbClr val="0B2A5B"/>
                </a:solidFill>
                <a:latin typeface="Times New Roman" panose="02020603050405020304" pitchFamily="18" charset="0"/>
                <a:ea typeface="Times New Roman" pitchFamily="34" charset="-122"/>
                <a:cs typeface="Times New Roman" panose="02020603050405020304" pitchFamily="18" charset="0"/>
              </a:rPr>
              <a:t>MBA: </a:t>
            </a:r>
            <a:r>
              <a:rPr lang="vi-VN" sz="1700" dirty="0">
                <a:solidFill>
                  <a:srgbClr val="1A2B45"/>
                </a:solidFill>
                <a:latin typeface="Times New Roman" panose="02020603050405020304" pitchFamily="18" charset="0"/>
                <a:ea typeface="Times New Roman" pitchFamily="34" charset="-122"/>
                <a:cs typeface="Times New Roman" panose="02020603050405020304" pitchFamily="18" charset="0"/>
              </a:rPr>
              <a:t>S</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inh</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ra luật phản </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ánh</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700" dirty="0">
                <a:solidFill>
                  <a:srgbClr val="1A2B45"/>
                </a:solidFill>
                <a:latin typeface="Times New Roman" panose="02020603050405020304" pitchFamily="18" charset="0"/>
                <a:ea typeface="Times New Roman" pitchFamily="34" charset="-122"/>
                <a:cs typeface="Times New Roman" panose="02020603050405020304" pitchFamily="18" charset="0"/>
              </a:rPr>
              <a:t>phí, </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phụ</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phí</a:t>
            </a:r>
            <a:r>
              <a:rPr lang="vi-VN" sz="17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thay</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vì hành vi mua </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sản</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700" dirty="0">
                <a:solidFill>
                  <a:srgbClr val="1A2B45"/>
                </a:solidFill>
                <a:latin typeface="Times New Roman" panose="02020603050405020304" pitchFamily="18" charset="0"/>
                <a:ea typeface="Times New Roman" pitchFamily="34" charset="-122"/>
                <a:cs typeface="Times New Roman" panose="02020603050405020304" pitchFamily="18" charset="0"/>
              </a:rPr>
              <a:t>phẩm.</a:t>
            </a:r>
            <a:endParaRPr lang="en-US" sz="1700" dirty="0">
              <a:latin typeface="Times New Roman" panose="02020603050405020304" pitchFamily="18" charset="0"/>
              <a:cs typeface="Times New Roman" panose="02020603050405020304" pitchFamily="18" charset="0"/>
            </a:endParaRPr>
          </a:p>
          <a:p>
            <a:pPr marL="203200" indent="-203200">
              <a:spcAft>
                <a:spcPts val="500"/>
              </a:spcAft>
              <a:buSzPct val="100000"/>
              <a:buChar char="•"/>
            </a:pPr>
            <a:r>
              <a:rPr lang="en-US" sz="1700" b="1" dirty="0">
                <a:solidFill>
                  <a:srgbClr val="0B2A5B"/>
                </a:solidFill>
                <a:latin typeface="Times New Roman" panose="02020603050405020304" pitchFamily="18" charset="0"/>
                <a:ea typeface="Times New Roman" pitchFamily="34" charset="-122"/>
                <a:cs typeface="Times New Roman" panose="02020603050405020304" pitchFamily="18" charset="0"/>
              </a:rPr>
              <a:t>RFM: </a:t>
            </a:r>
            <a:r>
              <a:rPr lang="vi-VN" sz="1700" dirty="0">
                <a:solidFill>
                  <a:srgbClr val="1A2B45"/>
                </a:solidFill>
                <a:latin typeface="Times New Roman" panose="02020603050405020304" pitchFamily="18" charset="0"/>
                <a:ea typeface="Times New Roman" pitchFamily="34" charset="-122"/>
                <a:cs typeface="Times New Roman" panose="02020603050405020304" pitchFamily="18" charset="0"/>
              </a:rPr>
              <a:t>Đ</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ưa</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phí vận chuyển, phí ngân hàng </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vào</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700" dirty="0">
                <a:solidFill>
                  <a:srgbClr val="1A2B45"/>
                </a:solidFill>
                <a:latin typeface="Times New Roman" panose="02020603050405020304" pitchFamily="18" charset="0"/>
                <a:ea typeface="Times New Roman" pitchFamily="34" charset="-122"/>
                <a:cs typeface="Times New Roman" panose="02020603050405020304" pitchFamily="18" charset="0"/>
              </a:rPr>
              <a:t>Monetary, s</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ai giá trị chi </a:t>
            </a:r>
            <a:r>
              <a:rPr lang="en-US" sz="1700" dirty="0" err="1">
                <a:solidFill>
                  <a:srgbClr val="1A2B45"/>
                </a:solidFill>
                <a:latin typeface="Times New Roman" panose="02020603050405020304" pitchFamily="18" charset="0"/>
                <a:ea typeface="Times New Roman" pitchFamily="34" charset="-122"/>
                <a:cs typeface="Times New Roman" panose="02020603050405020304" pitchFamily="18" charset="0"/>
              </a:rPr>
              <a:t>tiêu</a:t>
            </a: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700" dirty="0">
                <a:solidFill>
                  <a:srgbClr val="1A2B45"/>
                </a:solidFill>
                <a:latin typeface="Times New Roman" panose="02020603050405020304" pitchFamily="18" charset="0"/>
                <a:ea typeface="Times New Roman" pitchFamily="34" charset="-122"/>
                <a:cs typeface="Times New Roman" panose="02020603050405020304" pitchFamily="18" charset="0"/>
              </a:rPr>
              <a:t>thực.</a:t>
            </a:r>
            <a:endParaRPr lang="en-US" sz="1700" dirty="0">
              <a:latin typeface="Times New Roman" panose="02020603050405020304" pitchFamily="18" charset="0"/>
              <a:cs typeface="Times New Roman" panose="02020603050405020304" pitchFamily="18" charset="0"/>
            </a:endParaRPr>
          </a:p>
          <a:p>
            <a:pPr marL="203200" indent="-203200">
              <a:spcAft>
                <a:spcPts val="500"/>
              </a:spcAft>
              <a:buSzPct val="100000"/>
              <a:buChar char="•"/>
            </a:pPr>
            <a:r>
              <a:rPr lang="en-US" sz="1700" dirty="0">
                <a:solidFill>
                  <a:srgbClr val="1A2B45"/>
                </a:solidFill>
                <a:latin typeface="Times New Roman" panose="02020603050405020304" pitchFamily="18" charset="0"/>
                <a:ea typeface="Times New Roman" pitchFamily="34" charset="-122"/>
                <a:cs typeface="Times New Roman" panose="02020603050405020304" pitchFamily="18" charset="0"/>
              </a:rPr>
              <a:t>Giá trị £849,238 trên tổng £20,972,968 giao dịch dương</a:t>
            </a:r>
            <a:endParaRPr lang="en-US" sz="1700" dirty="0">
              <a:latin typeface="Times New Roman" panose="02020603050405020304" pitchFamily="18" charset="0"/>
              <a:cs typeface="Times New Roman" panose="02020603050405020304" pitchFamily="18" charset="0"/>
            </a:endParaRPr>
          </a:p>
        </p:txBody>
      </p:sp>
      <p:sp>
        <p:nvSpPr>
          <p:cNvPr id="16" name="Text 0">
            <a:extLst>
              <a:ext uri="{FF2B5EF4-FFF2-40B4-BE49-F238E27FC236}">
                <a16:creationId xmlns:a16="http://schemas.microsoft.com/office/drawing/2014/main" id="{2C7D5374-8A10-CF15-872E-35B897493A96}"/>
              </a:ext>
            </a:extLst>
          </p:cNvPr>
          <p:cNvSpPr txBox="1"/>
          <p:nvPr/>
        </p:nvSpPr>
        <p:spPr>
          <a:xfrm>
            <a:off x="548640" y="48512"/>
            <a:ext cx="10515600" cy="660610"/>
          </a:xfrm>
          <a:prstGeom prst="rect">
            <a:avLst/>
          </a:prstGeom>
          <a:noFill/>
          <a:ln/>
        </p:spPr>
        <p:txBody>
          <a:bodyPr wrap="square" lIns="0" tIns="0" rIns="0" bIns="0" rtlCol="0" anchor="ctr"/>
          <a:lstStyle/>
          <a:p>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 Understanding —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StockCode không phải sản phẩm thật</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8" name="Text 2">
            <a:extLst>
              <a:ext uri="{FF2B5EF4-FFF2-40B4-BE49-F238E27FC236}">
                <a16:creationId xmlns:a16="http://schemas.microsoft.com/office/drawing/2014/main" id="{FC300C69-C320-E1E7-8FB3-9F9135475B2A}"/>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418005" y="658742"/>
            <a:ext cx="11091672" cy="365760"/>
          </a:xfrm>
          <a:prstGeom prst="rect">
            <a:avLst/>
          </a:prstGeom>
          <a:noFill/>
          <a:ln/>
        </p:spPr>
        <p:txBody>
          <a:bodyPr wrap="square" lIns="0" tIns="0" rIns="0" bIns="0" rtlCol="0" anchor="t"/>
          <a:lstStyle/>
          <a:p>
            <a:pPr marL="0" indent="0">
              <a:buNone/>
            </a:pPr>
            <a:r>
              <a:rPr lang="en-US" sz="1600" i="1" dirty="0">
                <a:latin typeface="Times New Roman" pitchFamily="34" charset="0"/>
                <a:ea typeface="Times New Roman" pitchFamily="34" charset="-122"/>
                <a:cs typeface="Times New Roman" pitchFamily="34" charset="-120"/>
              </a:rPr>
              <a:t>Skewness = 459.99 → Z-score trên dữ liệu gốc gần như “mù” trước các giá trị cực lớn</a:t>
            </a:r>
            <a:endParaRPr lang="en-US" sz="16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200" dirty="0">
                <a:solidFill>
                  <a:srgbClr val="5B6B82"/>
                </a:solidFill>
                <a:latin typeface="Times New Roman" pitchFamily="34" charset="0"/>
                <a:ea typeface="Times New Roman" pitchFamily="34" charset="-122"/>
                <a:cs typeface="Times New Roman" pitchFamily="34" charset="-120"/>
              </a:rPr>
              <a:t>12</a:t>
            </a:r>
            <a:endParaRPr lang="en-US" sz="1200" dirty="0"/>
          </a:p>
        </p:txBody>
      </p:sp>
      <p:sp>
        <p:nvSpPr>
          <p:cNvPr id="6" name="Shape 4"/>
          <p:cNvSpPr/>
          <p:nvPr/>
        </p:nvSpPr>
        <p:spPr>
          <a:xfrm>
            <a:off x="493776" y="1178324"/>
            <a:ext cx="6876288" cy="2514857"/>
          </a:xfrm>
          <a:prstGeom prst="rect">
            <a:avLst/>
          </a:prstGeom>
          <a:solidFill>
            <a:srgbClr val="FFFFFF"/>
          </a:solidFill>
          <a:ln w="12700">
            <a:solidFill>
              <a:srgbClr val="C9DAF2"/>
            </a:solidFill>
            <a:prstDash val="solid"/>
          </a:ln>
        </p:spPr>
      </p:sp>
      <p:pic>
        <p:nvPicPr>
          <p:cNvPr id="7" name="Image 0" descr="/home/claude/figs/02_quantity_hist_box.png"/>
          <p:cNvPicPr>
            <a:picLocks noChangeAspect="1"/>
          </p:cNvPicPr>
          <p:nvPr/>
        </p:nvPicPr>
        <p:blipFill>
          <a:blip r:embed="rId3"/>
          <a:stretch>
            <a:fillRect/>
          </a:stretch>
        </p:blipFill>
        <p:spPr>
          <a:xfrm>
            <a:off x="548640" y="1233188"/>
            <a:ext cx="6766560" cy="2405129"/>
          </a:xfrm>
          <a:prstGeom prst="rect">
            <a:avLst/>
          </a:prstGeom>
        </p:spPr>
      </p:pic>
      <p:sp>
        <p:nvSpPr>
          <p:cNvPr id="8" name="Text 5"/>
          <p:cNvSpPr txBox="1"/>
          <p:nvPr/>
        </p:nvSpPr>
        <p:spPr>
          <a:xfrm>
            <a:off x="548640" y="3832399"/>
            <a:ext cx="6766560" cy="274320"/>
          </a:xfrm>
          <a:prstGeom prst="rect">
            <a:avLst/>
          </a:prstGeom>
          <a:noFill/>
          <a:ln/>
        </p:spPr>
        <p:txBody>
          <a:bodyPr wrap="square" lIns="0" tIns="0" rIns="0" bIns="0" rtlCol="0" anchor="ctr"/>
          <a:lstStyle/>
          <a:p>
            <a:pPr marL="0" indent="0" algn="ctr">
              <a:buNone/>
            </a:pPr>
            <a:r>
              <a:rPr lang="en-US" sz="1500" i="1" dirty="0" err="1">
                <a:latin typeface="Times New Roman" pitchFamily="34" charset="0"/>
                <a:ea typeface="Times New Roman" pitchFamily="34" charset="-122"/>
                <a:cs typeface="Times New Roman" pitchFamily="34" charset="-120"/>
              </a:rPr>
              <a:t>Hình</a:t>
            </a:r>
            <a:r>
              <a:rPr lang="en-US" sz="1500" i="1" dirty="0">
                <a:latin typeface="Times New Roman" pitchFamily="34" charset="0"/>
                <a:ea typeface="Times New Roman" pitchFamily="34" charset="-122"/>
                <a:cs typeface="Times New Roman" pitchFamily="34" charset="-120"/>
              </a:rPr>
              <a:t> </a:t>
            </a:r>
            <a:r>
              <a:rPr lang="vi-VN" sz="1500" i="1" dirty="0">
                <a:latin typeface="Times New Roman" pitchFamily="34" charset="0"/>
                <a:ea typeface="Times New Roman" pitchFamily="34" charset="-122"/>
                <a:cs typeface="Times New Roman" pitchFamily="34" charset="-120"/>
              </a:rPr>
              <a:t>3</a:t>
            </a:r>
            <a:r>
              <a:rPr lang="en-US" sz="1500" i="1" dirty="0">
                <a:latin typeface="Times New Roman" pitchFamily="34" charset="0"/>
                <a:ea typeface="Times New Roman" pitchFamily="34" charset="-122"/>
                <a:cs typeface="Times New Roman" pitchFamily="34" charset="-120"/>
              </a:rPr>
              <a:t>. Phân phối Quantity (chưa transform, cắt ở P99)</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3966765866"/>
              </p:ext>
            </p:extLst>
          </p:nvPr>
        </p:nvGraphicFramePr>
        <p:xfrm>
          <a:off x="548640" y="4309807"/>
          <a:ext cx="6766560" cy="1536192"/>
        </p:xfrm>
        <a:graphic>
          <a:graphicData uri="http://schemas.openxmlformats.org/drawingml/2006/table">
            <a:tbl>
              <a:tblPr/>
              <a:tblGrid>
                <a:gridCol w="3291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Phương pháp</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600" b="1" dirty="0" err="1">
                          <a:solidFill>
                            <a:srgbClr val="FFFFFF"/>
                          </a:solidFill>
                          <a:latin typeface="Times New Roman" pitchFamily="34" charset="0"/>
                          <a:ea typeface="Times New Roman" pitchFamily="34" charset="-122"/>
                          <a:cs typeface="Times New Roman" pitchFamily="34" charset="-120"/>
                        </a:rPr>
                        <a:t>Số</a:t>
                      </a:r>
                      <a:r>
                        <a:rPr lang="en-US" sz="1600" b="1" dirty="0">
                          <a:solidFill>
                            <a:srgbClr val="FFFFFF"/>
                          </a:solidFill>
                          <a:latin typeface="Times New Roman" pitchFamily="34" charset="0"/>
                          <a:ea typeface="Times New Roman" pitchFamily="34" charset="-122"/>
                          <a:cs typeface="Times New Roman" pitchFamily="34" charset="-120"/>
                        </a:rPr>
                        <a:t> </a:t>
                      </a:r>
                      <a:r>
                        <a:rPr lang="vi-VN" sz="1600" b="1" dirty="0">
                          <a:solidFill>
                            <a:srgbClr val="FFFFFF"/>
                          </a:solidFill>
                          <a:latin typeface="Times New Roman" pitchFamily="34" charset="0"/>
                          <a:ea typeface="Times New Roman" pitchFamily="34" charset="-122"/>
                          <a:cs typeface="Times New Roman" pitchFamily="34" charset="-120"/>
                        </a:rPr>
                        <a:t>Outliers</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Tỷ lệ</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384048">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IQR</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A2B45"/>
                          </a:solidFill>
                          <a:latin typeface="Times New Roman" pitchFamily="34" charset="0"/>
                          <a:ea typeface="Times New Roman" pitchFamily="34" charset="-122"/>
                          <a:cs typeface="Times New Roman" pitchFamily="34" charset="-120"/>
                        </a:rPr>
                        <a:t>111,341</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A2B45"/>
                          </a:solidFill>
                          <a:latin typeface="Times New Roman" pitchFamily="34" charset="0"/>
                          <a:ea typeface="Times New Roman" pitchFamily="34" charset="-122"/>
                          <a:cs typeface="Times New Roman" pitchFamily="34" charset="-120"/>
                        </a:rPr>
                        <a:t>10.69%</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Z-score (</a:t>
                      </a:r>
                      <a:r>
                        <a:rPr lang="vi-VN" sz="1600" dirty="0">
                          <a:solidFill>
                            <a:srgbClr val="1A2B45"/>
                          </a:solidFill>
                          <a:latin typeface="Times New Roman" pitchFamily="34" charset="0"/>
                          <a:ea typeface="Times New Roman" pitchFamily="34" charset="-122"/>
                          <a:cs typeface="Times New Roman" pitchFamily="34" charset="-120"/>
                        </a:rPr>
                        <a:t>D</a:t>
                      </a:r>
                      <a:r>
                        <a:rPr lang="en-US" sz="1600" dirty="0">
                          <a:solidFill>
                            <a:srgbClr val="1A2B45"/>
                          </a:solidFill>
                          <a:latin typeface="Times New Roman" pitchFamily="34" charset="0"/>
                          <a:ea typeface="Times New Roman" pitchFamily="34" charset="-122"/>
                          <a:cs typeface="Times New Roman" pitchFamily="34" charset="-120"/>
                        </a:rPr>
                        <a:t>ữ liệu gốc)</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600" b="1" dirty="0">
                          <a:solidFill>
                            <a:srgbClr val="C0392B"/>
                          </a:solidFill>
                          <a:latin typeface="Times New Roman" pitchFamily="34" charset="0"/>
                          <a:ea typeface="Times New Roman" pitchFamily="34" charset="-122"/>
                          <a:cs typeface="Times New Roman" pitchFamily="34" charset="-120"/>
                        </a:rPr>
                        <a:t>1,590</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600" b="1" dirty="0">
                          <a:solidFill>
                            <a:srgbClr val="C0392B"/>
                          </a:solidFill>
                          <a:latin typeface="Times New Roman" pitchFamily="34" charset="0"/>
                          <a:ea typeface="Times New Roman" pitchFamily="34" charset="-122"/>
                          <a:cs typeface="Times New Roman" pitchFamily="34" charset="-120"/>
                        </a:rPr>
                        <a:t>0.15%</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384048">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Z-score (</a:t>
                      </a:r>
                      <a:r>
                        <a:rPr lang="vi-VN" sz="1600" dirty="0">
                          <a:solidFill>
                            <a:srgbClr val="1A2B45"/>
                          </a:solidFill>
                          <a:latin typeface="Times New Roman" pitchFamily="34" charset="0"/>
                          <a:ea typeface="Times New Roman" pitchFamily="34" charset="-122"/>
                          <a:cs typeface="Times New Roman" pitchFamily="34" charset="-120"/>
                        </a:rPr>
                        <a:t>S</a:t>
                      </a:r>
                      <a:r>
                        <a:rPr lang="en-US" sz="1600" dirty="0">
                          <a:solidFill>
                            <a:srgbClr val="1A2B45"/>
                          </a:solidFill>
                          <a:latin typeface="Times New Roman" pitchFamily="34" charset="0"/>
                          <a:ea typeface="Times New Roman" pitchFamily="34" charset="-122"/>
                          <a:cs typeface="Times New Roman" pitchFamily="34" charset="-120"/>
                        </a:rPr>
                        <a:t>au log1p)</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A2B45"/>
                          </a:solidFill>
                          <a:latin typeface="Times New Roman" pitchFamily="34" charset="0"/>
                          <a:ea typeface="Times New Roman" pitchFamily="34" charset="-122"/>
                          <a:cs typeface="Times New Roman" pitchFamily="34" charset="-120"/>
                        </a:rPr>
                        <a:t>9,939</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A2B45"/>
                          </a:solidFill>
                          <a:latin typeface="Times New Roman" pitchFamily="34" charset="0"/>
                          <a:ea typeface="Times New Roman" pitchFamily="34" charset="-122"/>
                          <a:cs typeface="Times New Roman" pitchFamily="34" charset="-120"/>
                        </a:rPr>
                        <a:t>0.95%</a:t>
                      </a:r>
                      <a:endParaRPr lang="en-US" sz="16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7680960" y="1188717"/>
            <a:ext cx="3959352" cy="1965960"/>
          </a:xfrm>
          <a:prstGeom prst="rect">
            <a:avLst/>
          </a:prstGeom>
          <a:solidFill>
            <a:srgbClr val="EAF2FF"/>
          </a:solidFill>
          <a:ln w="9525">
            <a:solidFill>
              <a:srgbClr val="C9DAF2"/>
            </a:solidFill>
            <a:prstDash val="solid"/>
          </a:ln>
        </p:spPr>
      </p:sp>
      <p:sp>
        <p:nvSpPr>
          <p:cNvPr id="11" name="Text 7"/>
          <p:cNvSpPr txBox="1"/>
          <p:nvPr/>
        </p:nvSpPr>
        <p:spPr>
          <a:xfrm>
            <a:off x="7863840" y="1261869"/>
            <a:ext cx="3593592" cy="320040"/>
          </a:xfrm>
          <a:prstGeom prst="rect">
            <a:avLst/>
          </a:prstGeom>
          <a:noFill/>
          <a:ln/>
        </p:spPr>
        <p:txBody>
          <a:bodyPr wrap="square" lIns="0" tIns="0" rIns="0" bIns="0" rtlCol="0" anchor="ctr"/>
          <a:lstStyle/>
          <a:p>
            <a:pPr marL="0" indent="0">
              <a:buNone/>
            </a:pPr>
            <a:r>
              <a:rPr lang="en-US" sz="1600" b="1" dirty="0">
                <a:solidFill>
                  <a:srgbClr val="0B2A5B"/>
                </a:solidFill>
                <a:latin typeface="Times New Roman" pitchFamily="34" charset="0"/>
                <a:ea typeface="Times New Roman" pitchFamily="34" charset="-122"/>
                <a:cs typeface="Times New Roman" pitchFamily="34" charset="-120"/>
              </a:rPr>
              <a:t>Skewness của Quantity</a:t>
            </a:r>
            <a:endParaRPr lang="en-US" sz="1600" dirty="0"/>
          </a:p>
        </p:txBody>
      </p:sp>
      <p:sp>
        <p:nvSpPr>
          <p:cNvPr id="12" name="Text 8"/>
          <p:cNvSpPr txBox="1"/>
          <p:nvPr/>
        </p:nvSpPr>
        <p:spPr>
          <a:xfrm>
            <a:off x="7863840" y="1600197"/>
            <a:ext cx="1796796" cy="685800"/>
          </a:xfrm>
          <a:prstGeom prst="rect">
            <a:avLst/>
          </a:prstGeom>
          <a:noFill/>
          <a:ln/>
        </p:spPr>
        <p:txBody>
          <a:bodyPr wrap="square" lIns="0" tIns="0" rIns="0" bIns="0" rtlCol="0" anchor="ctr"/>
          <a:lstStyle/>
          <a:p>
            <a:pPr marL="0" indent="0">
              <a:buNone/>
            </a:pPr>
            <a:r>
              <a:rPr lang="en-US" sz="3400" b="1" dirty="0">
                <a:solidFill>
                  <a:srgbClr val="C0392B"/>
                </a:solidFill>
                <a:latin typeface="Times New Roman" pitchFamily="34" charset="0"/>
                <a:ea typeface="Times New Roman" pitchFamily="34" charset="-122"/>
                <a:cs typeface="Times New Roman" pitchFamily="34" charset="-120"/>
              </a:rPr>
              <a:t>459.99</a:t>
            </a:r>
            <a:endParaRPr lang="en-US" sz="3400" dirty="0"/>
          </a:p>
        </p:txBody>
      </p:sp>
      <p:sp>
        <p:nvSpPr>
          <p:cNvPr id="9" name="Text 9"/>
          <p:cNvSpPr txBox="1"/>
          <p:nvPr/>
        </p:nvSpPr>
        <p:spPr>
          <a:xfrm>
            <a:off x="7863840" y="2285997"/>
            <a:ext cx="1796796" cy="274320"/>
          </a:xfrm>
          <a:prstGeom prst="rect">
            <a:avLst/>
          </a:prstGeom>
          <a:noFill/>
          <a:ln/>
        </p:spPr>
        <p:txBody>
          <a:bodyPr wrap="square" lIns="0" tIns="0" rIns="0" bIns="0" rtlCol="0" anchor="ctr"/>
          <a:lstStyle/>
          <a:p>
            <a:pPr marL="0" indent="0">
              <a:buNone/>
            </a:pPr>
            <a:r>
              <a:rPr lang="vi-VN" sz="1300" dirty="0">
                <a:latin typeface="Times New Roman" pitchFamily="34" charset="0"/>
                <a:ea typeface="Times New Roman" pitchFamily="34" charset="-122"/>
                <a:cs typeface="Times New Roman" pitchFamily="34" charset="-120"/>
              </a:rPr>
              <a:t>D</a:t>
            </a:r>
            <a:r>
              <a:rPr lang="en-US" sz="1300" dirty="0">
                <a:latin typeface="Times New Roman" pitchFamily="34" charset="0"/>
                <a:ea typeface="Times New Roman" pitchFamily="34" charset="-122"/>
                <a:cs typeface="Times New Roman" pitchFamily="34" charset="-120"/>
              </a:rPr>
              <a:t>ữ liệu gốc</a:t>
            </a:r>
            <a:endParaRPr lang="en-US" sz="1300" dirty="0"/>
          </a:p>
        </p:txBody>
      </p:sp>
      <p:sp>
        <p:nvSpPr>
          <p:cNvPr id="14" name="Text 10"/>
          <p:cNvSpPr txBox="1"/>
          <p:nvPr/>
        </p:nvSpPr>
        <p:spPr>
          <a:xfrm>
            <a:off x="9660636" y="1600197"/>
            <a:ext cx="1796796" cy="685800"/>
          </a:xfrm>
          <a:prstGeom prst="rect">
            <a:avLst/>
          </a:prstGeom>
          <a:noFill/>
          <a:ln/>
        </p:spPr>
        <p:txBody>
          <a:bodyPr wrap="square" lIns="0" tIns="0" rIns="0" bIns="0" rtlCol="0" anchor="ctr"/>
          <a:lstStyle/>
          <a:p>
            <a:pPr marL="0" indent="0">
              <a:buNone/>
            </a:pPr>
            <a:r>
              <a:rPr lang="en-US" sz="3400" b="1" dirty="0">
                <a:solidFill>
                  <a:srgbClr val="1E8449"/>
                </a:solidFill>
                <a:latin typeface="Times New Roman" pitchFamily="34" charset="0"/>
                <a:ea typeface="Times New Roman" pitchFamily="34" charset="-122"/>
                <a:cs typeface="Times New Roman" pitchFamily="34" charset="-120"/>
              </a:rPr>
              <a:t>1.06</a:t>
            </a:r>
            <a:endParaRPr lang="en-US" sz="3400" dirty="0"/>
          </a:p>
        </p:txBody>
      </p:sp>
      <p:sp>
        <p:nvSpPr>
          <p:cNvPr id="15" name="Text 11"/>
          <p:cNvSpPr txBox="1"/>
          <p:nvPr/>
        </p:nvSpPr>
        <p:spPr>
          <a:xfrm>
            <a:off x="9660636" y="2285997"/>
            <a:ext cx="1796796" cy="274320"/>
          </a:xfrm>
          <a:prstGeom prst="rect">
            <a:avLst/>
          </a:prstGeom>
          <a:noFill/>
          <a:ln/>
        </p:spPr>
        <p:txBody>
          <a:bodyPr wrap="square" lIns="0" tIns="0" rIns="0" bIns="0" rtlCol="0" anchor="ctr"/>
          <a:lstStyle/>
          <a:p>
            <a:pPr marL="0" indent="0">
              <a:buNone/>
            </a:pPr>
            <a:r>
              <a:rPr lang="vi-VN" sz="1300" dirty="0">
                <a:latin typeface="Times New Roman" pitchFamily="34" charset="0"/>
                <a:ea typeface="Times New Roman" pitchFamily="34" charset="-122"/>
                <a:cs typeface="Times New Roman" pitchFamily="34" charset="-120"/>
              </a:rPr>
              <a:t>S</a:t>
            </a:r>
            <a:r>
              <a:rPr lang="en-US" sz="1300" dirty="0">
                <a:latin typeface="Times New Roman" pitchFamily="34" charset="0"/>
                <a:ea typeface="Times New Roman" pitchFamily="34" charset="-122"/>
                <a:cs typeface="Times New Roman" pitchFamily="34" charset="-120"/>
              </a:rPr>
              <a:t>au log1p</a:t>
            </a:r>
            <a:endParaRPr lang="en-US" sz="1300" dirty="0"/>
          </a:p>
        </p:txBody>
      </p:sp>
      <p:sp>
        <p:nvSpPr>
          <p:cNvPr id="16" name="Text 12"/>
          <p:cNvSpPr txBox="1"/>
          <p:nvPr/>
        </p:nvSpPr>
        <p:spPr>
          <a:xfrm>
            <a:off x="7863840" y="2651757"/>
            <a:ext cx="3593592" cy="365760"/>
          </a:xfrm>
          <a:prstGeom prst="rect">
            <a:avLst/>
          </a:prstGeom>
          <a:noFill/>
          <a:ln/>
        </p:spPr>
        <p:txBody>
          <a:bodyPr wrap="square" lIns="0" tIns="0" rIns="0" bIns="0" rtlCol="0" anchor="ctr"/>
          <a:lstStyle/>
          <a:p>
            <a:pPr marL="0" indent="0">
              <a:buNone/>
            </a:pPr>
            <a:r>
              <a:rPr lang="en-US" sz="1300" i="1" dirty="0">
                <a:latin typeface="Times New Roman" pitchFamily="34" charset="0"/>
                <a:ea typeface="Times New Roman" pitchFamily="34" charset="-122"/>
                <a:cs typeface="Times New Roman" pitchFamily="34" charset="-120"/>
              </a:rPr>
              <a:t>(0 = </a:t>
            </a:r>
            <a:r>
              <a:rPr lang="vi-VN" sz="1300" i="1" dirty="0">
                <a:latin typeface="Times New Roman" pitchFamily="34" charset="0"/>
                <a:ea typeface="Times New Roman" pitchFamily="34" charset="-122"/>
                <a:cs typeface="Times New Roman" pitchFamily="34" charset="-120"/>
              </a:rPr>
              <a:t>Đ</a:t>
            </a:r>
            <a:r>
              <a:rPr lang="en-US" sz="1300" i="1" dirty="0" err="1">
                <a:latin typeface="Times New Roman" pitchFamily="34" charset="0"/>
                <a:ea typeface="Times New Roman" pitchFamily="34" charset="-122"/>
                <a:cs typeface="Times New Roman" pitchFamily="34" charset="-120"/>
              </a:rPr>
              <a:t>ối</a:t>
            </a:r>
            <a:r>
              <a:rPr lang="en-US" sz="1300" i="1" dirty="0">
                <a:latin typeface="Times New Roman" pitchFamily="34" charset="0"/>
                <a:ea typeface="Times New Roman" pitchFamily="34" charset="-122"/>
                <a:cs typeface="Times New Roman" pitchFamily="34" charset="-120"/>
              </a:rPr>
              <a:t> xứng; </a:t>
            </a:r>
            <a:r>
              <a:rPr lang="vi-VN" sz="1300" i="1" dirty="0">
                <a:latin typeface="Times New Roman" pitchFamily="34" charset="0"/>
                <a:ea typeface="Times New Roman" pitchFamily="34" charset="-122"/>
                <a:cs typeface="Times New Roman" pitchFamily="34" charset="-120"/>
              </a:rPr>
              <a:t>D</a:t>
            </a:r>
            <a:r>
              <a:rPr lang="en-US" sz="1300" i="1" dirty="0" err="1">
                <a:latin typeface="Times New Roman" pitchFamily="34" charset="0"/>
                <a:ea typeface="Times New Roman" pitchFamily="34" charset="-122"/>
                <a:cs typeface="Times New Roman" pitchFamily="34" charset="-120"/>
              </a:rPr>
              <a:t>ương</a:t>
            </a:r>
            <a:r>
              <a:rPr lang="en-US" sz="1300" i="1" dirty="0">
                <a:latin typeface="Times New Roman" pitchFamily="34" charset="0"/>
                <a:ea typeface="Times New Roman" pitchFamily="34" charset="-122"/>
                <a:cs typeface="Times New Roman" pitchFamily="34" charset="-120"/>
              </a:rPr>
              <a:t> lớn = </a:t>
            </a:r>
            <a:r>
              <a:rPr lang="vi-VN" sz="1300" i="1" dirty="0">
                <a:latin typeface="Times New Roman" pitchFamily="34" charset="0"/>
                <a:ea typeface="Times New Roman" pitchFamily="34" charset="-122"/>
                <a:cs typeface="Times New Roman" pitchFamily="34" charset="-120"/>
              </a:rPr>
              <a:t>L</a:t>
            </a:r>
            <a:r>
              <a:rPr lang="en-US" sz="1300" i="1" dirty="0" err="1">
                <a:latin typeface="Times New Roman" pitchFamily="34" charset="0"/>
                <a:ea typeface="Times New Roman" pitchFamily="34" charset="-122"/>
                <a:cs typeface="Times New Roman" pitchFamily="34" charset="-120"/>
              </a:rPr>
              <a:t>ệch</a:t>
            </a:r>
            <a:r>
              <a:rPr lang="en-US" sz="1300" i="1" dirty="0">
                <a:latin typeface="Times New Roman" pitchFamily="34" charset="0"/>
                <a:ea typeface="Times New Roman" pitchFamily="34" charset="-122"/>
                <a:cs typeface="Times New Roman" pitchFamily="34" charset="-120"/>
              </a:rPr>
              <a:t> phải mạnh)</a:t>
            </a:r>
            <a:endParaRPr lang="en-US" sz="1300" dirty="0"/>
          </a:p>
        </p:txBody>
      </p:sp>
      <p:sp>
        <p:nvSpPr>
          <p:cNvPr id="17" name="Shape 13"/>
          <p:cNvSpPr/>
          <p:nvPr/>
        </p:nvSpPr>
        <p:spPr>
          <a:xfrm>
            <a:off x="7680960" y="3365549"/>
            <a:ext cx="3959352" cy="2480449"/>
          </a:xfrm>
          <a:prstGeom prst="rect">
            <a:avLst/>
          </a:prstGeom>
          <a:solidFill>
            <a:srgbClr val="EAF2FF"/>
          </a:solidFill>
          <a:ln w="9525">
            <a:solidFill>
              <a:srgbClr val="C9DAF2"/>
            </a:solidFill>
            <a:prstDash val="solid"/>
          </a:ln>
        </p:spPr>
      </p:sp>
      <p:sp>
        <p:nvSpPr>
          <p:cNvPr id="18" name="Text 14"/>
          <p:cNvSpPr txBox="1"/>
          <p:nvPr/>
        </p:nvSpPr>
        <p:spPr>
          <a:xfrm>
            <a:off x="7863840" y="3429558"/>
            <a:ext cx="3593592" cy="320040"/>
          </a:xfrm>
          <a:prstGeom prst="rect">
            <a:avLst/>
          </a:prstGeom>
          <a:noFill/>
          <a:ln/>
        </p:spPr>
        <p:txBody>
          <a:bodyPr wrap="square" lIns="0" tIns="0" rIns="0" bIns="0" rtlCol="0" anchor="ctr"/>
          <a:lstStyle/>
          <a:p>
            <a:pPr marL="0" indent="0">
              <a:buNone/>
            </a:pPr>
            <a:r>
              <a:rPr lang="en-US" sz="1600" b="1" dirty="0">
                <a:solidFill>
                  <a:srgbClr val="0B2A5B"/>
                </a:solidFill>
                <a:latin typeface="Times New Roman" pitchFamily="34" charset="0"/>
                <a:ea typeface="Times New Roman" pitchFamily="34" charset="-122"/>
                <a:cs typeface="Times New Roman" pitchFamily="34" charset="-120"/>
              </a:rPr>
              <a:t>Kết luận kỹ thuật</a:t>
            </a:r>
            <a:endParaRPr lang="en-US" sz="1600" dirty="0"/>
          </a:p>
        </p:txBody>
      </p:sp>
      <p:sp>
        <p:nvSpPr>
          <p:cNvPr id="19" name="Text 15"/>
          <p:cNvSpPr txBox="1"/>
          <p:nvPr/>
        </p:nvSpPr>
        <p:spPr>
          <a:xfrm>
            <a:off x="7863840" y="3795318"/>
            <a:ext cx="3593592" cy="196167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Độ lệch chuẩn bị vài giá trị cực lớn kéo giãn → Z-score gốc bỏ </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sót</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400" dirty="0">
                <a:solidFill>
                  <a:srgbClr val="1A2B45"/>
                </a:solidFill>
                <a:latin typeface="Times New Roman" panose="02020603050405020304" pitchFamily="18" charset="0"/>
                <a:ea typeface="Times New Roman" pitchFamily="34" charset="-122"/>
                <a:cs typeface="Times New Roman" panose="02020603050405020304" pitchFamily="18" charset="0"/>
              </a:rPr>
              <a:t>Outliers.</a:t>
            </a:r>
          </a:p>
          <a:p>
            <a:pPr marL="203200" indent="-203200">
              <a:spcAft>
                <a:spcPts val="400"/>
              </a:spcAft>
              <a:buSzPct val="100000"/>
              <a:buChar char="•"/>
            </a:pPr>
            <a:r>
              <a:rPr lang="en-US" sz="1400" dirty="0" err="1">
                <a:latin typeface="Times New Roman" panose="02020603050405020304" pitchFamily="18" charset="0"/>
                <a:cs typeface="Times New Roman" panose="02020603050405020304" pitchFamily="18" charset="0"/>
              </a:rPr>
              <a:t>Không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xoá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mù</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quáng</a:t>
            </a:r>
            <a:r>
              <a:rPr lang="en-US"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N</a:t>
            </a:r>
            <a:r>
              <a:rPr lang="en-US" sz="1400" dirty="0" err="1">
                <a:latin typeface="Times New Roman" panose="02020603050405020304" pitchFamily="18" charset="0"/>
                <a:cs typeface="Times New Roman" panose="02020603050405020304" pitchFamily="18" charset="0"/>
              </a:rPr>
              <a:t>hóm</a:t>
            </a:r>
            <a:r>
              <a:rPr lang="en-US"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T</a:t>
            </a:r>
            <a:r>
              <a:rPr lang="en-US" sz="1400" dirty="0">
                <a:latin typeface="Times New Roman" panose="02020603050405020304" pitchFamily="18" charset="0"/>
                <a:cs typeface="Times New Roman" panose="02020603050405020304" pitchFamily="18" charset="0"/>
              </a:rPr>
              <a:t>op 1% Quantity (≥100)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vị</a:t>
            </a:r>
            <a:r>
              <a:rPr lang="en-US" sz="1400" dirty="0">
                <a:latin typeface="Times New Roman" panose="02020603050405020304" pitchFamily="18" charset="0"/>
                <a:cs typeface="Times New Roman" panose="02020603050405020304" pitchFamily="18" charset="0"/>
              </a:rPr>
              <a:t> £1.06 &lt; £2.10 </a:t>
            </a:r>
            <a:r>
              <a:rPr lang="en-US" sz="1400" dirty="0" err="1">
                <a:latin typeface="Times New Roman" panose="02020603050405020304" pitchFamily="18" charset="0"/>
                <a:cs typeface="Times New Roman" panose="02020603050405020304" pitchFamily="18" charset="0"/>
              </a:rPr>
              <a:t>chung</a:t>
            </a:r>
            <a:r>
              <a:rPr lang="en-US" sz="1400" dirty="0">
                <a:latin typeface="Times New Roman" panose="02020603050405020304" pitchFamily="18" charset="0"/>
                <a:cs typeface="Times New Roman" panose="02020603050405020304" pitchFamily="18" charset="0"/>
              </a:rPr>
              <a:t> → </a:t>
            </a:r>
            <a:r>
              <a:rPr lang="vi-VN" sz="1400" dirty="0">
                <a:latin typeface="Times New Roman" panose="02020603050405020304" pitchFamily="18" charset="0"/>
                <a:cs typeface="Times New Roman" panose="02020603050405020304" pitchFamily="18" charset="0"/>
              </a:rPr>
              <a:t>D</a:t>
            </a:r>
            <a:r>
              <a:rPr lang="en-US" sz="1400" dirty="0" err="1">
                <a:latin typeface="Times New Roman" panose="02020603050405020304" pitchFamily="18" charset="0"/>
                <a:cs typeface="Times New Roman" panose="02020603050405020304" pitchFamily="18" charset="0"/>
              </a:rPr>
              <a:t>ấu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bán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buôn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hợp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lệ</a:t>
            </a:r>
            <a:r>
              <a:rPr lang="en-US" sz="1400" dirty="0">
                <a:latin typeface="Times New Roman" panose="02020603050405020304" pitchFamily="18" charset="0"/>
                <a:cs typeface="Times New Roman" panose="02020603050405020304" pitchFamily="18" charset="0"/>
              </a:rPr>
              <a:t>.</a:t>
            </a:r>
          </a:p>
          <a:p>
            <a:pPr marL="203200" indent="-203200">
              <a:spcAft>
                <a:spcPts val="400"/>
              </a:spcAft>
              <a:buSzPct val="100000"/>
              <a:buChar char="•"/>
            </a:pP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Cần log1p trước khi dùng Z-score</a:t>
            </a:r>
            <a:endParaRPr lang="en-US" sz="14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Đây là căn cứ cho bước xử </a:t>
            </a:r>
            <a:r>
              <a:rPr lang="en-US" sz="1400" dirty="0" err="1">
                <a:solidFill>
                  <a:srgbClr val="1A2B45"/>
                </a:solidFill>
                <a:latin typeface="Times New Roman" panose="02020603050405020304" pitchFamily="18" charset="0"/>
                <a:ea typeface="Times New Roman" pitchFamily="34" charset="-122"/>
                <a:cs typeface="Times New Roman" panose="02020603050405020304" pitchFamily="18" charset="0"/>
              </a:rPr>
              <a:t>lý</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400" dirty="0">
                <a:solidFill>
                  <a:srgbClr val="1A2B45"/>
                </a:solidFill>
                <a:latin typeface="Times New Roman" panose="02020603050405020304" pitchFamily="18" charset="0"/>
                <a:ea typeface="Times New Roman" pitchFamily="34" charset="-122"/>
                <a:cs typeface="Times New Roman" panose="02020603050405020304" pitchFamily="18" charset="0"/>
              </a:rPr>
              <a:t>Outliers</a:t>
            </a:r>
            <a:r>
              <a:rPr lang="en-US" sz="1400" dirty="0">
                <a:solidFill>
                  <a:srgbClr val="1A2B45"/>
                </a:solidFill>
                <a:latin typeface="Times New Roman" panose="02020603050405020304" pitchFamily="18" charset="0"/>
                <a:ea typeface="Times New Roman" pitchFamily="34" charset="-122"/>
                <a:cs typeface="Times New Roman" panose="02020603050405020304" pitchFamily="18" charset="0"/>
              </a:rPr>
              <a:t> trong Cleaning.py</a:t>
            </a:r>
            <a:endParaRPr lang="en-US" sz="1400" dirty="0">
              <a:latin typeface="Times New Roman" panose="02020603050405020304" pitchFamily="18" charset="0"/>
              <a:cs typeface="Times New Roman" panose="02020603050405020304" pitchFamily="18" charset="0"/>
            </a:endParaRPr>
          </a:p>
        </p:txBody>
      </p:sp>
      <p:sp>
        <p:nvSpPr>
          <p:cNvPr id="21" name="Text 0">
            <a:extLst>
              <a:ext uri="{FF2B5EF4-FFF2-40B4-BE49-F238E27FC236}">
                <a16:creationId xmlns:a16="http://schemas.microsoft.com/office/drawing/2014/main" id="{B1104059-65B7-BA78-FA63-08E1781A9F22}"/>
              </a:ext>
            </a:extLst>
          </p:cNvPr>
          <p:cNvSpPr txBox="1"/>
          <p:nvPr/>
        </p:nvSpPr>
        <p:spPr>
          <a:xfrm>
            <a:off x="445998" y="39181"/>
            <a:ext cx="10657431" cy="660610"/>
          </a:xfrm>
          <a:prstGeom prst="rect">
            <a:avLst/>
          </a:prstGeom>
          <a:noFill/>
          <a:ln/>
        </p:spPr>
        <p:txBody>
          <a:bodyPr wrap="square" lIns="0" tIns="0" rIns="0" bIns="0" rtlCol="0" anchor="ctr"/>
          <a:lstStyle/>
          <a:p>
            <a:r>
              <a:rPr lang="en-US"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Data Understanding — </a:t>
            </a:r>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Outlier: So sánh IQR vs Z-score</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3" name="Text 2">
            <a:extLst>
              <a:ext uri="{FF2B5EF4-FFF2-40B4-BE49-F238E27FC236}">
                <a16:creationId xmlns:a16="http://schemas.microsoft.com/office/drawing/2014/main" id="{E1606F4B-6B1C-966D-EE5D-EFF8974027A9}"/>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763244"/>
            <a:ext cx="11091672" cy="365760"/>
          </a:xfrm>
          <a:prstGeom prst="rect">
            <a:avLst/>
          </a:prstGeom>
          <a:noFill/>
          <a:ln/>
        </p:spPr>
        <p:txBody>
          <a:bodyPr wrap="square" lIns="0" tIns="0" rIns="0" bIns="0" rtlCol="0" anchor="t"/>
          <a:lstStyle/>
          <a:p>
            <a:pPr marL="0" indent="0">
              <a:buNone/>
            </a:pPr>
            <a:r>
              <a:rPr lang="en-US" i="1" dirty="0">
                <a:latin typeface="Times New Roman" pitchFamily="34" charset="0"/>
                <a:ea typeface="Times New Roman" pitchFamily="34" charset="-122"/>
                <a:cs typeface="Times New Roman" pitchFamily="34" charset="-120"/>
              </a:rPr>
              <a:t>Kiểm định giả thuyết bằng số liệu trước khi quyết định xoá</a:t>
            </a:r>
            <a:endParaRPr lang="en-US"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200" dirty="0">
                <a:solidFill>
                  <a:srgbClr val="5B6B82"/>
                </a:solidFill>
                <a:latin typeface="Times New Roman" pitchFamily="34" charset="0"/>
                <a:ea typeface="Times New Roman" pitchFamily="34" charset="-122"/>
                <a:cs typeface="Times New Roman" pitchFamily="34" charset="-120"/>
              </a:rPr>
              <a:t>13</a:t>
            </a:r>
            <a:endParaRPr lang="en-US" sz="1200" dirty="0"/>
          </a:p>
        </p:txBody>
      </p:sp>
      <p:sp>
        <p:nvSpPr>
          <p:cNvPr id="6" name="Shape 4"/>
          <p:cNvSpPr/>
          <p:nvPr/>
        </p:nvSpPr>
        <p:spPr>
          <a:xfrm>
            <a:off x="548640" y="1645920"/>
            <a:ext cx="11091672" cy="777240"/>
          </a:xfrm>
          <a:prstGeom prst="rect">
            <a:avLst/>
          </a:prstGeom>
          <a:solidFill>
            <a:srgbClr val="EAF2FF"/>
          </a:solidFill>
          <a:ln w="9525">
            <a:solidFill>
              <a:srgbClr val="C9DAF2"/>
            </a:solidFill>
            <a:prstDash val="solid"/>
          </a:ln>
        </p:spPr>
      </p:sp>
      <p:sp>
        <p:nvSpPr>
          <p:cNvPr id="7" name="Text 5"/>
          <p:cNvSpPr txBox="1"/>
          <p:nvPr/>
        </p:nvSpPr>
        <p:spPr>
          <a:xfrm>
            <a:off x="777240" y="1645920"/>
            <a:ext cx="10634472" cy="777240"/>
          </a:xfrm>
          <a:prstGeom prst="rect">
            <a:avLst/>
          </a:prstGeom>
          <a:noFill/>
          <a:ln/>
        </p:spPr>
        <p:txBody>
          <a:bodyPr wrap="square" lIns="0" tIns="0" rIns="0" bIns="0" rtlCol="0" anchor="ctr"/>
          <a:lstStyle/>
          <a:p>
            <a:pPr marL="0" indent="0">
              <a:buNone/>
            </a:pPr>
            <a:r>
              <a:rPr lang="en-US" sz="1600" b="1" dirty="0">
                <a:solidFill>
                  <a:srgbClr val="0B2A5B"/>
                </a:solidFill>
                <a:latin typeface="Times New Roman" pitchFamily="34" charset="0"/>
                <a:ea typeface="Times New Roman" pitchFamily="34" charset="-122"/>
                <a:cs typeface="Times New Roman" pitchFamily="34" charset="-120"/>
              </a:rPr>
              <a:t>Giả thuyết: </a:t>
            </a:r>
            <a:r>
              <a:rPr lang="vi-VN" sz="1600" dirty="0">
                <a:solidFill>
                  <a:srgbClr val="1A2B45"/>
                </a:solidFill>
                <a:latin typeface="Times New Roman" pitchFamily="34" charset="0"/>
                <a:ea typeface="Times New Roman" pitchFamily="34" charset="-122"/>
                <a:cs typeface="Times New Roman" pitchFamily="34" charset="-120"/>
              </a:rPr>
              <a:t>N</a:t>
            </a:r>
            <a:r>
              <a:rPr lang="en-US" sz="1600" dirty="0" err="1">
                <a:solidFill>
                  <a:srgbClr val="1A2B45"/>
                </a:solidFill>
                <a:latin typeface="Times New Roman" pitchFamily="34" charset="0"/>
                <a:ea typeface="Times New Roman" pitchFamily="34" charset="-122"/>
                <a:cs typeface="Times New Roman" pitchFamily="34" charset="-120"/>
              </a:rPr>
              <a:t>ếu</a:t>
            </a:r>
            <a:r>
              <a:rPr lang="en-US" sz="1600" dirty="0">
                <a:solidFill>
                  <a:srgbClr val="1A2B45"/>
                </a:solidFill>
                <a:latin typeface="Times New Roman" pitchFamily="34" charset="0"/>
                <a:ea typeface="Times New Roman" pitchFamily="34" charset="-122"/>
                <a:cs typeface="Times New Roman" pitchFamily="34" charset="-120"/>
              </a:rPr>
              <a:t> nhóm Quantity </a:t>
            </a:r>
            <a:r>
              <a:rPr lang="en-US" sz="1600" dirty="0" err="1">
                <a:solidFill>
                  <a:srgbClr val="1A2B45"/>
                </a:solidFill>
                <a:latin typeface="Times New Roman" pitchFamily="34" charset="0"/>
                <a:ea typeface="Times New Roman" pitchFamily="34" charset="-122"/>
                <a:cs typeface="Times New Roman" pitchFamily="34" charset="-120"/>
              </a:rPr>
              <a:t>cao</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T</a:t>
            </a:r>
            <a:r>
              <a:rPr lang="en-US" sz="1600" dirty="0">
                <a:solidFill>
                  <a:srgbClr val="1A2B45"/>
                </a:solidFill>
                <a:latin typeface="Times New Roman" pitchFamily="34" charset="0"/>
                <a:ea typeface="Times New Roman" pitchFamily="34" charset="-122"/>
                <a:cs typeface="Times New Roman" pitchFamily="34" charset="-120"/>
              </a:rPr>
              <a:t>op 1%) có Price trung </a:t>
            </a:r>
            <a:r>
              <a:rPr lang="en-US" sz="1600" dirty="0" err="1">
                <a:solidFill>
                  <a:srgbClr val="1A2B45"/>
                </a:solidFill>
                <a:latin typeface="Times New Roman" pitchFamily="34" charset="0"/>
                <a:ea typeface="Times New Roman" pitchFamily="34" charset="-122"/>
                <a:cs typeface="Times New Roman" pitchFamily="34" charset="-120"/>
              </a:rPr>
              <a:t>vị</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thấp</a:t>
            </a:r>
            <a:r>
              <a:rPr lang="en-US" sz="1600" dirty="0">
                <a:solidFill>
                  <a:srgbClr val="1A2B45"/>
                </a:solidFill>
                <a:latin typeface="Times New Roman" pitchFamily="34" charset="0"/>
                <a:ea typeface="Times New Roman" pitchFamily="34" charset="-122"/>
                <a:cs typeface="Times New Roman" pitchFamily="34" charset="-120"/>
              </a:rPr>
              <a:t> hơn Price trung vị chung → </a:t>
            </a:r>
            <a:r>
              <a:rPr lang="vi-VN" sz="1600" dirty="0">
                <a:solidFill>
                  <a:srgbClr val="1A2B45"/>
                </a:solidFill>
                <a:latin typeface="Times New Roman" pitchFamily="34" charset="0"/>
                <a:ea typeface="Times New Roman" pitchFamily="34" charset="-122"/>
                <a:cs typeface="Times New Roman" pitchFamily="34" charset="-120"/>
              </a:rPr>
              <a:t>Ủ</a:t>
            </a:r>
            <a:r>
              <a:rPr lang="en-US" sz="1600" dirty="0">
                <a:solidFill>
                  <a:srgbClr val="1A2B45"/>
                </a:solidFill>
                <a:latin typeface="Times New Roman" pitchFamily="34" charset="0"/>
                <a:ea typeface="Times New Roman" pitchFamily="34" charset="-122"/>
                <a:cs typeface="Times New Roman" pitchFamily="34" charset="-120"/>
              </a:rPr>
              <a:t>ng hộ “bán buôn hợp lệ, giá ưu đãi cho số lượng lớn”, chứ không phải lỗi nhập liệu.</a:t>
            </a:r>
            <a:endParaRPr lang="en-US" sz="1600" dirty="0"/>
          </a:p>
        </p:txBody>
      </p:sp>
      <p:sp>
        <p:nvSpPr>
          <p:cNvPr id="8" name="Shape 6"/>
          <p:cNvSpPr/>
          <p:nvPr/>
        </p:nvSpPr>
        <p:spPr>
          <a:xfrm>
            <a:off x="548640" y="2697480"/>
            <a:ext cx="3291840" cy="1828800"/>
          </a:xfrm>
          <a:prstGeom prst="rect">
            <a:avLst/>
          </a:prstGeom>
          <a:solidFill>
            <a:srgbClr val="EAF2FF"/>
          </a:solidFill>
          <a:ln w="9525">
            <a:solidFill>
              <a:srgbClr val="C9DAF2"/>
            </a:solidFill>
            <a:prstDash val="solid"/>
          </a:ln>
        </p:spPr>
      </p:sp>
      <p:sp>
        <p:nvSpPr>
          <p:cNvPr id="9" name="Text 7"/>
          <p:cNvSpPr txBox="1"/>
          <p:nvPr/>
        </p:nvSpPr>
        <p:spPr>
          <a:xfrm>
            <a:off x="548640" y="2788920"/>
            <a:ext cx="3291840" cy="868680"/>
          </a:xfrm>
          <a:prstGeom prst="rect">
            <a:avLst/>
          </a:prstGeom>
          <a:noFill/>
          <a:ln/>
        </p:spPr>
        <p:txBody>
          <a:bodyPr wrap="square" lIns="0" tIns="0" rIns="0" bIns="0" rtlCol="0" anchor="ctr"/>
          <a:lstStyle/>
          <a:p>
            <a:pPr marL="0" indent="0" algn="ctr">
              <a:buNone/>
            </a:pPr>
            <a:r>
              <a:rPr lang="en-US" sz="5000" b="1" dirty="0">
                <a:solidFill>
                  <a:srgbClr val="1F6FEB"/>
                </a:solidFill>
                <a:latin typeface="Times New Roman" pitchFamily="34" charset="0"/>
                <a:ea typeface="Times New Roman" pitchFamily="34" charset="-122"/>
                <a:cs typeface="Times New Roman" pitchFamily="34" charset="-120"/>
              </a:rPr>
              <a:t>£1.06</a:t>
            </a:r>
            <a:endParaRPr lang="en-US" sz="5000" dirty="0"/>
          </a:p>
        </p:txBody>
      </p:sp>
      <p:sp>
        <p:nvSpPr>
          <p:cNvPr id="10" name="Text 8"/>
          <p:cNvSpPr txBox="1"/>
          <p:nvPr/>
        </p:nvSpPr>
        <p:spPr>
          <a:xfrm>
            <a:off x="640080" y="3657600"/>
            <a:ext cx="3108960" cy="777240"/>
          </a:xfrm>
          <a:prstGeom prst="rect">
            <a:avLst/>
          </a:prstGeom>
          <a:noFill/>
          <a:ln/>
        </p:spPr>
        <p:txBody>
          <a:bodyPr wrap="square" lIns="0" tIns="0" rIns="0" bIns="0" rtlCol="0" anchor="t"/>
          <a:lstStyle/>
          <a:p>
            <a:pPr marL="0" indent="0" algn="ctr">
              <a:buNone/>
            </a:pPr>
            <a:r>
              <a:rPr lang="en-US" sz="1600" dirty="0">
                <a:solidFill>
                  <a:srgbClr val="5B6B82"/>
                </a:solidFill>
                <a:latin typeface="Times New Roman" pitchFamily="34" charset="0"/>
                <a:ea typeface="Times New Roman" pitchFamily="34" charset="-122"/>
                <a:cs typeface="Times New Roman" pitchFamily="34" charset="-120"/>
              </a:rPr>
              <a:t>Price trung vị — </a:t>
            </a:r>
            <a:r>
              <a:rPr lang="vi-VN" sz="1600" dirty="0">
                <a:solidFill>
                  <a:srgbClr val="5B6B82"/>
                </a:solidFill>
                <a:latin typeface="Times New Roman" pitchFamily="34" charset="0"/>
                <a:ea typeface="Times New Roman" pitchFamily="34" charset="-122"/>
                <a:cs typeface="Times New Roman" pitchFamily="34" charset="-120"/>
              </a:rPr>
              <a:t>N</a:t>
            </a:r>
            <a:r>
              <a:rPr lang="en-US" sz="1600" dirty="0" err="1">
                <a:solidFill>
                  <a:srgbClr val="5B6B82"/>
                </a:solidFill>
                <a:latin typeface="Times New Roman" pitchFamily="34" charset="0"/>
                <a:ea typeface="Times New Roman" pitchFamily="34" charset="-122"/>
                <a:cs typeface="Times New Roman" pitchFamily="34" charset="-120"/>
              </a:rPr>
              <a:t>hóm</a:t>
            </a:r>
            <a:r>
              <a:rPr lang="en-US" sz="1600" dirty="0">
                <a:solidFill>
                  <a:srgbClr val="5B6B82"/>
                </a:solidFill>
                <a:latin typeface="Times New Roman" pitchFamily="34" charset="0"/>
                <a:ea typeface="Times New Roman" pitchFamily="34" charset="-122"/>
                <a:cs typeface="Times New Roman" pitchFamily="34" charset="-120"/>
              </a:rPr>
              <a:t> Quantity cao</a:t>
            </a:r>
            <a:endParaRPr lang="en-US" sz="1600" dirty="0"/>
          </a:p>
          <a:p>
            <a:pPr marL="0" indent="0" algn="ctr">
              <a:buNone/>
            </a:pPr>
            <a:r>
              <a:rPr lang="en-US" sz="1600" dirty="0">
                <a:solidFill>
                  <a:srgbClr val="5B6B82"/>
                </a:solidFill>
                <a:latin typeface="Times New Roman" pitchFamily="34" charset="0"/>
                <a:ea typeface="Times New Roman" pitchFamily="34" charset="-122"/>
                <a:cs typeface="Times New Roman" pitchFamily="34" charset="-120"/>
              </a:rPr>
              <a:t>(≥ 100 đơn vị, 13,524 dòng)</a:t>
            </a:r>
            <a:endParaRPr lang="en-US" sz="1600" dirty="0"/>
          </a:p>
        </p:txBody>
      </p:sp>
      <p:sp>
        <p:nvSpPr>
          <p:cNvPr id="11" name="Text 9"/>
          <p:cNvSpPr txBox="1"/>
          <p:nvPr/>
        </p:nvSpPr>
        <p:spPr>
          <a:xfrm>
            <a:off x="3840480" y="3108960"/>
            <a:ext cx="640080" cy="822960"/>
          </a:xfrm>
          <a:prstGeom prst="rect">
            <a:avLst/>
          </a:prstGeom>
          <a:noFill/>
          <a:ln/>
        </p:spPr>
        <p:txBody>
          <a:bodyPr wrap="square" lIns="0" tIns="0" rIns="0" bIns="0" rtlCol="0" anchor="ctr"/>
          <a:lstStyle/>
          <a:p>
            <a:pPr marL="0" indent="0" algn="ctr">
              <a:buNone/>
            </a:pPr>
            <a:r>
              <a:rPr lang="en-US" sz="4400" b="1" dirty="0">
                <a:solidFill>
                  <a:srgbClr val="0B2A5B"/>
                </a:solidFill>
                <a:latin typeface="Times New Roman" pitchFamily="34" charset="0"/>
                <a:ea typeface="Times New Roman" pitchFamily="34" charset="-122"/>
                <a:cs typeface="Times New Roman" pitchFamily="34" charset="-120"/>
              </a:rPr>
              <a:t>&lt;</a:t>
            </a:r>
            <a:endParaRPr lang="en-US" sz="4400" dirty="0"/>
          </a:p>
        </p:txBody>
      </p:sp>
      <p:sp>
        <p:nvSpPr>
          <p:cNvPr id="12" name="Shape 10"/>
          <p:cNvSpPr/>
          <p:nvPr/>
        </p:nvSpPr>
        <p:spPr>
          <a:xfrm>
            <a:off x="4480560" y="2697480"/>
            <a:ext cx="3291840" cy="1828800"/>
          </a:xfrm>
          <a:prstGeom prst="rect">
            <a:avLst/>
          </a:prstGeom>
          <a:solidFill>
            <a:srgbClr val="EAF2FF"/>
          </a:solidFill>
          <a:ln w="9525">
            <a:solidFill>
              <a:srgbClr val="C9DAF2"/>
            </a:solidFill>
            <a:prstDash val="solid"/>
          </a:ln>
        </p:spPr>
      </p:sp>
      <p:sp>
        <p:nvSpPr>
          <p:cNvPr id="13" name="Text 11"/>
          <p:cNvSpPr txBox="1"/>
          <p:nvPr/>
        </p:nvSpPr>
        <p:spPr>
          <a:xfrm>
            <a:off x="4480560" y="2788920"/>
            <a:ext cx="3291840" cy="868680"/>
          </a:xfrm>
          <a:prstGeom prst="rect">
            <a:avLst/>
          </a:prstGeom>
          <a:noFill/>
          <a:ln/>
        </p:spPr>
        <p:txBody>
          <a:bodyPr wrap="square" lIns="0" tIns="0" rIns="0" bIns="0" rtlCol="0" anchor="ctr"/>
          <a:lstStyle/>
          <a:p>
            <a:pPr marL="0" indent="0" algn="ctr">
              <a:buNone/>
            </a:pPr>
            <a:r>
              <a:rPr lang="en-US" sz="5000" b="1" dirty="0">
                <a:solidFill>
                  <a:srgbClr val="0B2A5B"/>
                </a:solidFill>
                <a:latin typeface="Times New Roman" pitchFamily="34" charset="0"/>
                <a:ea typeface="Times New Roman" pitchFamily="34" charset="-122"/>
                <a:cs typeface="Times New Roman" pitchFamily="34" charset="-120"/>
              </a:rPr>
              <a:t>£2.10</a:t>
            </a:r>
            <a:endParaRPr lang="en-US" sz="5000" dirty="0"/>
          </a:p>
        </p:txBody>
      </p:sp>
      <p:sp>
        <p:nvSpPr>
          <p:cNvPr id="14" name="Text 12"/>
          <p:cNvSpPr txBox="1"/>
          <p:nvPr/>
        </p:nvSpPr>
        <p:spPr>
          <a:xfrm>
            <a:off x="4572000" y="3657600"/>
            <a:ext cx="3108960" cy="777240"/>
          </a:xfrm>
          <a:prstGeom prst="rect">
            <a:avLst/>
          </a:prstGeom>
          <a:noFill/>
          <a:ln/>
        </p:spPr>
        <p:txBody>
          <a:bodyPr wrap="square" lIns="0" tIns="0" rIns="0" bIns="0" rtlCol="0" anchor="t"/>
          <a:lstStyle/>
          <a:p>
            <a:pPr marL="0" indent="0" algn="ctr">
              <a:buNone/>
            </a:pPr>
            <a:r>
              <a:rPr lang="en-US" sz="1600" dirty="0">
                <a:solidFill>
                  <a:srgbClr val="5B6B82"/>
                </a:solidFill>
                <a:latin typeface="Times New Roman" pitchFamily="34" charset="0"/>
                <a:ea typeface="Times New Roman" pitchFamily="34" charset="-122"/>
                <a:cs typeface="Times New Roman" pitchFamily="34" charset="-120"/>
              </a:rPr>
              <a:t>Price trung vị — </a:t>
            </a:r>
            <a:r>
              <a:rPr lang="vi-VN" sz="1600" dirty="0">
                <a:solidFill>
                  <a:srgbClr val="5B6B82"/>
                </a:solidFill>
                <a:latin typeface="Times New Roman" pitchFamily="34" charset="0"/>
                <a:ea typeface="Times New Roman" pitchFamily="34" charset="-122"/>
                <a:cs typeface="Times New Roman" pitchFamily="34" charset="-120"/>
              </a:rPr>
              <a:t>T</a:t>
            </a:r>
            <a:r>
              <a:rPr lang="en-US" sz="1600" dirty="0" err="1">
                <a:solidFill>
                  <a:srgbClr val="5B6B82"/>
                </a:solidFill>
                <a:latin typeface="Times New Roman" pitchFamily="34" charset="0"/>
                <a:ea typeface="Times New Roman" pitchFamily="34" charset="-122"/>
                <a:cs typeface="Times New Roman" pitchFamily="34" charset="-120"/>
              </a:rPr>
              <a:t>oàn</a:t>
            </a:r>
            <a:r>
              <a:rPr lang="en-US" sz="1600" dirty="0">
                <a:solidFill>
                  <a:srgbClr val="5B6B82"/>
                </a:solidFill>
                <a:latin typeface="Times New Roman" pitchFamily="34" charset="0"/>
                <a:ea typeface="Times New Roman" pitchFamily="34" charset="-122"/>
                <a:cs typeface="Times New Roman" pitchFamily="34" charset="-120"/>
              </a:rPr>
              <a:t> bộ giao dịch dương</a:t>
            </a:r>
            <a:endParaRPr lang="en-US" sz="1600" dirty="0"/>
          </a:p>
        </p:txBody>
      </p:sp>
      <p:sp>
        <p:nvSpPr>
          <p:cNvPr id="15" name="Text 13"/>
          <p:cNvSpPr txBox="1"/>
          <p:nvPr/>
        </p:nvSpPr>
        <p:spPr>
          <a:xfrm>
            <a:off x="548640" y="4634512"/>
            <a:ext cx="6858000" cy="292608"/>
          </a:xfrm>
          <a:prstGeom prst="rect">
            <a:avLst/>
          </a:prstGeom>
          <a:noFill/>
          <a:ln/>
        </p:spPr>
        <p:txBody>
          <a:bodyPr wrap="square" lIns="0" tIns="0" rIns="0" bIns="0" rtlCol="0" anchor="ctr"/>
          <a:lstStyle/>
          <a:p>
            <a:pPr marL="0" indent="0">
              <a:buNone/>
            </a:pPr>
            <a:r>
              <a:rPr lang="en-US" b="1" dirty="0">
                <a:solidFill>
                  <a:srgbClr val="0B2A5B"/>
                </a:solidFill>
                <a:latin typeface="Times New Roman" pitchFamily="34" charset="0"/>
                <a:ea typeface="Times New Roman" pitchFamily="34" charset="-122"/>
                <a:cs typeface="Times New Roman" pitchFamily="34" charset="-120"/>
              </a:rPr>
              <a:t>Các giao dịch Quantity cao nhất</a:t>
            </a:r>
            <a:endParaRPr lang="en-US" dirty="0"/>
          </a:p>
        </p:txBody>
      </p:sp>
      <p:graphicFrame>
        <p:nvGraphicFramePr>
          <p:cNvPr id="16" name="Table 0"/>
          <p:cNvGraphicFramePr>
            <a:graphicFrameLocks noGrp="1"/>
          </p:cNvGraphicFramePr>
          <p:nvPr>
            <p:extLst>
              <p:ext uri="{D42A27DB-BD31-4B8C-83A1-F6EECF244321}">
                <p14:modId xmlns:p14="http://schemas.microsoft.com/office/powerpoint/2010/main" val="3408680336"/>
              </p:ext>
            </p:extLst>
          </p:nvPr>
        </p:nvGraphicFramePr>
        <p:xfrm>
          <a:off x="548640" y="5029199"/>
          <a:ext cx="6675120" cy="1328060"/>
        </p:xfrm>
        <a:graphic>
          <a:graphicData uri="http://schemas.openxmlformats.org/drawingml/2006/table">
            <a:tbl>
              <a:tblPr/>
              <a:tblGrid>
                <a:gridCol w="10972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32015">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Invoice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Sản phẩm</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Quantity</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Price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332015">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581483</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PAPER CRAFT, LITTLE BIRDIE</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300" dirty="0">
                          <a:solidFill>
                            <a:srgbClr val="1A2B45"/>
                          </a:solidFill>
                          <a:latin typeface="Times New Roman" pitchFamily="34" charset="0"/>
                          <a:ea typeface="Times New Roman" pitchFamily="34" charset="-122"/>
                          <a:cs typeface="Times New Roman" pitchFamily="34" charset="-120"/>
                        </a:rPr>
                        <a:t>80,995</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300" dirty="0">
                          <a:solidFill>
                            <a:srgbClr val="1A2B45"/>
                          </a:solidFill>
                          <a:latin typeface="Times New Roman" pitchFamily="34" charset="0"/>
                          <a:ea typeface="Times New Roman" pitchFamily="34" charset="-122"/>
                          <a:cs typeface="Times New Roman" pitchFamily="34" charset="-120"/>
                        </a:rPr>
                        <a:t>£2.08</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015">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541431</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MEDIUM CERAMIC TOP STORAGE JAR</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300" dirty="0">
                          <a:solidFill>
                            <a:srgbClr val="1A2B45"/>
                          </a:solidFill>
                          <a:latin typeface="Times New Roman" pitchFamily="34" charset="0"/>
                          <a:ea typeface="Times New Roman" pitchFamily="34" charset="-122"/>
                          <a:cs typeface="Times New Roman" pitchFamily="34" charset="-120"/>
                        </a:rPr>
                        <a:t>74,215</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r">
                        <a:buNone/>
                      </a:pPr>
                      <a:r>
                        <a:rPr lang="en-US" sz="1300" dirty="0">
                          <a:solidFill>
                            <a:srgbClr val="1A2B45"/>
                          </a:solidFill>
                          <a:latin typeface="Times New Roman" pitchFamily="34" charset="0"/>
                          <a:ea typeface="Times New Roman" pitchFamily="34" charset="-122"/>
                          <a:cs typeface="Times New Roman" pitchFamily="34" charset="-120"/>
                        </a:rPr>
                        <a:t>£1.04</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332015">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497946</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B45"/>
                          </a:solidFill>
                          <a:latin typeface="Times New Roman" pitchFamily="34" charset="0"/>
                          <a:ea typeface="Times New Roman" pitchFamily="34" charset="-122"/>
                          <a:cs typeface="Times New Roman" pitchFamily="34" charset="-120"/>
                        </a:rPr>
                        <a:t>BLACK AND WHITE PAISLEY FLOWER MUG</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300" dirty="0">
                          <a:solidFill>
                            <a:srgbClr val="1A2B45"/>
                          </a:solidFill>
                          <a:latin typeface="Times New Roman" pitchFamily="34" charset="0"/>
                          <a:ea typeface="Times New Roman" pitchFamily="34" charset="-122"/>
                          <a:cs typeface="Times New Roman" pitchFamily="34" charset="-120"/>
                        </a:rPr>
                        <a:t>19,152</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r">
                        <a:buNone/>
                      </a:pPr>
                      <a:r>
                        <a:rPr lang="en-US" sz="1300" dirty="0">
                          <a:solidFill>
                            <a:srgbClr val="1A2B45"/>
                          </a:solidFill>
                          <a:latin typeface="Times New Roman" pitchFamily="34" charset="0"/>
                          <a:ea typeface="Times New Roman" pitchFamily="34" charset="-122"/>
                          <a:cs typeface="Times New Roman" pitchFamily="34" charset="-120"/>
                        </a:rPr>
                        <a:t>£0.10</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Shape 14"/>
          <p:cNvSpPr/>
          <p:nvPr/>
        </p:nvSpPr>
        <p:spPr>
          <a:xfrm>
            <a:off x="7968346" y="2697480"/>
            <a:ext cx="3867912" cy="3291840"/>
          </a:xfrm>
          <a:prstGeom prst="rect">
            <a:avLst/>
          </a:prstGeom>
          <a:solidFill>
            <a:srgbClr val="0B2A5B"/>
          </a:solidFill>
          <a:ln w="9525">
            <a:solidFill>
              <a:srgbClr val="C9DAF2"/>
            </a:solidFill>
            <a:prstDash val="solid"/>
          </a:ln>
        </p:spPr>
      </p:sp>
      <p:sp>
        <p:nvSpPr>
          <p:cNvPr id="18" name="Shape 15"/>
          <p:cNvSpPr/>
          <p:nvPr/>
        </p:nvSpPr>
        <p:spPr>
          <a:xfrm>
            <a:off x="8196946" y="2834640"/>
            <a:ext cx="548640" cy="548640"/>
          </a:xfrm>
          <a:prstGeom prst="ellipse">
            <a:avLst/>
          </a:prstGeom>
          <a:solidFill>
            <a:srgbClr val="1F6FEB"/>
          </a:solidFill>
          <a:ln w="12700">
            <a:solidFill>
              <a:srgbClr val="1F6FEB"/>
            </a:solidFill>
            <a:prstDash val="solid"/>
          </a:ln>
        </p:spPr>
      </p:sp>
      <p:pic>
        <p:nvPicPr>
          <p:cNvPr id="19" name="Image 0" descr="preencoded.png"/>
          <p:cNvPicPr>
            <a:picLocks noChangeAspect="1"/>
          </p:cNvPicPr>
          <p:nvPr/>
        </p:nvPicPr>
        <p:blipFill>
          <a:blip r:embed="rId3"/>
          <a:stretch>
            <a:fillRect/>
          </a:stretch>
        </p:blipFill>
        <p:spPr>
          <a:xfrm>
            <a:off x="8328620" y="2966314"/>
            <a:ext cx="285293" cy="285293"/>
          </a:xfrm>
          <a:prstGeom prst="rect">
            <a:avLst/>
          </a:prstGeom>
        </p:spPr>
      </p:pic>
      <p:sp>
        <p:nvSpPr>
          <p:cNvPr id="20" name="Text 16"/>
          <p:cNvSpPr txBox="1"/>
          <p:nvPr/>
        </p:nvSpPr>
        <p:spPr>
          <a:xfrm>
            <a:off x="8882746" y="2852928"/>
            <a:ext cx="2770632" cy="502920"/>
          </a:xfrm>
          <a:prstGeom prst="rect">
            <a:avLst/>
          </a:prstGeom>
          <a:noFill/>
          <a:ln/>
        </p:spPr>
        <p:txBody>
          <a:bodyPr wrap="square" lIns="0" tIns="0" rIns="0" bIns="0" rtlCol="0" anchor="ctr"/>
          <a:lstStyle/>
          <a:p>
            <a:pPr marL="0" indent="0">
              <a:buNone/>
            </a:pPr>
            <a:r>
              <a:rPr lang="en-US" sz="2000" b="1" dirty="0">
                <a:solidFill>
                  <a:srgbClr val="FFFFFF"/>
                </a:solidFill>
                <a:latin typeface="Times New Roman" pitchFamily="34" charset="0"/>
                <a:ea typeface="Times New Roman" pitchFamily="34" charset="-122"/>
                <a:cs typeface="Times New Roman" pitchFamily="34" charset="-120"/>
              </a:rPr>
              <a:t>Quyết định</a:t>
            </a:r>
            <a:endParaRPr lang="en-US" sz="2000" dirty="0"/>
          </a:p>
        </p:txBody>
      </p:sp>
      <p:sp>
        <p:nvSpPr>
          <p:cNvPr id="21" name="Text 17"/>
          <p:cNvSpPr txBox="1"/>
          <p:nvPr/>
        </p:nvSpPr>
        <p:spPr>
          <a:xfrm>
            <a:off x="8196946" y="3520440"/>
            <a:ext cx="3410712" cy="2377440"/>
          </a:xfrm>
          <a:prstGeom prst="rect">
            <a:avLst/>
          </a:prstGeom>
          <a:noFill/>
          <a:ln/>
        </p:spPr>
        <p:txBody>
          <a:bodyPr wrap="square" lIns="0" tIns="0" rIns="0" bIns="0" rtlCol="0" anchor="t"/>
          <a:lstStyle/>
          <a:p>
            <a:pPr marL="0" indent="0">
              <a:buNone/>
            </a:pPr>
            <a:r>
              <a:rPr lang="vi-VN" sz="1500" dirty="0">
                <a:solidFill>
                  <a:srgbClr val="FFFFFF"/>
                </a:solidFill>
                <a:latin typeface="Times New Roman" pitchFamily="34" charset="0"/>
                <a:ea typeface="Times New Roman" pitchFamily="34" charset="-122"/>
                <a:cs typeface="Times New Roman" pitchFamily="34" charset="-120"/>
              </a:rPr>
              <a:t>Không</a:t>
            </a:r>
            <a:r>
              <a:rPr lang="en-US" sz="1500" dirty="0">
                <a:solidFill>
                  <a:srgbClr val="FFFFFF"/>
                </a:solidFill>
                <a:latin typeface="Times New Roman" pitchFamily="34" charset="0"/>
                <a:ea typeface="Times New Roman" pitchFamily="34" charset="-122"/>
                <a:cs typeface="Times New Roman" pitchFamily="34" charset="-120"/>
              </a:rPr>
              <a:t> tự động xoá toàn bộ dòng Quantity cao. </a:t>
            </a:r>
            <a:endParaRPr lang="vi-VN" sz="1500" dirty="0">
              <a:solidFill>
                <a:srgbClr val="FFFFFF"/>
              </a:solidFill>
              <a:latin typeface="Times New Roman" pitchFamily="34" charset="0"/>
              <a:ea typeface="Times New Roman" pitchFamily="34" charset="-122"/>
              <a:cs typeface="Times New Roman" pitchFamily="34" charset="-120"/>
            </a:endParaRPr>
          </a:p>
          <a:p>
            <a:pPr marL="0" indent="0">
              <a:buNone/>
            </a:pPr>
            <a:endParaRPr lang="vi-VN" sz="1500" dirty="0">
              <a:solidFill>
                <a:srgbClr val="FFFFFF"/>
              </a:solidFill>
              <a:latin typeface="Times New Roman" pitchFamily="34" charset="0"/>
              <a:ea typeface="Times New Roman" pitchFamily="34" charset="-122"/>
              <a:cs typeface="Times New Roman" pitchFamily="34" charset="-120"/>
            </a:endParaRPr>
          </a:p>
          <a:p>
            <a:pPr marL="0" indent="0">
              <a:buNone/>
            </a:pPr>
            <a:r>
              <a:rPr lang="en-US" sz="1500" dirty="0" err="1">
                <a:solidFill>
                  <a:srgbClr val="FFFFFF"/>
                </a:solidFill>
                <a:latin typeface="Times New Roman" pitchFamily="34" charset="0"/>
                <a:ea typeface="Times New Roman" pitchFamily="34" charset="-122"/>
                <a:cs typeface="Times New Roman" pitchFamily="34" charset="-120"/>
              </a:rPr>
              <a:t>Chỉ</a:t>
            </a:r>
            <a:r>
              <a:rPr lang="en-US" sz="1500" dirty="0">
                <a:solidFill>
                  <a:srgbClr val="FFFFFF"/>
                </a:solidFill>
                <a:latin typeface="Times New Roman" pitchFamily="34" charset="0"/>
                <a:ea typeface="Times New Roman" pitchFamily="34" charset="-122"/>
                <a:cs typeface="Times New Roman" pitchFamily="34" charset="-120"/>
              </a:rPr>
              <a:t> dùng </a:t>
            </a:r>
            <a:r>
              <a:rPr lang="en-US" sz="1500" dirty="0" err="1">
                <a:solidFill>
                  <a:srgbClr val="FFFFFF"/>
                </a:solidFill>
                <a:latin typeface="Times New Roman" pitchFamily="34" charset="0"/>
                <a:ea typeface="Times New Roman" pitchFamily="34" charset="-122"/>
                <a:cs typeface="Times New Roman" pitchFamily="34" charset="-120"/>
              </a:rPr>
              <a:t>ngưỡng</a:t>
            </a:r>
            <a:r>
              <a:rPr lang="en-US" sz="1500" dirty="0">
                <a:solidFill>
                  <a:srgbClr val="FFFFFF"/>
                </a:solidFill>
                <a:latin typeface="Times New Roman" pitchFamily="34" charset="0"/>
                <a:ea typeface="Times New Roman" pitchFamily="34" charset="-122"/>
                <a:cs typeface="Times New Roman" pitchFamily="34" charset="-120"/>
              </a:rPr>
              <a:t> </a:t>
            </a:r>
            <a:r>
              <a:rPr lang="vi-VN" sz="1500" dirty="0">
                <a:solidFill>
                  <a:srgbClr val="FFFFFF"/>
                </a:solidFill>
                <a:latin typeface="Times New Roman" pitchFamily="34" charset="0"/>
                <a:ea typeface="Times New Roman" pitchFamily="34" charset="-122"/>
                <a:cs typeface="Times New Roman" pitchFamily="34" charset="-120"/>
              </a:rPr>
              <a:t>O</a:t>
            </a:r>
            <a:r>
              <a:rPr lang="en-US" sz="1500" dirty="0" err="1">
                <a:solidFill>
                  <a:srgbClr val="FFFFFF"/>
                </a:solidFill>
                <a:latin typeface="Times New Roman" pitchFamily="34" charset="0"/>
                <a:ea typeface="Times New Roman" pitchFamily="34" charset="-122"/>
                <a:cs typeface="Times New Roman" pitchFamily="34" charset="-120"/>
              </a:rPr>
              <a:t>utlier</a:t>
            </a:r>
            <a:r>
              <a:rPr lang="en-US" sz="1500" dirty="0">
                <a:solidFill>
                  <a:srgbClr val="FFFFFF"/>
                </a:solidFill>
                <a:latin typeface="Times New Roman" pitchFamily="34" charset="0"/>
                <a:ea typeface="Times New Roman" pitchFamily="34" charset="-122"/>
                <a:cs typeface="Times New Roman" pitchFamily="34" charset="-120"/>
              </a:rPr>
              <a:t> </a:t>
            </a:r>
            <a:r>
              <a:rPr lang="en-US" sz="1500" dirty="0" err="1">
                <a:solidFill>
                  <a:srgbClr val="FFFFFF"/>
                </a:solidFill>
                <a:latin typeface="Times New Roman" pitchFamily="34" charset="0"/>
                <a:ea typeface="Times New Roman" pitchFamily="34" charset="-122"/>
                <a:cs typeface="Times New Roman" pitchFamily="34" charset="-120"/>
              </a:rPr>
              <a:t>để</a:t>
            </a:r>
            <a:r>
              <a:rPr lang="en-US" sz="1500" dirty="0">
                <a:solidFill>
                  <a:srgbClr val="FFFFFF"/>
                </a:solidFill>
                <a:latin typeface="Times New Roman" pitchFamily="34" charset="0"/>
                <a:ea typeface="Times New Roman" pitchFamily="34" charset="-122"/>
                <a:cs typeface="Times New Roman" pitchFamily="34" charset="-120"/>
              </a:rPr>
              <a:t> </a:t>
            </a:r>
            <a:r>
              <a:rPr lang="vi-VN" sz="1500" dirty="0">
                <a:solidFill>
                  <a:srgbClr val="FFFFFF"/>
                </a:solidFill>
                <a:latin typeface="Times New Roman" pitchFamily="34" charset="0"/>
                <a:ea typeface="Times New Roman" pitchFamily="34" charset="-122"/>
                <a:cs typeface="Times New Roman" pitchFamily="34" charset="-120"/>
              </a:rPr>
              <a:t>nhận diện</a:t>
            </a:r>
            <a:r>
              <a:rPr lang="en-US" sz="1500" dirty="0">
                <a:solidFill>
                  <a:srgbClr val="FFFFFF"/>
                </a:solidFill>
                <a:latin typeface="Times New Roman" pitchFamily="34" charset="0"/>
                <a:ea typeface="Times New Roman" pitchFamily="34" charset="-122"/>
                <a:cs typeface="Times New Roman" pitchFamily="34" charset="-120"/>
              </a:rPr>
              <a:t> và kiểm tra, kết hợp StockCode, Description, khách hàng và ngữ cảnh giao dịch trước khi quyết định loại bỏ.</a:t>
            </a:r>
            <a:endParaRPr lang="en-US" sz="1500" dirty="0"/>
          </a:p>
        </p:txBody>
      </p:sp>
      <p:sp>
        <p:nvSpPr>
          <p:cNvPr id="23" name="Text 0">
            <a:extLst>
              <a:ext uri="{FF2B5EF4-FFF2-40B4-BE49-F238E27FC236}">
                <a16:creationId xmlns:a16="http://schemas.microsoft.com/office/drawing/2014/main" id="{36D00E38-0C1F-64A9-A782-BDE84DE033D2}"/>
              </a:ext>
            </a:extLst>
          </p:cNvPr>
          <p:cNvSpPr txBox="1"/>
          <p:nvPr/>
        </p:nvSpPr>
        <p:spPr>
          <a:xfrm>
            <a:off x="445998" y="39181"/>
            <a:ext cx="10657431" cy="660610"/>
          </a:xfrm>
          <a:prstGeom prst="rect">
            <a:avLst/>
          </a:prstGeom>
          <a:noFill/>
          <a:ln/>
        </p:spPr>
        <p:txBody>
          <a:bodyPr wrap="square" lIns="0" tIns="0" rIns="0" bIns="0" rtlCol="0" anchor="ctr"/>
          <a:lstStyle/>
          <a:p>
            <a:r>
              <a:rPr lang="vi-VN" sz="3000" b="1" dirty="0">
                <a:solidFill>
                  <a:schemeClr val="accent1">
                    <a:lumMod val="50000"/>
                  </a:schemeClr>
                </a:solidFill>
                <a:latin typeface="Times New Roman" panose="02020603050405020304" pitchFamily="18" charset="0"/>
                <a:ea typeface="Cambria" pitchFamily="34" charset="-122"/>
                <a:cs typeface="Times New Roman" panose="02020603050405020304" pitchFamily="18" charset="0"/>
              </a:rPr>
              <a:t>Outlier Quantity cao: Bán buôn hợp lệ hay lỗi nhập liệu?</a:t>
            </a:r>
            <a:endParaRPr lang="en-US"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5" name="Text 2">
            <a:extLst>
              <a:ext uri="{FF2B5EF4-FFF2-40B4-BE49-F238E27FC236}">
                <a16:creationId xmlns:a16="http://schemas.microsoft.com/office/drawing/2014/main" id="{FAAC5033-ACBC-8974-2785-6F479DC7EB64}"/>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33425"/>
            <a:ext cx="9994392" cy="685800"/>
          </a:xfrm>
          <a:prstGeom prst="rect">
            <a:avLst/>
          </a:prstGeom>
          <a:noFill/>
          <a:ln/>
        </p:spPr>
        <p:txBody>
          <a:bodyPr wrap="square" lIns="0" tIns="0" rIns="0" bIns="0" rtlCol="0" anchor="ctr"/>
          <a:lstStyle/>
          <a:p>
            <a:r>
              <a:rPr lang="vi-VN" sz="3000" b="1" dirty="0">
                <a:solidFill>
                  <a:srgbClr val="0B2A5B"/>
                </a:solidFill>
                <a:latin typeface="Times New Roman" pitchFamily="34" charset="0"/>
                <a:ea typeface="Times New Roman" pitchFamily="34" charset="-122"/>
                <a:cs typeface="Times New Roman" pitchFamily="34" charset="-120"/>
              </a:rPr>
              <a:t>Data Preparation </a:t>
            </a:r>
            <a:r>
              <a:rPr lang="en-US" sz="3200" b="1" dirty="0">
                <a:solidFill>
                  <a:srgbClr val="2C3E50"/>
                </a:solidFill>
                <a:latin typeface="Cambria" pitchFamily="34" charset="0"/>
                <a:ea typeface="Cambria" pitchFamily="34" charset="-122"/>
                <a:cs typeface="Cambria" pitchFamily="34" charset="-120"/>
              </a:rPr>
              <a:t>—</a:t>
            </a:r>
            <a:r>
              <a:rPr lang="vi-VN" sz="3000" b="1" dirty="0">
                <a:solidFill>
                  <a:srgbClr val="0B2A5B"/>
                </a:solidFill>
                <a:latin typeface="Times New Roman" pitchFamily="34" charset="0"/>
                <a:ea typeface="Times New Roman" pitchFamily="34" charset="-122"/>
                <a:cs typeface="Times New Roman" pitchFamily="34" charset="-120"/>
              </a:rPr>
              <a:t> </a:t>
            </a:r>
            <a:r>
              <a:rPr lang="en-US" sz="3000" b="1" dirty="0">
                <a:solidFill>
                  <a:srgbClr val="0B2A5B"/>
                </a:solidFill>
                <a:latin typeface="Times New Roman" pitchFamily="34" charset="0"/>
                <a:ea typeface="Times New Roman" pitchFamily="34" charset="-122"/>
                <a:cs typeface="Times New Roman" pitchFamily="34" charset="-120"/>
              </a:rPr>
              <a:t>Pipeline làm sạch: 5 bước tuần tự</a:t>
            </a:r>
            <a:endParaRPr lang="en-US" sz="3000" dirty="0"/>
          </a:p>
        </p:txBody>
      </p:sp>
      <p:sp>
        <p:nvSpPr>
          <p:cNvPr id="4" name="Text 2"/>
          <p:cNvSpPr txBox="1"/>
          <p:nvPr/>
        </p:nvSpPr>
        <p:spPr>
          <a:xfrm>
            <a:off x="10725912" y="6475447"/>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itchFamily="34" charset="0"/>
                <a:ea typeface="Times New Roman" pitchFamily="34" charset="-122"/>
                <a:cs typeface="Times New Roman" pitchFamily="34" charset="-120"/>
              </a:rPr>
              <a:t>14</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3662912960"/>
              </p:ext>
            </p:extLst>
          </p:nvPr>
        </p:nvGraphicFramePr>
        <p:xfrm>
          <a:off x="548640" y="936794"/>
          <a:ext cx="11091672" cy="2999232"/>
        </p:xfrm>
        <a:graphic>
          <a:graphicData uri="http://schemas.openxmlformats.org/drawingml/2006/table">
            <a:tbl>
              <a:tblPr/>
              <a:tblGrid>
                <a:gridCol w="561703">
                  <a:extLst>
                    <a:ext uri="{9D8B030D-6E8A-4147-A177-3AD203B41FA5}">
                      <a16:colId xmlns:a16="http://schemas.microsoft.com/office/drawing/2014/main" val="20000"/>
                    </a:ext>
                  </a:extLst>
                </a:gridCol>
                <a:gridCol w="3187337">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4325112">
                  <a:extLst>
                    <a:ext uri="{9D8B030D-6E8A-4147-A177-3AD203B41FA5}">
                      <a16:colId xmlns:a16="http://schemas.microsoft.com/office/drawing/2014/main" val="20004"/>
                    </a:ext>
                  </a:extLst>
                </a:gridCol>
              </a:tblGrid>
              <a:tr h="411480">
                <a:tc>
                  <a:txBody>
                    <a:bodyPr/>
                    <a:lstStyle/>
                    <a:p>
                      <a:pPr marL="0" indent="0" algn="ctr">
                        <a:buNone/>
                      </a:pPr>
                      <a:r>
                        <a:rPr lang="vi-VN" sz="1500" b="1" dirty="0">
                          <a:solidFill>
                            <a:srgbClr val="FFFFFF"/>
                          </a:solidFill>
                          <a:latin typeface="Times New Roman" pitchFamily="34" charset="0"/>
                          <a:ea typeface="Times New Roman" charset="0"/>
                          <a:cs typeface="Times New Roman" pitchFamily="34" charset="-120"/>
                        </a:rPr>
                        <a:t>Bước</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Bước làm sạch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Số dòng loại</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Còn lại</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Cơ sở từ Data Understanding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411480">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0</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b="0" dirty="0">
                          <a:solidFill>
                            <a:srgbClr val="1A2B45"/>
                          </a:solidFill>
                          <a:latin typeface="Times New Roman" pitchFamily="34" charset="0"/>
                          <a:ea typeface="Times New Roman" pitchFamily="34" charset="-122"/>
                          <a:cs typeface="Times New Roman" pitchFamily="34" charset="-120"/>
                        </a:rPr>
                        <a:t>Dữ </a:t>
                      </a:r>
                      <a:r>
                        <a:rPr lang="en-US" sz="1500" b="0" dirty="0" err="1">
                          <a:solidFill>
                            <a:srgbClr val="1A2B45"/>
                          </a:solidFill>
                          <a:latin typeface="Times New Roman" pitchFamily="34" charset="0"/>
                          <a:ea typeface="Times New Roman" pitchFamily="34" charset="-122"/>
                          <a:cs typeface="Times New Roman" pitchFamily="34" charset="-120"/>
                        </a:rPr>
                        <a:t>liệu</a:t>
                      </a:r>
                      <a:r>
                        <a:rPr lang="en-US" sz="1500" b="0" dirty="0">
                          <a:solidFill>
                            <a:srgbClr val="1A2B45"/>
                          </a:solidFill>
                          <a:latin typeface="Times New Roman" pitchFamily="34" charset="0"/>
                          <a:ea typeface="Times New Roman" pitchFamily="34" charset="-122"/>
                          <a:cs typeface="Times New Roman" pitchFamily="34" charset="-120"/>
                        </a:rPr>
                        <a:t> </a:t>
                      </a:r>
                      <a:r>
                        <a:rPr lang="vi-VN" sz="1500" b="0" dirty="0">
                          <a:solidFill>
                            <a:srgbClr val="1A2B45"/>
                          </a:solidFill>
                          <a:latin typeface="Times New Roman" pitchFamily="34" charset="0"/>
                          <a:ea typeface="Times New Roman" pitchFamily="34" charset="-122"/>
                          <a:cs typeface="Times New Roman" pitchFamily="34" charset="-120"/>
                        </a:rPr>
                        <a:t>thô, s</a:t>
                      </a:r>
                      <a:r>
                        <a:rPr lang="en-US" sz="1500" b="0" dirty="0">
                          <a:solidFill>
                            <a:srgbClr val="1A2B45"/>
                          </a:solidFill>
                          <a:latin typeface="Times New Roman" pitchFamily="34" charset="0"/>
                          <a:ea typeface="Times New Roman" pitchFamily="34" charset="-122"/>
                          <a:cs typeface="Times New Roman" pitchFamily="34" charset="-120"/>
                        </a:rPr>
                        <a:t>au gộp 2 </a:t>
                      </a:r>
                      <a:r>
                        <a:rPr lang="vi-VN" sz="1500" b="0" dirty="0">
                          <a:solidFill>
                            <a:srgbClr val="1A2B45"/>
                          </a:solidFill>
                          <a:latin typeface="Times New Roman" pitchFamily="34" charset="0"/>
                          <a:ea typeface="Times New Roman" pitchFamily="34" charset="-122"/>
                          <a:cs typeface="Times New Roman" pitchFamily="34" charset="-120"/>
                        </a:rPr>
                        <a:t>S</a:t>
                      </a:r>
                      <a:r>
                        <a:rPr lang="en-US" sz="1500" b="0" dirty="0" err="1">
                          <a:solidFill>
                            <a:srgbClr val="1A2B45"/>
                          </a:solidFill>
                          <a:latin typeface="Times New Roman" pitchFamily="34" charset="0"/>
                          <a:ea typeface="Times New Roman" pitchFamily="34" charset="-122"/>
                          <a:cs typeface="Times New Roman" pitchFamily="34" charset="-120"/>
                        </a:rPr>
                        <a:t>heet</a:t>
                      </a:r>
                      <a:endParaRPr lang="en-US" sz="1500" b="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500" b="0" dirty="0">
                          <a:solidFill>
                            <a:srgbClr val="1A2B45"/>
                          </a:solidFill>
                          <a:latin typeface="Times New Roman" pitchFamily="34" charset="0"/>
                          <a:ea typeface="Times New Roman" pitchFamily="34" charset="-122"/>
                          <a:cs typeface="Times New Roman" pitchFamily="34" charset="-120"/>
                        </a:rPr>
                        <a:t>—</a:t>
                      </a:r>
                      <a:endParaRPr lang="en-US" sz="1500" b="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500" b="0" dirty="0">
                          <a:solidFill>
                            <a:srgbClr val="1A2B45"/>
                          </a:solidFill>
                          <a:latin typeface="Times New Roman" pitchFamily="34" charset="0"/>
                          <a:ea typeface="Times New Roman" pitchFamily="34" charset="-122"/>
                          <a:cs typeface="Times New Roman" pitchFamily="34" charset="-120"/>
                        </a:rPr>
                        <a:t>1,067,371</a:t>
                      </a:r>
                      <a:endParaRPr lang="en-US" sz="1500" b="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Gộp trước khi kiểm </a:t>
                      </a:r>
                      <a:r>
                        <a:rPr lang="en-US" sz="1500" dirty="0" err="1">
                          <a:solidFill>
                            <a:srgbClr val="1A2B45"/>
                          </a:solidFill>
                          <a:latin typeface="Times New Roman" pitchFamily="34" charset="0"/>
                          <a:ea typeface="Times New Roman" pitchFamily="34" charset="-122"/>
                          <a:cs typeface="Times New Roman" pitchFamily="34" charset="-120"/>
                        </a:rPr>
                        <a:t>tra</a:t>
                      </a:r>
                      <a:r>
                        <a:rPr lang="en-US" sz="1500" dirty="0">
                          <a:solidFill>
                            <a:srgbClr val="1A2B45"/>
                          </a:solidFill>
                          <a:latin typeface="Times New Roman" pitchFamily="34" charset="0"/>
                          <a:ea typeface="Times New Roman" pitchFamily="34" charset="-122"/>
                          <a:cs typeface="Times New Roman" pitchFamily="34" charset="-120"/>
                        </a:rPr>
                        <a:t> </a:t>
                      </a:r>
                      <a:r>
                        <a:rPr lang="en-US" sz="1500" dirty="0" err="1">
                          <a:solidFill>
                            <a:srgbClr val="1A2B45"/>
                          </a:solidFill>
                          <a:latin typeface="Times New Roman" pitchFamily="34" charset="0"/>
                          <a:ea typeface="Times New Roman" pitchFamily="34" charset="-122"/>
                          <a:cs typeface="Times New Roman" pitchFamily="34" charset="-120"/>
                        </a:rPr>
                        <a:t>trùng</a:t>
                      </a:r>
                      <a:r>
                        <a:rPr lang="vi-VN" sz="1500" dirty="0">
                          <a:solidFill>
                            <a:srgbClr val="1A2B45"/>
                          </a:solidFill>
                          <a:latin typeface="Times New Roman" pitchFamily="34" charset="0"/>
                          <a:ea typeface="Times New Roman" pitchFamily="34" charset="-122"/>
                          <a:cs typeface="Times New Roman" pitchFamily="34" charset="-120"/>
                        </a:rPr>
                        <a:t> lặp.</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1</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Loại hoá đơn huỷ</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19,494</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1,047,877</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Invoice bắt đầu bằng “C”</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411480">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2</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Loại “Adjust bad debt”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6</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1,047,871</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Invoice “A” + StockCode “B”</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3</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Loại Quantity âm bất thường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3,457</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1,044,414</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Điều chỉnh sổ sách, Price = 0</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4"/>
                  </a:ext>
                </a:extLst>
              </a:tr>
              <a:tr h="411480">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4</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Loại StockCode phi sản phẩm</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4,613</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1,039,801</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POST, DOT, M, D, BANK CHARGES…</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5</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Loại dòng trùng lặp</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500" dirty="0">
                          <a:solidFill>
                            <a:srgbClr val="1A2B45"/>
                          </a:solidFill>
                          <a:latin typeface="Times New Roman" pitchFamily="34" charset="0"/>
                          <a:ea typeface="Times New Roman" pitchFamily="34" charset="-122"/>
                          <a:cs typeface="Times New Roman" pitchFamily="34" charset="-120"/>
                        </a:rPr>
                        <a:t>33,788</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500" b="1" dirty="0">
                          <a:solidFill>
                            <a:srgbClr val="1A2B45"/>
                          </a:solidFill>
                          <a:latin typeface="Times New Roman" pitchFamily="34" charset="0"/>
                          <a:ea typeface="Times New Roman" pitchFamily="34" charset="-122"/>
                          <a:cs typeface="Times New Roman" pitchFamily="34" charset="-120"/>
                        </a:rPr>
                        <a:t>1,006,013</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Trùng toàn </a:t>
                      </a:r>
                      <a:r>
                        <a:rPr lang="en-US" sz="1500" dirty="0" err="1">
                          <a:solidFill>
                            <a:srgbClr val="1A2B45"/>
                          </a:solidFill>
                          <a:latin typeface="Times New Roman" pitchFamily="34" charset="0"/>
                          <a:ea typeface="Times New Roman" pitchFamily="34" charset="-122"/>
                          <a:cs typeface="Times New Roman" pitchFamily="34" charset="-120"/>
                        </a:rPr>
                        <a:t>bộ</a:t>
                      </a:r>
                      <a:r>
                        <a:rPr lang="en-US" sz="1500" dirty="0">
                          <a:solidFill>
                            <a:srgbClr val="1A2B45"/>
                          </a:solidFill>
                          <a:latin typeface="Times New Roman" pitchFamily="34" charset="0"/>
                          <a:ea typeface="Times New Roman" pitchFamily="34" charset="-122"/>
                          <a:cs typeface="Times New Roman" pitchFamily="34" charset="-120"/>
                        </a:rPr>
                        <a:t> </a:t>
                      </a:r>
                      <a:r>
                        <a:rPr lang="vi-VN" sz="1500" dirty="0">
                          <a:solidFill>
                            <a:srgbClr val="1A2B45"/>
                          </a:solidFill>
                          <a:latin typeface="Times New Roman" pitchFamily="34" charset="0"/>
                          <a:ea typeface="Times New Roman" pitchFamily="34" charset="-122"/>
                          <a:cs typeface="Times New Roman" pitchFamily="34" charset="-120"/>
                        </a:rPr>
                        <a:t>cột, </a:t>
                      </a:r>
                      <a:r>
                        <a:rPr lang="en-US" sz="1500" dirty="0" err="1">
                          <a:solidFill>
                            <a:srgbClr val="1A2B45"/>
                          </a:solidFill>
                          <a:latin typeface="Times New Roman" pitchFamily="34" charset="0"/>
                          <a:ea typeface="Times New Roman" pitchFamily="34" charset="-122"/>
                          <a:cs typeface="Times New Roman" pitchFamily="34" charset="-120"/>
                        </a:rPr>
                        <a:t>trừ</a:t>
                      </a:r>
                      <a:r>
                        <a:rPr lang="en-US" sz="1500" dirty="0">
                          <a:solidFill>
                            <a:srgbClr val="1A2B45"/>
                          </a:solidFill>
                          <a:latin typeface="Times New Roman" pitchFamily="34" charset="0"/>
                          <a:ea typeface="Times New Roman" pitchFamily="34" charset="-122"/>
                          <a:cs typeface="Times New Roman" pitchFamily="34" charset="-120"/>
                        </a:rPr>
                        <a:t> Sheet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6"/>
                  </a:ext>
                </a:extLst>
              </a:tr>
            </a:tbl>
          </a:graphicData>
        </a:graphic>
      </p:graphicFrame>
      <p:sp>
        <p:nvSpPr>
          <p:cNvPr id="23" name="Text 2">
            <a:extLst>
              <a:ext uri="{FF2B5EF4-FFF2-40B4-BE49-F238E27FC236}">
                <a16:creationId xmlns:a16="http://schemas.microsoft.com/office/drawing/2014/main" id="{3D484644-7811-D8E6-0728-76DA65B70FBA}"/>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
        <p:nvSpPr>
          <p:cNvPr id="25" name="Shape 38">
            <a:extLst>
              <a:ext uri="{FF2B5EF4-FFF2-40B4-BE49-F238E27FC236}">
                <a16:creationId xmlns:a16="http://schemas.microsoft.com/office/drawing/2014/main" id="{66287F3E-6832-C9CC-8091-903B5F5B4845}"/>
              </a:ext>
            </a:extLst>
          </p:cNvPr>
          <p:cNvSpPr/>
          <p:nvPr/>
        </p:nvSpPr>
        <p:spPr>
          <a:xfrm>
            <a:off x="548640" y="4056946"/>
            <a:ext cx="3520440" cy="1056230"/>
          </a:xfrm>
          <a:prstGeom prst="roundRect">
            <a:avLst>
              <a:gd name="adj" fmla="val 5926"/>
            </a:avLst>
          </a:prstGeom>
          <a:solidFill>
            <a:srgbClr val="F4F6FA"/>
          </a:solidFill>
          <a:ln w="12700">
            <a:solidFill>
              <a:srgbClr val="F4F6FA"/>
            </a:solidFill>
            <a:prstDash val="solid"/>
          </a:ln>
        </p:spPr>
      </p:sp>
      <p:sp>
        <p:nvSpPr>
          <p:cNvPr id="27" name="Text 39">
            <a:extLst>
              <a:ext uri="{FF2B5EF4-FFF2-40B4-BE49-F238E27FC236}">
                <a16:creationId xmlns:a16="http://schemas.microsoft.com/office/drawing/2014/main" id="{15FBD0AE-5D97-463B-9EE5-F8DDADF41918}"/>
              </a:ext>
            </a:extLst>
          </p:cNvPr>
          <p:cNvSpPr txBox="1"/>
          <p:nvPr/>
        </p:nvSpPr>
        <p:spPr>
          <a:xfrm>
            <a:off x="548640" y="4166674"/>
            <a:ext cx="3520440" cy="678942"/>
          </a:xfrm>
          <a:prstGeom prst="rect">
            <a:avLst/>
          </a:prstGeom>
          <a:noFill/>
          <a:ln/>
        </p:spPr>
        <p:txBody>
          <a:bodyPr wrap="square" lIns="0" tIns="0" rIns="0" bIns="0" rtlCol="0" anchor="ctr"/>
          <a:lstStyle/>
          <a:p>
            <a:pPr marL="0" indent="0" algn="ctr">
              <a:buNone/>
            </a:pPr>
            <a:r>
              <a:rPr lang="en-US" sz="3000" b="1" dirty="0">
                <a:solidFill>
                  <a:srgbClr val="14213D"/>
                </a:solidFill>
                <a:latin typeface="Times New Roman" panose="02020603050405020304" pitchFamily="18" charset="0"/>
                <a:ea typeface="Cambria" pitchFamily="34" charset="-122"/>
                <a:cs typeface="Times New Roman" panose="02020603050405020304" pitchFamily="18" charset="0"/>
              </a:rPr>
              <a:t>1,006,013</a:t>
            </a:r>
            <a:endParaRPr lang="en-US" sz="3000" dirty="0">
              <a:latin typeface="Times New Roman" panose="02020603050405020304" pitchFamily="18" charset="0"/>
              <a:cs typeface="Times New Roman" panose="02020603050405020304" pitchFamily="18" charset="0"/>
            </a:endParaRPr>
          </a:p>
        </p:txBody>
      </p:sp>
      <p:sp>
        <p:nvSpPr>
          <p:cNvPr id="29" name="Text 40">
            <a:extLst>
              <a:ext uri="{FF2B5EF4-FFF2-40B4-BE49-F238E27FC236}">
                <a16:creationId xmlns:a16="http://schemas.microsoft.com/office/drawing/2014/main" id="{4FFF4081-3B8C-15EE-FC08-0A1C7294BEE8}"/>
              </a:ext>
            </a:extLst>
          </p:cNvPr>
          <p:cNvSpPr txBox="1"/>
          <p:nvPr/>
        </p:nvSpPr>
        <p:spPr>
          <a:xfrm>
            <a:off x="640080" y="4822299"/>
            <a:ext cx="3337560" cy="419710"/>
          </a:xfrm>
          <a:prstGeom prst="rect">
            <a:avLst/>
          </a:prstGeom>
          <a:noFill/>
          <a:ln/>
        </p:spPr>
        <p:txBody>
          <a:bodyPr wrap="square" lIns="0" tIns="0" rIns="0" bIns="0" rtlCol="0" anchor="t"/>
          <a:lstStyle/>
          <a:p>
            <a:pPr marL="0" indent="0" algn="ctr">
              <a:buNone/>
            </a:pPr>
            <a:r>
              <a:rPr lang="vi-VN" sz="1300" dirty="0">
                <a:solidFill>
                  <a:srgbClr val="6B7280"/>
                </a:solidFill>
                <a:latin typeface="Times New Roman" panose="02020603050405020304" pitchFamily="18" charset="0"/>
                <a:ea typeface="Calibri" pitchFamily="34" charset="-122"/>
                <a:cs typeface="Times New Roman" panose="02020603050405020304" pitchFamily="18" charset="0"/>
              </a:rPr>
              <a:t>D</a:t>
            </a:r>
            <a:r>
              <a:rPr lang="en-US" sz="1300" dirty="0" err="1">
                <a:solidFill>
                  <a:srgbClr val="6B7280"/>
                </a:solidFill>
                <a:latin typeface="Times New Roman" panose="02020603050405020304" pitchFamily="18" charset="0"/>
                <a:ea typeface="Calibri" pitchFamily="34" charset="-122"/>
                <a:cs typeface="Times New Roman" panose="02020603050405020304" pitchFamily="18" charset="0"/>
              </a:rPr>
              <a:t>òng</a:t>
            </a: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 sau làm sạch (loại 61,358 dòng = 5.75%)</a:t>
            </a:r>
            <a:endParaRPr lang="en-US" sz="1300" dirty="0">
              <a:latin typeface="Times New Roman" panose="02020603050405020304" pitchFamily="18" charset="0"/>
              <a:cs typeface="Times New Roman" panose="02020603050405020304" pitchFamily="18" charset="0"/>
            </a:endParaRPr>
          </a:p>
        </p:txBody>
      </p:sp>
      <p:sp>
        <p:nvSpPr>
          <p:cNvPr id="31" name="Shape 41">
            <a:extLst>
              <a:ext uri="{FF2B5EF4-FFF2-40B4-BE49-F238E27FC236}">
                <a16:creationId xmlns:a16="http://schemas.microsoft.com/office/drawing/2014/main" id="{F3091B14-8FFC-F09F-D422-F835965F5970}"/>
              </a:ext>
            </a:extLst>
          </p:cNvPr>
          <p:cNvSpPr/>
          <p:nvPr/>
        </p:nvSpPr>
        <p:spPr>
          <a:xfrm>
            <a:off x="4297680" y="4056946"/>
            <a:ext cx="3520440" cy="1056230"/>
          </a:xfrm>
          <a:prstGeom prst="roundRect">
            <a:avLst>
              <a:gd name="adj" fmla="val 5926"/>
            </a:avLst>
          </a:prstGeom>
          <a:solidFill>
            <a:srgbClr val="F4F6FA"/>
          </a:solidFill>
          <a:ln w="12700">
            <a:solidFill>
              <a:srgbClr val="F4F6FA"/>
            </a:solidFill>
            <a:prstDash val="solid"/>
          </a:ln>
        </p:spPr>
      </p:sp>
      <p:sp>
        <p:nvSpPr>
          <p:cNvPr id="33" name="Text 42">
            <a:extLst>
              <a:ext uri="{FF2B5EF4-FFF2-40B4-BE49-F238E27FC236}">
                <a16:creationId xmlns:a16="http://schemas.microsoft.com/office/drawing/2014/main" id="{5566BC71-8F2A-6FE9-5248-E287B1CA088C}"/>
              </a:ext>
            </a:extLst>
          </p:cNvPr>
          <p:cNvSpPr txBox="1"/>
          <p:nvPr/>
        </p:nvSpPr>
        <p:spPr>
          <a:xfrm>
            <a:off x="4297680" y="4166674"/>
            <a:ext cx="3520440" cy="678942"/>
          </a:xfrm>
          <a:prstGeom prst="rect">
            <a:avLst/>
          </a:prstGeom>
          <a:noFill/>
          <a:ln/>
        </p:spPr>
        <p:txBody>
          <a:bodyPr wrap="square" lIns="0" tIns="0" rIns="0" bIns="0" rtlCol="0" anchor="ctr"/>
          <a:lstStyle/>
          <a:p>
            <a:pPr marL="0" indent="0" algn="ctr">
              <a:buNone/>
            </a:pPr>
            <a:r>
              <a:rPr lang="en-US" sz="3000" b="1" dirty="0">
                <a:solidFill>
                  <a:srgbClr val="14213D"/>
                </a:solidFill>
                <a:latin typeface="Times New Roman" panose="02020603050405020304" pitchFamily="18" charset="0"/>
                <a:ea typeface="Cambria" pitchFamily="34" charset="-122"/>
                <a:cs typeface="Times New Roman" panose="02020603050405020304" pitchFamily="18" charset="0"/>
              </a:rPr>
              <a:t>22.80%</a:t>
            </a:r>
            <a:endParaRPr lang="en-US" sz="3000" dirty="0">
              <a:latin typeface="Times New Roman" panose="02020603050405020304" pitchFamily="18" charset="0"/>
              <a:cs typeface="Times New Roman" panose="02020603050405020304" pitchFamily="18" charset="0"/>
            </a:endParaRPr>
          </a:p>
        </p:txBody>
      </p:sp>
      <p:sp>
        <p:nvSpPr>
          <p:cNvPr id="35" name="Text 43">
            <a:extLst>
              <a:ext uri="{FF2B5EF4-FFF2-40B4-BE49-F238E27FC236}">
                <a16:creationId xmlns:a16="http://schemas.microsoft.com/office/drawing/2014/main" id="{71A4CDE4-9F33-57D7-F2F8-B2D07FFC5D30}"/>
              </a:ext>
            </a:extLst>
          </p:cNvPr>
          <p:cNvSpPr txBox="1"/>
          <p:nvPr/>
        </p:nvSpPr>
        <p:spPr>
          <a:xfrm>
            <a:off x="4389120" y="4822299"/>
            <a:ext cx="3337560" cy="419710"/>
          </a:xfrm>
          <a:prstGeom prst="rect">
            <a:avLst/>
          </a:prstGeom>
          <a:noFill/>
          <a:ln/>
        </p:spPr>
        <p:txBody>
          <a:bodyPr wrap="square" lIns="0" tIns="0" rIns="0" bIns="0" rtlCol="0" anchor="t"/>
          <a:lstStyle/>
          <a:p>
            <a:pPr marL="0" indent="0" algn="ctr">
              <a:buNone/>
            </a:pPr>
            <a:r>
              <a:rPr lang="vi-VN" sz="1300" dirty="0">
                <a:solidFill>
                  <a:srgbClr val="6B7280"/>
                </a:solidFill>
                <a:latin typeface="Times New Roman" panose="02020603050405020304" pitchFamily="18" charset="0"/>
                <a:ea typeface="Calibri" pitchFamily="34" charset="-122"/>
                <a:cs typeface="Times New Roman" panose="02020603050405020304" pitchFamily="18" charset="0"/>
              </a:rPr>
              <a:t>V</a:t>
            </a:r>
            <a:r>
              <a:rPr lang="en-US" sz="1300" dirty="0" err="1">
                <a:solidFill>
                  <a:srgbClr val="6B7280"/>
                </a:solidFill>
                <a:latin typeface="Times New Roman" panose="02020603050405020304" pitchFamily="18" charset="0"/>
                <a:ea typeface="Calibri" pitchFamily="34" charset="-122"/>
                <a:cs typeface="Times New Roman" panose="02020603050405020304" pitchFamily="18" charset="0"/>
              </a:rPr>
              <a:t>ẫn</a:t>
            </a: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 thiếu Customer ID (giữ cho MBA)</a:t>
            </a:r>
            <a:endParaRPr lang="en-US" sz="1300" dirty="0">
              <a:latin typeface="Times New Roman" panose="02020603050405020304" pitchFamily="18" charset="0"/>
              <a:cs typeface="Times New Roman" panose="02020603050405020304" pitchFamily="18" charset="0"/>
            </a:endParaRPr>
          </a:p>
        </p:txBody>
      </p:sp>
      <p:sp>
        <p:nvSpPr>
          <p:cNvPr id="37" name="Shape 44">
            <a:extLst>
              <a:ext uri="{FF2B5EF4-FFF2-40B4-BE49-F238E27FC236}">
                <a16:creationId xmlns:a16="http://schemas.microsoft.com/office/drawing/2014/main" id="{D19C232E-1201-146B-3652-B4D0A53C1FAB}"/>
              </a:ext>
            </a:extLst>
          </p:cNvPr>
          <p:cNvSpPr/>
          <p:nvPr/>
        </p:nvSpPr>
        <p:spPr>
          <a:xfrm>
            <a:off x="8046720" y="4056946"/>
            <a:ext cx="3593592" cy="1056230"/>
          </a:xfrm>
          <a:prstGeom prst="roundRect">
            <a:avLst>
              <a:gd name="adj" fmla="val 5926"/>
            </a:avLst>
          </a:prstGeom>
          <a:solidFill>
            <a:srgbClr val="F4F6FA"/>
          </a:solidFill>
          <a:ln w="12700">
            <a:solidFill>
              <a:srgbClr val="F4F6FA"/>
            </a:solidFill>
            <a:prstDash val="solid"/>
          </a:ln>
        </p:spPr>
      </p:sp>
      <p:sp>
        <p:nvSpPr>
          <p:cNvPr id="39" name="Text 45">
            <a:extLst>
              <a:ext uri="{FF2B5EF4-FFF2-40B4-BE49-F238E27FC236}">
                <a16:creationId xmlns:a16="http://schemas.microsoft.com/office/drawing/2014/main" id="{931CAD06-728C-0838-2BA3-B3D0DEBD14E5}"/>
              </a:ext>
            </a:extLst>
          </p:cNvPr>
          <p:cNvSpPr txBox="1"/>
          <p:nvPr/>
        </p:nvSpPr>
        <p:spPr>
          <a:xfrm>
            <a:off x="8046720" y="4166674"/>
            <a:ext cx="3593592" cy="678942"/>
          </a:xfrm>
          <a:prstGeom prst="rect">
            <a:avLst/>
          </a:prstGeom>
          <a:noFill/>
          <a:ln/>
        </p:spPr>
        <p:txBody>
          <a:bodyPr wrap="square" lIns="0" tIns="0" rIns="0" bIns="0" rtlCol="0" anchor="ctr"/>
          <a:lstStyle/>
          <a:p>
            <a:pPr marL="0" indent="0" algn="ctr">
              <a:buNone/>
            </a:pPr>
            <a:r>
              <a:rPr lang="en-US" sz="3000" b="1" dirty="0">
                <a:solidFill>
                  <a:srgbClr val="14213D"/>
                </a:solidFill>
                <a:latin typeface="Times New Roman" panose="02020603050405020304" pitchFamily="18" charset="0"/>
                <a:ea typeface="Cambria" pitchFamily="34" charset="-122"/>
                <a:cs typeface="Times New Roman" panose="02020603050405020304" pitchFamily="18" charset="0"/>
              </a:rPr>
              <a:t>41,383</a:t>
            </a:r>
            <a:endParaRPr lang="en-US" sz="3000" dirty="0">
              <a:latin typeface="Times New Roman" panose="02020603050405020304" pitchFamily="18" charset="0"/>
              <a:cs typeface="Times New Roman" panose="02020603050405020304" pitchFamily="18" charset="0"/>
            </a:endParaRPr>
          </a:p>
        </p:txBody>
      </p:sp>
      <p:sp>
        <p:nvSpPr>
          <p:cNvPr id="41" name="Text 46">
            <a:extLst>
              <a:ext uri="{FF2B5EF4-FFF2-40B4-BE49-F238E27FC236}">
                <a16:creationId xmlns:a16="http://schemas.microsoft.com/office/drawing/2014/main" id="{F886E849-500B-C7FB-F44D-23068B25CA52}"/>
              </a:ext>
            </a:extLst>
          </p:cNvPr>
          <p:cNvSpPr txBox="1"/>
          <p:nvPr/>
        </p:nvSpPr>
        <p:spPr>
          <a:xfrm>
            <a:off x="8138160" y="4822299"/>
            <a:ext cx="3410712" cy="419710"/>
          </a:xfrm>
          <a:prstGeom prst="rect">
            <a:avLst/>
          </a:prstGeom>
          <a:noFill/>
          <a:ln/>
        </p:spPr>
        <p:txBody>
          <a:bodyPr wrap="square" lIns="0" tIns="0" rIns="0" bIns="0" rtlCol="0" anchor="t"/>
          <a:lstStyle/>
          <a:p>
            <a:pPr marL="0" indent="0" algn="ctr">
              <a:buNone/>
            </a:pPr>
            <a:r>
              <a:rPr lang="vi-VN" sz="1300" dirty="0">
                <a:solidFill>
                  <a:srgbClr val="6B7280"/>
                </a:solidFill>
                <a:latin typeface="Times New Roman" panose="02020603050405020304" pitchFamily="18" charset="0"/>
                <a:ea typeface="Calibri" pitchFamily="34" charset="-122"/>
                <a:cs typeface="Times New Roman" panose="02020603050405020304" pitchFamily="18" charset="0"/>
              </a:rPr>
              <a:t>H</a:t>
            </a:r>
            <a:r>
              <a:rPr lang="en-US" sz="1300" dirty="0" err="1">
                <a:solidFill>
                  <a:srgbClr val="6B7280"/>
                </a:solidFill>
                <a:latin typeface="Times New Roman" panose="02020603050405020304" pitchFamily="18" charset="0"/>
                <a:ea typeface="Calibri" pitchFamily="34" charset="-122"/>
                <a:cs typeface="Times New Roman" panose="02020603050405020304" pitchFamily="18" charset="0"/>
              </a:rPr>
              <a:t>oá</a:t>
            </a: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 đơn · 4,971 </a:t>
            </a:r>
            <a:r>
              <a:rPr lang="vi-VN" sz="1300" dirty="0">
                <a:solidFill>
                  <a:srgbClr val="6B7280"/>
                </a:solidFill>
                <a:latin typeface="Times New Roman" panose="02020603050405020304" pitchFamily="18" charset="0"/>
                <a:ea typeface="Calibri" pitchFamily="34" charset="-122"/>
                <a:cs typeface="Times New Roman" panose="02020603050405020304" pitchFamily="18" charset="0"/>
              </a:rPr>
              <a:t>S</a:t>
            </a:r>
            <a:r>
              <a:rPr lang="en-US" sz="1300" dirty="0" err="1">
                <a:solidFill>
                  <a:srgbClr val="6B7280"/>
                </a:solidFill>
                <a:latin typeface="Times New Roman" panose="02020603050405020304" pitchFamily="18" charset="0"/>
                <a:ea typeface="Calibri" pitchFamily="34" charset="-122"/>
                <a:cs typeface="Times New Roman" panose="02020603050405020304" pitchFamily="18" charset="0"/>
              </a:rPr>
              <a:t>ản</a:t>
            </a: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 phẩm dùng cho MBA</a:t>
            </a:r>
            <a:endParaRPr lang="en-US" sz="1300" dirty="0">
              <a:latin typeface="Times New Roman" panose="02020603050405020304" pitchFamily="18" charset="0"/>
              <a:cs typeface="Times New Roman" panose="02020603050405020304" pitchFamily="18" charset="0"/>
            </a:endParaRPr>
          </a:p>
        </p:txBody>
      </p:sp>
      <p:sp>
        <p:nvSpPr>
          <p:cNvPr id="43" name="Shape 47">
            <a:extLst>
              <a:ext uri="{FF2B5EF4-FFF2-40B4-BE49-F238E27FC236}">
                <a16:creationId xmlns:a16="http://schemas.microsoft.com/office/drawing/2014/main" id="{7C6F3738-E6F5-2E2B-1C90-44DD6896D80F}"/>
              </a:ext>
            </a:extLst>
          </p:cNvPr>
          <p:cNvSpPr/>
          <p:nvPr/>
        </p:nvSpPr>
        <p:spPr>
          <a:xfrm>
            <a:off x="548640" y="5242009"/>
            <a:ext cx="11091672" cy="1233438"/>
          </a:xfrm>
          <a:prstGeom prst="roundRect">
            <a:avLst>
              <a:gd name="adj" fmla="val 5161"/>
            </a:avLst>
          </a:prstGeom>
          <a:solidFill>
            <a:srgbClr val="FFF4DD"/>
          </a:solidFill>
          <a:ln w="12700">
            <a:solidFill>
              <a:srgbClr val="FFF4DD"/>
            </a:solidFill>
            <a:prstDash val="solid"/>
          </a:ln>
        </p:spPr>
      </p:sp>
      <p:sp>
        <p:nvSpPr>
          <p:cNvPr id="45" name="Text 48">
            <a:extLst>
              <a:ext uri="{FF2B5EF4-FFF2-40B4-BE49-F238E27FC236}">
                <a16:creationId xmlns:a16="http://schemas.microsoft.com/office/drawing/2014/main" id="{7BA313AC-F773-6B12-57AD-C5F021AF5407}"/>
              </a:ext>
            </a:extLst>
          </p:cNvPr>
          <p:cNvSpPr txBox="1"/>
          <p:nvPr/>
        </p:nvSpPr>
        <p:spPr>
          <a:xfrm>
            <a:off x="822960" y="5238577"/>
            <a:ext cx="5486400" cy="365760"/>
          </a:xfrm>
          <a:prstGeom prst="rect">
            <a:avLst/>
          </a:prstGeom>
          <a:noFill/>
          <a:ln/>
        </p:spPr>
        <p:txBody>
          <a:bodyPr wrap="square" lIns="0" tIns="0" rIns="0" bIns="0" rtlCol="0" anchor="ctr"/>
          <a:lstStyle/>
          <a:p>
            <a:pPr marL="0" indent="0">
              <a:buNone/>
            </a:pPr>
            <a:r>
              <a:rPr lang="en-US" sz="1600" b="1" dirty="0">
                <a:solidFill>
                  <a:srgbClr val="D9890A"/>
                </a:solidFill>
                <a:latin typeface="Times New Roman" panose="02020603050405020304" pitchFamily="18" charset="0"/>
                <a:ea typeface="Cambria" pitchFamily="34" charset="-122"/>
                <a:cs typeface="Times New Roman" panose="02020603050405020304" pitchFamily="18" charset="0"/>
              </a:rPr>
              <a:t>Nguyên tắc thiết kế pipeline</a:t>
            </a:r>
            <a:endParaRPr lang="en-US" sz="1600" dirty="0">
              <a:latin typeface="Times New Roman" panose="02020603050405020304" pitchFamily="18" charset="0"/>
              <a:cs typeface="Times New Roman" panose="02020603050405020304" pitchFamily="18" charset="0"/>
            </a:endParaRPr>
          </a:p>
        </p:txBody>
      </p:sp>
      <p:sp>
        <p:nvSpPr>
          <p:cNvPr id="47" name="Text 49">
            <a:extLst>
              <a:ext uri="{FF2B5EF4-FFF2-40B4-BE49-F238E27FC236}">
                <a16:creationId xmlns:a16="http://schemas.microsoft.com/office/drawing/2014/main" id="{723EBE47-A53A-7383-2B43-C3D2EA2313E5}"/>
              </a:ext>
            </a:extLst>
          </p:cNvPr>
          <p:cNvSpPr txBox="1"/>
          <p:nvPr/>
        </p:nvSpPr>
        <p:spPr>
          <a:xfrm>
            <a:off x="822960" y="5604342"/>
            <a:ext cx="10543032" cy="96012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Mã hoá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thành</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M</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odule</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tái sử dụng: Source/Preprocessing/Cleaning.py → clean_transactions(); gọi lại được từ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mọi</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N</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otebook</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203200" indent="-203200">
              <a:spcAft>
                <a:spcPts val="3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Gộp 2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S</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heet</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trước</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khi kiểm tra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trùng</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lặp</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đếm trùng không tính cột Sheet.</a:t>
            </a:r>
            <a:endParaRPr lang="en-US" sz="1600" dirty="0">
              <a:latin typeface="Times New Roman" panose="02020603050405020304" pitchFamily="18" charset="0"/>
              <a:cs typeface="Times New Roman" panose="02020603050405020304" pitchFamily="18" charset="0"/>
            </a:endParaRPr>
          </a:p>
          <a:p>
            <a:pPr marL="203200" indent="-203200">
              <a:spcAft>
                <a:spcPts val="3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Thêm cột TotalPrice = Quantity × Price dùng chung cho MBA / RFM / Churn.</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791235"/>
            <a:ext cx="11091672" cy="365760"/>
          </a:xfrm>
          <a:prstGeom prst="rect">
            <a:avLst/>
          </a:prstGeom>
          <a:noFill/>
          <a:ln/>
        </p:spPr>
        <p:txBody>
          <a:bodyPr wrap="square" lIns="0" tIns="0" rIns="0" bIns="0" rtlCol="0" anchor="t"/>
          <a:lstStyle/>
          <a:p>
            <a:pPr marL="0" indent="0">
              <a:buNone/>
            </a:pPr>
            <a:r>
              <a:rPr lang="en-US" i="1" dirty="0">
                <a:latin typeface="Times New Roman" panose="02020603050405020304" pitchFamily="18" charset="0"/>
                <a:ea typeface="Times New Roman" pitchFamily="34" charset="-122"/>
                <a:cs typeface="Times New Roman" panose="02020603050405020304" pitchFamily="18" charset="0"/>
              </a:rPr>
              <a:t>Mỗi kỹ thuật cần một cách chuẩn bị dữ liệu khác nhau</a:t>
            </a:r>
            <a:endParaRPr lang="en-US" dirty="0">
              <a:latin typeface="Times New Roman" panose="02020603050405020304" pitchFamily="18" charset="0"/>
              <a:cs typeface="Times New Roman" panose="02020603050405020304" pitchFamily="18" charset="0"/>
            </a:endParaRPr>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anose="02020603050405020304" pitchFamily="18" charset="0"/>
                <a:ea typeface="Times New Roman" pitchFamily="34" charset="-122"/>
                <a:cs typeface="Times New Roman" panose="02020603050405020304" pitchFamily="18" charset="0"/>
              </a:rPr>
              <a:t>15</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235375"/>
            <a:ext cx="3514344" cy="2384904"/>
          </a:xfrm>
          <a:prstGeom prst="rect">
            <a:avLst/>
          </a:prstGeom>
          <a:solidFill>
            <a:srgbClr val="EAF2FF"/>
          </a:solidFill>
          <a:ln w="9525">
            <a:solidFill>
              <a:srgbClr val="C9DAF2"/>
            </a:solidFill>
            <a:prstDash val="solid"/>
          </a:ln>
        </p:spPr>
      </p:sp>
      <p:sp>
        <p:nvSpPr>
          <p:cNvPr id="7" name="Shape 5"/>
          <p:cNvSpPr/>
          <p:nvPr/>
        </p:nvSpPr>
        <p:spPr>
          <a:xfrm>
            <a:off x="777240" y="1372534"/>
            <a:ext cx="594360" cy="594360"/>
          </a:xfrm>
          <a:prstGeom prst="ellipse">
            <a:avLst/>
          </a:prstGeom>
          <a:solidFill>
            <a:srgbClr val="1F6FEB"/>
          </a:solidFill>
          <a:ln w="12700">
            <a:solidFill>
              <a:srgbClr val="1F6FEB"/>
            </a:solidFill>
            <a:prstDash val="solid"/>
          </a:ln>
        </p:spPr>
      </p:sp>
      <p:pic>
        <p:nvPicPr>
          <p:cNvPr id="8" name="Image 0" descr="preencoded.png"/>
          <p:cNvPicPr>
            <a:picLocks noChangeAspect="1"/>
          </p:cNvPicPr>
          <p:nvPr/>
        </p:nvPicPr>
        <p:blipFill>
          <a:blip r:embed="rId3"/>
          <a:stretch>
            <a:fillRect/>
          </a:stretch>
        </p:blipFill>
        <p:spPr>
          <a:xfrm>
            <a:off x="919886" y="1515180"/>
            <a:ext cx="309067" cy="309067"/>
          </a:xfrm>
          <a:prstGeom prst="rect">
            <a:avLst/>
          </a:prstGeom>
        </p:spPr>
      </p:pic>
      <p:sp>
        <p:nvSpPr>
          <p:cNvPr id="9" name="Text 6"/>
          <p:cNvSpPr txBox="1"/>
          <p:nvPr/>
        </p:nvSpPr>
        <p:spPr>
          <a:xfrm>
            <a:off x="1508760" y="1372534"/>
            <a:ext cx="2417064" cy="365760"/>
          </a:xfrm>
          <a:prstGeom prst="rect">
            <a:avLst/>
          </a:prstGeom>
          <a:noFill/>
          <a:ln/>
        </p:spPr>
        <p:txBody>
          <a:bodyPr wrap="square" lIns="0" tIns="0" rIns="0" bIns="0" rtlCol="0" anchor="ctr"/>
          <a:lstStyle/>
          <a:p>
            <a:pPr marL="0" indent="0">
              <a:buNone/>
            </a:pPr>
            <a:r>
              <a:rPr lang="en-US" sz="1500" b="1" dirty="0">
                <a:solidFill>
                  <a:srgbClr val="0B2A5B"/>
                </a:solidFill>
                <a:latin typeface="Times New Roman" panose="02020603050405020304" pitchFamily="18" charset="0"/>
                <a:ea typeface="Times New Roman" pitchFamily="34" charset="-122"/>
                <a:cs typeface="Times New Roman" panose="02020603050405020304" pitchFamily="18" charset="0"/>
              </a:rPr>
              <a:t>Transactions_Clean.csv</a:t>
            </a:r>
            <a:endParaRPr lang="en-US" sz="1500" dirty="0">
              <a:latin typeface="Times New Roman" panose="02020603050405020304" pitchFamily="18" charset="0"/>
              <a:cs typeface="Times New Roman" panose="02020603050405020304" pitchFamily="18" charset="0"/>
            </a:endParaRPr>
          </a:p>
        </p:txBody>
      </p:sp>
      <p:sp>
        <p:nvSpPr>
          <p:cNvPr id="10" name="Text 7"/>
          <p:cNvSpPr txBox="1"/>
          <p:nvPr/>
        </p:nvSpPr>
        <p:spPr>
          <a:xfrm>
            <a:off x="1508760" y="1738294"/>
            <a:ext cx="2417064" cy="274320"/>
          </a:xfrm>
          <a:prstGeom prst="rect">
            <a:avLst/>
          </a:prstGeom>
          <a:noFill/>
          <a:ln/>
        </p:spPr>
        <p:txBody>
          <a:bodyPr wrap="square" lIns="0" tIns="0" rIns="0" bIns="0" rtlCol="0" anchor="ctr"/>
          <a:lstStyle/>
          <a:p>
            <a:pPr marL="0" indent="0">
              <a:buNone/>
            </a:pPr>
            <a:r>
              <a:rPr lang="en-US" sz="1300" i="1" dirty="0">
                <a:solidFill>
                  <a:srgbClr val="1F6FEB"/>
                </a:solidFill>
                <a:latin typeface="Times New Roman" panose="02020603050405020304" pitchFamily="18" charset="0"/>
                <a:ea typeface="Times New Roman" pitchFamily="34" charset="-122"/>
                <a:cs typeface="Times New Roman" panose="02020603050405020304" pitchFamily="18" charset="0"/>
              </a:rPr>
              <a:t>→ MBA</a:t>
            </a:r>
            <a:r>
              <a:rPr lang="vi-VN" sz="1300" i="1" dirty="0">
                <a:solidFill>
                  <a:srgbClr val="1F6FEB"/>
                </a:solidFill>
                <a:latin typeface="Times New Roman" panose="02020603050405020304" pitchFamily="18" charset="0"/>
                <a:ea typeface="Times New Roman" pitchFamily="34" charset="-122"/>
                <a:cs typeface="Times New Roman" panose="02020603050405020304" pitchFamily="18" charset="0"/>
              </a:rPr>
              <a:t>	</a:t>
            </a:r>
            <a:endParaRPr lang="en-US" sz="1300" dirty="0">
              <a:latin typeface="Times New Roman" panose="02020603050405020304" pitchFamily="18" charset="0"/>
              <a:cs typeface="Times New Roman" panose="02020603050405020304" pitchFamily="18" charset="0"/>
            </a:endParaRPr>
          </a:p>
        </p:txBody>
      </p:sp>
      <p:sp>
        <p:nvSpPr>
          <p:cNvPr id="11" name="Text 8"/>
          <p:cNvSpPr txBox="1"/>
          <p:nvPr/>
        </p:nvSpPr>
        <p:spPr>
          <a:xfrm>
            <a:off x="777240" y="2195494"/>
            <a:ext cx="3057144" cy="365760"/>
          </a:xfrm>
          <a:prstGeom prst="rect">
            <a:avLst/>
          </a:prstGeom>
          <a:noFill/>
          <a:ln/>
        </p:spPr>
        <p:txBody>
          <a:bodyPr wrap="square" lIns="0" tIns="0" rIns="0" bIns="0" rtlCol="0" anchor="ctr"/>
          <a:lstStyle/>
          <a:p>
            <a:pPr marL="0" indent="0">
              <a:buNone/>
            </a:pPr>
            <a:r>
              <a:rPr lang="en-US" sz="1800" b="1" dirty="0">
                <a:solidFill>
                  <a:srgbClr val="1A2B45"/>
                </a:solidFill>
                <a:latin typeface="Times New Roman" panose="02020603050405020304" pitchFamily="18" charset="0"/>
                <a:ea typeface="Times New Roman" pitchFamily="34" charset="-122"/>
                <a:cs typeface="Times New Roman" panose="02020603050405020304" pitchFamily="18" charset="0"/>
              </a:rPr>
              <a:t>1,006,013 dòng × 8 cột</a:t>
            </a:r>
            <a:endParaRPr lang="en-US" sz="1800" dirty="0">
              <a:latin typeface="Times New Roman" panose="02020603050405020304" pitchFamily="18" charset="0"/>
              <a:cs typeface="Times New Roman" panose="02020603050405020304" pitchFamily="18" charset="0"/>
            </a:endParaRPr>
          </a:p>
        </p:txBody>
      </p:sp>
      <p:sp>
        <p:nvSpPr>
          <p:cNvPr id="12" name="Text 9"/>
          <p:cNvSpPr txBox="1"/>
          <p:nvPr/>
        </p:nvSpPr>
        <p:spPr>
          <a:xfrm>
            <a:off x="777240" y="2652694"/>
            <a:ext cx="3057144" cy="1191518"/>
          </a:xfrm>
          <a:prstGeom prst="rect">
            <a:avLst/>
          </a:prstGeom>
          <a:noFill/>
          <a:ln/>
        </p:spPr>
        <p:txBody>
          <a:bodyPr wrap="square" lIns="0" tIns="0" rIns="0" bIns="0" rtlCol="0" anchor="t"/>
          <a:lstStyle/>
          <a:p>
            <a:pPr marL="0" indent="0">
              <a:buNone/>
            </a:pP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Giữ</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dòng thiếu Customer ID (22.80%) vì MBA chỉ cần biết sản phẩm nào đi cùng nhau trong hoá đơn.</a:t>
            </a:r>
            <a:endParaRPr lang="en-US" sz="1500" dirty="0">
              <a:latin typeface="Times New Roman" panose="02020603050405020304" pitchFamily="18" charset="0"/>
              <a:cs typeface="Times New Roman" panose="02020603050405020304" pitchFamily="18" charset="0"/>
            </a:endParaRPr>
          </a:p>
        </p:txBody>
      </p:sp>
      <p:sp>
        <p:nvSpPr>
          <p:cNvPr id="13" name="Shape 10"/>
          <p:cNvSpPr/>
          <p:nvPr/>
        </p:nvSpPr>
        <p:spPr>
          <a:xfrm>
            <a:off x="4337304" y="1235375"/>
            <a:ext cx="3514344" cy="2384904"/>
          </a:xfrm>
          <a:prstGeom prst="rect">
            <a:avLst/>
          </a:prstGeom>
          <a:solidFill>
            <a:srgbClr val="EAF2FF"/>
          </a:solidFill>
          <a:ln w="9525">
            <a:solidFill>
              <a:srgbClr val="C9DAF2"/>
            </a:solidFill>
            <a:prstDash val="solid"/>
          </a:ln>
        </p:spPr>
      </p:sp>
      <p:sp>
        <p:nvSpPr>
          <p:cNvPr id="14" name="Shape 11"/>
          <p:cNvSpPr/>
          <p:nvPr/>
        </p:nvSpPr>
        <p:spPr>
          <a:xfrm>
            <a:off x="4565904" y="1372534"/>
            <a:ext cx="594360" cy="594360"/>
          </a:xfrm>
          <a:prstGeom prst="ellipse">
            <a:avLst/>
          </a:prstGeom>
          <a:solidFill>
            <a:srgbClr val="1F6FEB"/>
          </a:solidFill>
          <a:ln w="12700">
            <a:solidFill>
              <a:srgbClr val="1F6FEB"/>
            </a:solidFill>
            <a:prstDash val="solid"/>
          </a:ln>
        </p:spPr>
      </p:sp>
      <p:pic>
        <p:nvPicPr>
          <p:cNvPr id="15" name="Image 1" descr="preencoded.png"/>
          <p:cNvPicPr>
            <a:picLocks noChangeAspect="1"/>
          </p:cNvPicPr>
          <p:nvPr/>
        </p:nvPicPr>
        <p:blipFill>
          <a:blip r:embed="rId4"/>
          <a:stretch>
            <a:fillRect/>
          </a:stretch>
        </p:blipFill>
        <p:spPr>
          <a:xfrm>
            <a:off x="4708550" y="1515180"/>
            <a:ext cx="309067" cy="309067"/>
          </a:xfrm>
          <a:prstGeom prst="rect">
            <a:avLst/>
          </a:prstGeom>
        </p:spPr>
      </p:pic>
      <p:sp>
        <p:nvSpPr>
          <p:cNvPr id="16" name="Text 12"/>
          <p:cNvSpPr txBox="1"/>
          <p:nvPr/>
        </p:nvSpPr>
        <p:spPr>
          <a:xfrm>
            <a:off x="5297424" y="1372534"/>
            <a:ext cx="2417064" cy="365760"/>
          </a:xfrm>
          <a:prstGeom prst="rect">
            <a:avLst/>
          </a:prstGeom>
          <a:noFill/>
          <a:ln/>
        </p:spPr>
        <p:txBody>
          <a:bodyPr wrap="square" lIns="0" tIns="0" rIns="0" bIns="0" rtlCol="0" anchor="ctr"/>
          <a:lstStyle/>
          <a:p>
            <a:pPr marL="0" indent="0">
              <a:buNone/>
            </a:pP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Customer_RFM.csv</a:t>
            </a:r>
            <a:endParaRPr lang="en-US" sz="1400" dirty="0">
              <a:latin typeface="Times New Roman" panose="02020603050405020304" pitchFamily="18" charset="0"/>
              <a:cs typeface="Times New Roman" panose="02020603050405020304" pitchFamily="18" charset="0"/>
            </a:endParaRPr>
          </a:p>
        </p:txBody>
      </p:sp>
      <p:sp>
        <p:nvSpPr>
          <p:cNvPr id="17" name="Text 13"/>
          <p:cNvSpPr txBox="1"/>
          <p:nvPr/>
        </p:nvSpPr>
        <p:spPr>
          <a:xfrm>
            <a:off x="5297424" y="1738294"/>
            <a:ext cx="2417064" cy="274320"/>
          </a:xfrm>
          <a:prstGeom prst="rect">
            <a:avLst/>
          </a:prstGeom>
          <a:noFill/>
          <a:ln/>
        </p:spPr>
        <p:txBody>
          <a:bodyPr wrap="square" lIns="0" tIns="0" rIns="0" bIns="0" rtlCol="0" anchor="ctr"/>
          <a:lstStyle/>
          <a:p>
            <a:pPr marL="0" indent="0">
              <a:buNone/>
            </a:pPr>
            <a:r>
              <a:rPr lang="en-US" sz="1300" i="1" dirty="0">
                <a:solidFill>
                  <a:srgbClr val="1F6FEB"/>
                </a:solidFill>
                <a:latin typeface="Times New Roman" panose="02020603050405020304" pitchFamily="18" charset="0"/>
                <a:ea typeface="Times New Roman" pitchFamily="34" charset="-122"/>
                <a:cs typeface="Times New Roman" panose="02020603050405020304" pitchFamily="18" charset="0"/>
              </a:rPr>
              <a:t>→ Clustering</a:t>
            </a:r>
            <a:endParaRPr lang="en-US" sz="1300" dirty="0">
              <a:latin typeface="Times New Roman" panose="02020603050405020304" pitchFamily="18" charset="0"/>
              <a:cs typeface="Times New Roman" panose="02020603050405020304" pitchFamily="18" charset="0"/>
            </a:endParaRPr>
          </a:p>
        </p:txBody>
      </p:sp>
      <p:sp>
        <p:nvSpPr>
          <p:cNvPr id="18" name="Text 14"/>
          <p:cNvSpPr txBox="1"/>
          <p:nvPr/>
        </p:nvSpPr>
        <p:spPr>
          <a:xfrm>
            <a:off x="4565904" y="2195494"/>
            <a:ext cx="3057144" cy="365760"/>
          </a:xfrm>
          <a:prstGeom prst="rect">
            <a:avLst/>
          </a:prstGeom>
          <a:noFill/>
          <a:ln/>
        </p:spPr>
        <p:txBody>
          <a:bodyPr wrap="square" lIns="0" tIns="0" rIns="0" bIns="0" rtlCol="0" anchor="ctr"/>
          <a:lstStyle/>
          <a:p>
            <a:pPr marL="0" indent="0">
              <a:buNone/>
            </a:pPr>
            <a:r>
              <a:rPr lang="en-US" sz="1800" b="1" dirty="0">
                <a:solidFill>
                  <a:srgbClr val="1A2B45"/>
                </a:solidFill>
                <a:latin typeface="Times New Roman" panose="02020603050405020304" pitchFamily="18" charset="0"/>
                <a:ea typeface="Times New Roman" pitchFamily="34" charset="-122"/>
                <a:cs typeface="Times New Roman" panose="02020603050405020304" pitchFamily="18" charset="0"/>
              </a:rPr>
              <a:t>5,853 khách × 4 cột</a:t>
            </a:r>
            <a:endParaRPr lang="en-US" sz="1800" dirty="0">
              <a:latin typeface="Times New Roman" panose="02020603050405020304" pitchFamily="18" charset="0"/>
              <a:cs typeface="Times New Roman" panose="02020603050405020304" pitchFamily="18" charset="0"/>
            </a:endParaRPr>
          </a:p>
        </p:txBody>
      </p:sp>
      <p:sp>
        <p:nvSpPr>
          <p:cNvPr id="19" name="Text 15"/>
          <p:cNvSpPr txBox="1"/>
          <p:nvPr/>
        </p:nvSpPr>
        <p:spPr>
          <a:xfrm>
            <a:off x="4565904" y="2652694"/>
            <a:ext cx="3057144" cy="1191518"/>
          </a:xfrm>
          <a:prstGeom prst="rect">
            <a:avLst/>
          </a:prstGeom>
          <a:noFill/>
          <a:ln/>
        </p:spPr>
        <p:txBody>
          <a:bodyPr wrap="square" lIns="0" tIns="0" rIns="0" bIns="0" rtlCol="0" anchor="t"/>
          <a:lstStyle/>
          <a:p>
            <a:pPr marL="0" indent="0">
              <a:buNone/>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RFM </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tính</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toàn kỳ</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S</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napshot</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 09/12/2011). Phân khúc là mô tả, không dự đoán tương lai nên dùng toàn bộ lịch sử là hợp lệ.</a:t>
            </a:r>
            <a:endParaRPr lang="en-US" sz="1500" dirty="0">
              <a:latin typeface="Times New Roman" panose="02020603050405020304" pitchFamily="18" charset="0"/>
              <a:cs typeface="Times New Roman" panose="02020603050405020304" pitchFamily="18" charset="0"/>
            </a:endParaRPr>
          </a:p>
        </p:txBody>
      </p:sp>
      <p:sp>
        <p:nvSpPr>
          <p:cNvPr id="20" name="Shape 16"/>
          <p:cNvSpPr/>
          <p:nvPr/>
        </p:nvSpPr>
        <p:spPr>
          <a:xfrm>
            <a:off x="8125968" y="1235375"/>
            <a:ext cx="3514344" cy="2384904"/>
          </a:xfrm>
          <a:prstGeom prst="rect">
            <a:avLst/>
          </a:prstGeom>
          <a:solidFill>
            <a:srgbClr val="EAF2FF"/>
          </a:solidFill>
          <a:ln w="9525">
            <a:solidFill>
              <a:srgbClr val="C9DAF2"/>
            </a:solidFill>
            <a:prstDash val="solid"/>
          </a:ln>
        </p:spPr>
      </p:sp>
      <p:sp>
        <p:nvSpPr>
          <p:cNvPr id="21" name="Shape 17"/>
          <p:cNvSpPr/>
          <p:nvPr/>
        </p:nvSpPr>
        <p:spPr>
          <a:xfrm>
            <a:off x="8354568" y="1372534"/>
            <a:ext cx="594360" cy="594360"/>
          </a:xfrm>
          <a:prstGeom prst="ellipse">
            <a:avLst/>
          </a:prstGeom>
          <a:solidFill>
            <a:srgbClr val="1F6FEB"/>
          </a:solidFill>
          <a:ln w="12700">
            <a:solidFill>
              <a:srgbClr val="1F6FEB"/>
            </a:solidFill>
            <a:prstDash val="solid"/>
          </a:ln>
        </p:spPr>
      </p:sp>
      <p:pic>
        <p:nvPicPr>
          <p:cNvPr id="22" name="Image 2" descr="preencoded.png"/>
          <p:cNvPicPr>
            <a:picLocks noChangeAspect="1"/>
          </p:cNvPicPr>
          <p:nvPr/>
        </p:nvPicPr>
        <p:blipFill>
          <a:blip r:embed="rId5"/>
          <a:stretch>
            <a:fillRect/>
          </a:stretch>
        </p:blipFill>
        <p:spPr>
          <a:xfrm>
            <a:off x="8497214" y="1515180"/>
            <a:ext cx="309067" cy="309067"/>
          </a:xfrm>
          <a:prstGeom prst="rect">
            <a:avLst/>
          </a:prstGeom>
        </p:spPr>
      </p:pic>
      <p:sp>
        <p:nvSpPr>
          <p:cNvPr id="23" name="Text 18"/>
          <p:cNvSpPr txBox="1"/>
          <p:nvPr/>
        </p:nvSpPr>
        <p:spPr>
          <a:xfrm>
            <a:off x="9086087" y="1372534"/>
            <a:ext cx="2483871" cy="365760"/>
          </a:xfrm>
          <a:prstGeom prst="rect">
            <a:avLst/>
          </a:prstGeom>
          <a:noFill/>
          <a:ln/>
        </p:spPr>
        <p:txBody>
          <a:bodyPr wrap="square" lIns="0" tIns="0" rIns="0" bIns="0" rtlCol="0" anchor="ctr"/>
          <a:lstStyle/>
          <a:p>
            <a:pPr marL="0" indent="0">
              <a:buNone/>
            </a:pPr>
            <a:r>
              <a:rPr lang="en-US" sz="1500" b="1" dirty="0">
                <a:solidFill>
                  <a:srgbClr val="0B2A5B"/>
                </a:solidFill>
                <a:latin typeface="Times New Roman" panose="02020603050405020304" pitchFamily="18" charset="0"/>
                <a:ea typeface="Times New Roman" pitchFamily="34" charset="-122"/>
                <a:cs typeface="Times New Roman" panose="02020603050405020304" pitchFamily="18" charset="0"/>
              </a:rPr>
              <a:t>Customer</a:t>
            </a:r>
            <a:r>
              <a:rPr lang="en-US" sz="1400" b="1" dirty="0">
                <a:solidFill>
                  <a:srgbClr val="0B2A5B"/>
                </a:solidFill>
                <a:latin typeface="Times New Roman" panose="02020603050405020304" pitchFamily="18" charset="0"/>
                <a:ea typeface="Times New Roman" pitchFamily="34" charset="-122"/>
                <a:cs typeface="Times New Roman" panose="02020603050405020304" pitchFamily="18" charset="0"/>
              </a:rPr>
              <a:t>_Churn_Features.csv</a:t>
            </a:r>
            <a:endParaRPr lang="en-US" sz="1400" dirty="0">
              <a:latin typeface="Times New Roman" panose="02020603050405020304" pitchFamily="18" charset="0"/>
              <a:cs typeface="Times New Roman" panose="02020603050405020304" pitchFamily="18" charset="0"/>
            </a:endParaRPr>
          </a:p>
        </p:txBody>
      </p:sp>
      <p:sp>
        <p:nvSpPr>
          <p:cNvPr id="24" name="Text 19"/>
          <p:cNvSpPr txBox="1"/>
          <p:nvPr/>
        </p:nvSpPr>
        <p:spPr>
          <a:xfrm>
            <a:off x="9086088" y="1738294"/>
            <a:ext cx="2417064" cy="274320"/>
          </a:xfrm>
          <a:prstGeom prst="rect">
            <a:avLst/>
          </a:prstGeom>
          <a:noFill/>
          <a:ln/>
        </p:spPr>
        <p:txBody>
          <a:bodyPr wrap="square" lIns="0" tIns="0" rIns="0" bIns="0" rtlCol="0" anchor="ctr"/>
          <a:lstStyle/>
          <a:p>
            <a:pPr marL="0" indent="0">
              <a:buNone/>
            </a:pPr>
            <a:r>
              <a:rPr lang="en-US" sz="1300" i="1" dirty="0">
                <a:solidFill>
                  <a:srgbClr val="1F6FEB"/>
                </a:solidFill>
                <a:latin typeface="Times New Roman" panose="02020603050405020304" pitchFamily="18" charset="0"/>
                <a:ea typeface="Times New Roman" pitchFamily="34" charset="-122"/>
                <a:cs typeface="Times New Roman" panose="02020603050405020304" pitchFamily="18" charset="0"/>
              </a:rPr>
              <a:t>→ Churn</a:t>
            </a:r>
            <a:endParaRPr lang="en-US" sz="1300" dirty="0">
              <a:latin typeface="Times New Roman" panose="02020603050405020304" pitchFamily="18" charset="0"/>
              <a:cs typeface="Times New Roman" panose="02020603050405020304" pitchFamily="18" charset="0"/>
            </a:endParaRPr>
          </a:p>
        </p:txBody>
      </p:sp>
      <p:sp>
        <p:nvSpPr>
          <p:cNvPr id="25" name="Text 20"/>
          <p:cNvSpPr txBox="1"/>
          <p:nvPr/>
        </p:nvSpPr>
        <p:spPr>
          <a:xfrm>
            <a:off x="8354568" y="2195494"/>
            <a:ext cx="3057144" cy="365760"/>
          </a:xfrm>
          <a:prstGeom prst="rect">
            <a:avLst/>
          </a:prstGeom>
          <a:noFill/>
          <a:ln/>
        </p:spPr>
        <p:txBody>
          <a:bodyPr wrap="square" lIns="0" tIns="0" rIns="0" bIns="0" rtlCol="0" anchor="ctr"/>
          <a:lstStyle/>
          <a:p>
            <a:pPr marL="0" indent="0">
              <a:buNone/>
            </a:pPr>
            <a:r>
              <a:rPr lang="en-US" sz="1800" b="1" dirty="0">
                <a:solidFill>
                  <a:srgbClr val="1A2B45"/>
                </a:solidFill>
                <a:latin typeface="Times New Roman" panose="02020603050405020304" pitchFamily="18" charset="0"/>
                <a:ea typeface="Times New Roman" pitchFamily="34" charset="-122"/>
                <a:cs typeface="Times New Roman" panose="02020603050405020304" pitchFamily="18" charset="0"/>
              </a:rPr>
              <a:t>5,472 khách × 4 cột</a:t>
            </a:r>
            <a:endParaRPr lang="en-US" sz="1800" dirty="0">
              <a:latin typeface="Times New Roman" panose="02020603050405020304" pitchFamily="18" charset="0"/>
              <a:cs typeface="Times New Roman" panose="02020603050405020304" pitchFamily="18" charset="0"/>
            </a:endParaRPr>
          </a:p>
        </p:txBody>
      </p:sp>
      <p:sp>
        <p:nvSpPr>
          <p:cNvPr id="26" name="Text 21"/>
          <p:cNvSpPr txBox="1"/>
          <p:nvPr/>
        </p:nvSpPr>
        <p:spPr>
          <a:xfrm>
            <a:off x="8354568" y="2652694"/>
            <a:ext cx="3057144" cy="902269"/>
          </a:xfrm>
          <a:prstGeom prst="rect">
            <a:avLst/>
          </a:prstGeom>
          <a:noFill/>
          <a:ln/>
        </p:spPr>
        <p:txBody>
          <a:bodyPr wrap="square" lIns="0" tIns="0" rIns="0" bIns="0" rtlCol="0" anchor="t"/>
          <a:lstStyle/>
          <a:p>
            <a:pPr marL="0" indent="0">
              <a:buNone/>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RFM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cắt</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tại Snapshot sớm hơn. Giao dịch sau mốc này không được dùng để tính </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đặc</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trưng,</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chống rò rỉ </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dữ</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liệu.</a:t>
            </a:r>
            <a:endParaRPr lang="en-US" sz="1500" dirty="0">
              <a:latin typeface="Times New Roman" panose="02020603050405020304" pitchFamily="18" charset="0"/>
              <a:cs typeface="Times New Roman" panose="02020603050405020304" pitchFamily="18" charset="0"/>
            </a:endParaRPr>
          </a:p>
        </p:txBody>
      </p:sp>
      <p:sp>
        <p:nvSpPr>
          <p:cNvPr id="30" name="Text 0">
            <a:extLst>
              <a:ext uri="{FF2B5EF4-FFF2-40B4-BE49-F238E27FC236}">
                <a16:creationId xmlns:a16="http://schemas.microsoft.com/office/drawing/2014/main" id="{4322C185-F0C4-D906-0FC8-5AC328CBA6BB}"/>
              </a:ext>
            </a:extLst>
          </p:cNvPr>
          <p:cNvSpPr txBox="1"/>
          <p:nvPr/>
        </p:nvSpPr>
        <p:spPr>
          <a:xfrm>
            <a:off x="548640" y="133425"/>
            <a:ext cx="9994392" cy="685800"/>
          </a:xfrm>
          <a:prstGeom prst="rect">
            <a:avLst/>
          </a:prstGeom>
          <a:noFill/>
          <a:ln/>
        </p:spPr>
        <p:txBody>
          <a:bodyPr wrap="square" lIns="0" tIns="0" rIns="0" bIns="0" rtlCol="0" anchor="ctr"/>
          <a:lstStyle/>
          <a:p>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Data Preparation </a:t>
            </a:r>
            <a:r>
              <a:rPr lang="en-US" sz="3200" b="1" dirty="0">
                <a:solidFill>
                  <a:srgbClr val="2C3E50"/>
                </a:solidFill>
                <a:latin typeface="Times New Roman" panose="02020603050405020304" pitchFamily="18" charset="0"/>
                <a:ea typeface="Cambria" pitchFamily="34" charset="-122"/>
                <a:cs typeface="Times New Roman" panose="02020603050405020304" pitchFamily="18" charset="0"/>
              </a:rPr>
              <a:t>—</a:t>
            </a:r>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 Ba bộ dữ liệu đầu ra</a:t>
            </a:r>
            <a:endParaRPr lang="en-US" sz="3000" dirty="0">
              <a:latin typeface="Times New Roman" panose="02020603050405020304" pitchFamily="18" charset="0"/>
              <a:cs typeface="Times New Roman" panose="02020603050405020304" pitchFamily="18" charset="0"/>
            </a:endParaRPr>
          </a:p>
        </p:txBody>
      </p:sp>
      <p:sp>
        <p:nvSpPr>
          <p:cNvPr id="32" name="Text 2">
            <a:extLst>
              <a:ext uri="{FF2B5EF4-FFF2-40B4-BE49-F238E27FC236}">
                <a16:creationId xmlns:a16="http://schemas.microsoft.com/office/drawing/2014/main" id="{D84E4110-162C-3BBC-6849-A944212D212A}"/>
              </a:ext>
            </a:extLst>
          </p:cNvPr>
          <p:cNvSpPr txBox="1"/>
          <p:nvPr/>
        </p:nvSpPr>
        <p:spPr>
          <a:xfrm>
            <a:off x="552771" y="6357259"/>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
        <p:nvSpPr>
          <p:cNvPr id="34" name="Shape 4">
            <a:extLst>
              <a:ext uri="{FF2B5EF4-FFF2-40B4-BE49-F238E27FC236}">
                <a16:creationId xmlns:a16="http://schemas.microsoft.com/office/drawing/2014/main" id="{536F6D84-9869-B152-47FF-3EA72D2C7B1E}"/>
              </a:ext>
            </a:extLst>
          </p:cNvPr>
          <p:cNvSpPr/>
          <p:nvPr/>
        </p:nvSpPr>
        <p:spPr>
          <a:xfrm>
            <a:off x="548640" y="3699593"/>
            <a:ext cx="5440680" cy="2570578"/>
          </a:xfrm>
          <a:prstGeom prst="roundRect">
            <a:avLst>
              <a:gd name="adj" fmla="val 2623"/>
            </a:avLst>
          </a:prstGeom>
          <a:solidFill>
            <a:srgbClr val="F4F6FA"/>
          </a:solidFill>
          <a:ln w="12700">
            <a:solidFill>
              <a:srgbClr val="F4F6FA"/>
            </a:solidFill>
            <a:prstDash val="solid"/>
          </a:ln>
        </p:spPr>
      </p:sp>
      <p:sp>
        <p:nvSpPr>
          <p:cNvPr id="36" name="Text 5">
            <a:extLst>
              <a:ext uri="{FF2B5EF4-FFF2-40B4-BE49-F238E27FC236}">
                <a16:creationId xmlns:a16="http://schemas.microsoft.com/office/drawing/2014/main" id="{D485445A-AF1C-37A5-B692-00C2557BAFBE}"/>
              </a:ext>
            </a:extLst>
          </p:cNvPr>
          <p:cNvSpPr txBox="1"/>
          <p:nvPr/>
        </p:nvSpPr>
        <p:spPr>
          <a:xfrm>
            <a:off x="822960" y="3726277"/>
            <a:ext cx="4892040" cy="365760"/>
          </a:xfrm>
          <a:prstGeom prst="rect">
            <a:avLst/>
          </a:prstGeom>
          <a:noFill/>
          <a:ln/>
        </p:spPr>
        <p:txBody>
          <a:bodyPr wrap="square" lIns="0" tIns="0" rIns="0" bIns="0" rtlCol="0" anchor="ctr"/>
          <a:lstStyle/>
          <a:p>
            <a:pPr marL="0" indent="0">
              <a:buNone/>
            </a:pPr>
            <a:r>
              <a:rPr lang="en-US" sz="1600" b="1" dirty="0">
                <a:solidFill>
                  <a:srgbClr val="14213D"/>
                </a:solidFill>
                <a:latin typeface="Times New Roman" panose="02020603050405020304" pitchFamily="18" charset="0"/>
                <a:ea typeface="Cambria" pitchFamily="34" charset="-122"/>
                <a:cs typeface="Times New Roman" panose="02020603050405020304" pitchFamily="18" charset="0"/>
              </a:rPr>
              <a:t>So sánh 2 bảng RFM</a:t>
            </a:r>
            <a:endParaRPr lang="en-US" sz="1600" dirty="0">
              <a:latin typeface="Times New Roman" panose="02020603050405020304" pitchFamily="18" charset="0"/>
              <a:cs typeface="Times New Roman" panose="02020603050405020304" pitchFamily="18" charset="0"/>
            </a:endParaRPr>
          </a:p>
        </p:txBody>
      </p:sp>
      <p:graphicFrame>
        <p:nvGraphicFramePr>
          <p:cNvPr id="38" name="Table 1">
            <a:extLst>
              <a:ext uri="{FF2B5EF4-FFF2-40B4-BE49-F238E27FC236}">
                <a16:creationId xmlns:a16="http://schemas.microsoft.com/office/drawing/2014/main" id="{0F293FD3-1C8B-DFC6-6514-EC0E3A972F2A}"/>
              </a:ext>
            </a:extLst>
          </p:cNvPr>
          <p:cNvGraphicFramePr>
            <a:graphicFrameLocks noGrp="1"/>
          </p:cNvGraphicFramePr>
          <p:nvPr>
            <p:extLst>
              <p:ext uri="{D42A27DB-BD31-4B8C-83A1-F6EECF244321}">
                <p14:modId xmlns:p14="http://schemas.microsoft.com/office/powerpoint/2010/main" val="1480018596"/>
              </p:ext>
            </p:extLst>
          </p:nvPr>
        </p:nvGraphicFramePr>
        <p:xfrm>
          <a:off x="664339" y="4119468"/>
          <a:ext cx="5166360" cy="1973420"/>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394684">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Chỉ số</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Toàn kỳ</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500" b="1" dirty="0" err="1">
                          <a:solidFill>
                            <a:srgbClr val="FFFFFF"/>
                          </a:solidFill>
                          <a:latin typeface="Times New Roman" panose="02020603050405020304" pitchFamily="18" charset="0"/>
                          <a:ea typeface="Calibri" pitchFamily="34" charset="-122"/>
                          <a:cs typeface="Times New Roman" panose="02020603050405020304" pitchFamily="18" charset="0"/>
                        </a:rPr>
                        <a:t>Cắt</a:t>
                      </a: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vi-VN" sz="1500" b="1" dirty="0">
                          <a:solidFill>
                            <a:srgbClr val="FFFFFF"/>
                          </a:solidFill>
                          <a:latin typeface="Times New Roman" panose="02020603050405020304" pitchFamily="18" charset="0"/>
                          <a:ea typeface="Calibri" pitchFamily="34" charset="-122"/>
                          <a:cs typeface="Times New Roman" panose="02020603050405020304" pitchFamily="18" charset="0"/>
                        </a:rPr>
                        <a:t>S</a:t>
                      </a:r>
                      <a:r>
                        <a:rPr lang="en-US" sz="1500" b="1" dirty="0" err="1">
                          <a:solidFill>
                            <a:srgbClr val="FFFFFF"/>
                          </a:solidFill>
                          <a:latin typeface="Times New Roman" panose="02020603050405020304" pitchFamily="18" charset="0"/>
                          <a:ea typeface="Calibri" pitchFamily="34" charset="-122"/>
                          <a:cs typeface="Times New Roman" panose="02020603050405020304" pitchFamily="18" charset="0"/>
                        </a:rPr>
                        <a:t>napshot</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94684">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Số khách hàng</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5,853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5,472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4684">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Frequency TB</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6.25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5.80</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4684">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Monetary TB (£)</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2,916.34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2,687.82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4684">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Recency TB (ngày)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199.17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203.43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875210"/>
            <a:ext cx="11091672" cy="365760"/>
          </a:xfrm>
          <a:prstGeom prst="rect">
            <a:avLst/>
          </a:prstGeom>
          <a:noFill/>
          <a:ln/>
        </p:spPr>
        <p:txBody>
          <a:bodyPr wrap="square" lIns="0" tIns="0" rIns="0" bIns="0" rtlCol="0" anchor="t"/>
          <a:lstStyle/>
          <a:p>
            <a:pPr marL="0" indent="0">
              <a:buNone/>
            </a:pPr>
            <a:r>
              <a:rPr lang="en-US" sz="1600" i="1" dirty="0">
                <a:solidFill>
                  <a:srgbClr val="5B6B82"/>
                </a:solidFill>
                <a:latin typeface="Times New Roman" pitchFamily="34" charset="0"/>
                <a:ea typeface="Times New Roman" pitchFamily="34" charset="-122"/>
                <a:cs typeface="Times New Roman" pitchFamily="34" charset="-120"/>
              </a:rPr>
              <a:t>Đặc trưng ← </a:t>
            </a:r>
            <a:r>
              <a:rPr lang="vi-VN" sz="1600" i="1" dirty="0">
                <a:solidFill>
                  <a:srgbClr val="5B6B82"/>
                </a:solidFill>
                <a:latin typeface="Times New Roman" pitchFamily="34" charset="0"/>
                <a:ea typeface="Times New Roman" pitchFamily="34" charset="-122"/>
                <a:cs typeface="Times New Roman" pitchFamily="34" charset="-120"/>
              </a:rPr>
              <a:t>Q</a:t>
            </a:r>
            <a:r>
              <a:rPr lang="en-US" sz="1600" i="1" dirty="0" err="1">
                <a:solidFill>
                  <a:srgbClr val="5B6B82"/>
                </a:solidFill>
                <a:latin typeface="Times New Roman" pitchFamily="34" charset="0"/>
                <a:ea typeface="Times New Roman" pitchFamily="34" charset="-122"/>
                <a:cs typeface="Times New Roman" pitchFamily="34" charset="-120"/>
              </a:rPr>
              <a:t>uá</a:t>
            </a:r>
            <a:r>
              <a:rPr lang="en-US" sz="1600" i="1" dirty="0">
                <a:solidFill>
                  <a:srgbClr val="5B6B82"/>
                </a:solidFill>
                <a:latin typeface="Times New Roman" pitchFamily="34" charset="0"/>
                <a:ea typeface="Times New Roman" pitchFamily="34" charset="-122"/>
                <a:cs typeface="Times New Roman" pitchFamily="34" charset="-120"/>
              </a:rPr>
              <a:t> khứ · Nhãn ← </a:t>
            </a:r>
            <a:r>
              <a:rPr lang="vi-VN" sz="1600" i="1" dirty="0">
                <a:solidFill>
                  <a:srgbClr val="5B6B82"/>
                </a:solidFill>
                <a:latin typeface="Times New Roman" pitchFamily="34" charset="0"/>
                <a:ea typeface="Times New Roman" pitchFamily="34" charset="-122"/>
                <a:cs typeface="Times New Roman" pitchFamily="34" charset="-120"/>
              </a:rPr>
              <a:t>T</a:t>
            </a:r>
            <a:r>
              <a:rPr lang="en-US" sz="1600" i="1" dirty="0" err="1">
                <a:solidFill>
                  <a:srgbClr val="5B6B82"/>
                </a:solidFill>
                <a:latin typeface="Times New Roman" pitchFamily="34" charset="0"/>
                <a:ea typeface="Times New Roman" pitchFamily="34" charset="-122"/>
                <a:cs typeface="Times New Roman" pitchFamily="34" charset="-120"/>
              </a:rPr>
              <a:t>ương</a:t>
            </a:r>
            <a:r>
              <a:rPr lang="en-US" sz="1600" i="1" dirty="0">
                <a:solidFill>
                  <a:srgbClr val="5B6B82"/>
                </a:solidFill>
                <a:latin typeface="Times New Roman" pitchFamily="34" charset="0"/>
                <a:ea typeface="Times New Roman" pitchFamily="34" charset="-122"/>
                <a:cs typeface="Times New Roman" pitchFamily="34" charset="-120"/>
              </a:rPr>
              <a:t> lai · </a:t>
            </a:r>
            <a:r>
              <a:rPr lang="vi-VN" sz="1600" i="1" dirty="0">
                <a:solidFill>
                  <a:srgbClr val="5B6B82"/>
                </a:solidFill>
                <a:latin typeface="Times New Roman" pitchFamily="34" charset="0"/>
                <a:ea typeface="Times New Roman" pitchFamily="34" charset="-122"/>
                <a:cs typeface="Times New Roman" pitchFamily="34" charset="-120"/>
              </a:rPr>
              <a:t>H</a:t>
            </a:r>
            <a:r>
              <a:rPr lang="en-US" sz="1600" i="1" dirty="0">
                <a:solidFill>
                  <a:srgbClr val="5B6B82"/>
                </a:solidFill>
                <a:latin typeface="Times New Roman" pitchFamily="34" charset="0"/>
                <a:ea typeface="Times New Roman" pitchFamily="34" charset="-122"/>
                <a:cs typeface="Times New Roman" pitchFamily="34" charset="-120"/>
              </a:rPr>
              <a:t>ai phần tách bạch tuyệt đối</a:t>
            </a:r>
            <a:endParaRPr lang="en-US" sz="16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itchFamily="34" charset="0"/>
                <a:ea typeface="Times New Roman" pitchFamily="34" charset="-122"/>
                <a:cs typeface="Times New Roman" pitchFamily="34" charset="-120"/>
              </a:rPr>
              <a:t>16</a:t>
            </a:r>
            <a:endParaRPr lang="en-US" sz="1200" dirty="0"/>
          </a:p>
        </p:txBody>
      </p:sp>
      <p:sp>
        <p:nvSpPr>
          <p:cNvPr id="6" name="Shape 4"/>
          <p:cNvSpPr/>
          <p:nvPr/>
        </p:nvSpPr>
        <p:spPr>
          <a:xfrm>
            <a:off x="731520" y="2926080"/>
            <a:ext cx="10725912" cy="0"/>
          </a:xfrm>
          <a:prstGeom prst="line">
            <a:avLst/>
          </a:prstGeom>
          <a:noFill/>
          <a:ln w="38100">
            <a:solidFill>
              <a:srgbClr val="0B2A5B"/>
            </a:solidFill>
            <a:prstDash val="solid"/>
          </a:ln>
        </p:spPr>
      </p:sp>
      <p:sp>
        <p:nvSpPr>
          <p:cNvPr id="7" name="Shape 5"/>
          <p:cNvSpPr/>
          <p:nvPr/>
        </p:nvSpPr>
        <p:spPr>
          <a:xfrm>
            <a:off x="978408" y="2807208"/>
            <a:ext cx="237744" cy="237744"/>
          </a:xfrm>
          <a:prstGeom prst="ellipse">
            <a:avLst/>
          </a:prstGeom>
          <a:solidFill>
            <a:srgbClr val="1F6FEB"/>
          </a:solidFill>
          <a:ln w="25400">
            <a:solidFill>
              <a:srgbClr val="FFFFFF"/>
            </a:solidFill>
            <a:prstDash val="solid"/>
          </a:ln>
        </p:spPr>
      </p:sp>
      <p:sp>
        <p:nvSpPr>
          <p:cNvPr id="8" name="Text 6"/>
          <p:cNvSpPr txBox="1"/>
          <p:nvPr/>
        </p:nvSpPr>
        <p:spPr>
          <a:xfrm>
            <a:off x="274320" y="3108960"/>
            <a:ext cx="1645920" cy="274320"/>
          </a:xfrm>
          <a:prstGeom prst="rect">
            <a:avLst/>
          </a:prstGeom>
          <a:noFill/>
          <a:ln/>
        </p:spPr>
        <p:txBody>
          <a:bodyPr wrap="square" lIns="0" tIns="0" rIns="0" bIns="0" rtlCol="0" anchor="ctr"/>
          <a:lstStyle/>
          <a:p>
            <a:pPr marL="0" indent="0" algn="ctr">
              <a:buNone/>
            </a:pPr>
            <a:r>
              <a:rPr lang="en-US" sz="1500" b="1" dirty="0">
                <a:solidFill>
                  <a:srgbClr val="0B2A5B"/>
                </a:solidFill>
                <a:latin typeface="Times New Roman" pitchFamily="34" charset="0"/>
                <a:ea typeface="Times New Roman" pitchFamily="34" charset="-122"/>
                <a:cs typeface="Times New Roman" pitchFamily="34" charset="-120"/>
              </a:rPr>
              <a:t>01/12/2009</a:t>
            </a:r>
            <a:endParaRPr lang="en-US" sz="1500" dirty="0"/>
          </a:p>
        </p:txBody>
      </p:sp>
      <p:sp>
        <p:nvSpPr>
          <p:cNvPr id="9" name="Text 7"/>
          <p:cNvSpPr txBox="1"/>
          <p:nvPr/>
        </p:nvSpPr>
        <p:spPr>
          <a:xfrm>
            <a:off x="274320" y="3383280"/>
            <a:ext cx="1645920" cy="274320"/>
          </a:xfrm>
          <a:prstGeom prst="rect">
            <a:avLst/>
          </a:prstGeom>
          <a:noFill/>
          <a:ln/>
        </p:spPr>
        <p:txBody>
          <a:bodyPr wrap="square" lIns="0" tIns="0" rIns="0" bIns="0" rtlCol="0" anchor="ctr"/>
          <a:lstStyle/>
          <a:p>
            <a:pPr marL="0" indent="0" algn="ctr">
              <a:buNone/>
            </a:pPr>
            <a:r>
              <a:rPr lang="en-US" sz="1600" dirty="0">
                <a:latin typeface="Times New Roman" pitchFamily="34" charset="0"/>
                <a:ea typeface="Times New Roman" pitchFamily="34" charset="-122"/>
                <a:cs typeface="Times New Roman" pitchFamily="34" charset="-120"/>
              </a:rPr>
              <a:t>Bắt đầu dữ liệu</a:t>
            </a:r>
            <a:endParaRPr lang="en-US" sz="1600" dirty="0"/>
          </a:p>
        </p:txBody>
      </p:sp>
      <p:sp>
        <p:nvSpPr>
          <p:cNvPr id="10" name="Shape 8"/>
          <p:cNvSpPr/>
          <p:nvPr/>
        </p:nvSpPr>
        <p:spPr>
          <a:xfrm>
            <a:off x="6464808" y="2807208"/>
            <a:ext cx="237744" cy="237744"/>
          </a:xfrm>
          <a:prstGeom prst="ellipse">
            <a:avLst/>
          </a:prstGeom>
          <a:solidFill>
            <a:srgbClr val="1F6FEB"/>
          </a:solidFill>
          <a:ln w="25400">
            <a:solidFill>
              <a:srgbClr val="FFFFFF"/>
            </a:solidFill>
            <a:prstDash val="solid"/>
          </a:ln>
        </p:spPr>
      </p:sp>
      <p:sp>
        <p:nvSpPr>
          <p:cNvPr id="11" name="Text 9"/>
          <p:cNvSpPr txBox="1"/>
          <p:nvPr/>
        </p:nvSpPr>
        <p:spPr>
          <a:xfrm>
            <a:off x="5760720" y="3108960"/>
            <a:ext cx="1645920" cy="274320"/>
          </a:xfrm>
          <a:prstGeom prst="rect">
            <a:avLst/>
          </a:prstGeom>
          <a:noFill/>
          <a:ln/>
        </p:spPr>
        <p:txBody>
          <a:bodyPr wrap="square" lIns="0" tIns="0" rIns="0" bIns="0" rtlCol="0" anchor="ctr"/>
          <a:lstStyle/>
          <a:p>
            <a:pPr marL="0" indent="0" algn="ctr">
              <a:buNone/>
            </a:pPr>
            <a:r>
              <a:rPr lang="en-US" sz="1500" b="1" dirty="0">
                <a:solidFill>
                  <a:srgbClr val="0B2A5B"/>
                </a:solidFill>
                <a:latin typeface="Times New Roman" pitchFamily="34" charset="0"/>
                <a:ea typeface="Times New Roman" pitchFamily="34" charset="-122"/>
                <a:cs typeface="Times New Roman" pitchFamily="34" charset="-120"/>
              </a:rPr>
              <a:t>22/07/2011</a:t>
            </a:r>
            <a:endParaRPr lang="en-US" sz="1500" dirty="0"/>
          </a:p>
        </p:txBody>
      </p:sp>
      <p:sp>
        <p:nvSpPr>
          <p:cNvPr id="12" name="Text 10"/>
          <p:cNvSpPr txBox="1"/>
          <p:nvPr/>
        </p:nvSpPr>
        <p:spPr>
          <a:xfrm>
            <a:off x="5760720" y="3383280"/>
            <a:ext cx="1645920" cy="274320"/>
          </a:xfrm>
          <a:prstGeom prst="rect">
            <a:avLst/>
          </a:prstGeom>
          <a:noFill/>
          <a:ln/>
        </p:spPr>
        <p:txBody>
          <a:bodyPr wrap="square" lIns="0" tIns="0" rIns="0" bIns="0" rtlCol="0" anchor="ctr"/>
          <a:lstStyle/>
          <a:p>
            <a:pPr marL="0" indent="0" algn="ctr">
              <a:buNone/>
            </a:pPr>
            <a:r>
              <a:rPr lang="en-US" sz="1600" dirty="0">
                <a:latin typeface="Times New Roman" pitchFamily="34" charset="0"/>
                <a:ea typeface="Times New Roman" pitchFamily="34" charset="-122"/>
                <a:cs typeface="Times New Roman" pitchFamily="34" charset="-120"/>
              </a:rPr>
              <a:t>Snapshot </a:t>
            </a:r>
            <a:r>
              <a:rPr lang="vi-VN" sz="1600" dirty="0">
                <a:latin typeface="Times New Roman" pitchFamily="34" charset="0"/>
                <a:ea typeface="Times New Roman" pitchFamily="34" charset="-122"/>
                <a:cs typeface="Times New Roman" pitchFamily="34" charset="-120"/>
              </a:rPr>
              <a:t>Train</a:t>
            </a:r>
            <a:endParaRPr lang="en-US" sz="1600" dirty="0"/>
          </a:p>
        </p:txBody>
      </p:sp>
      <p:sp>
        <p:nvSpPr>
          <p:cNvPr id="13" name="Shape 11"/>
          <p:cNvSpPr/>
          <p:nvPr/>
        </p:nvSpPr>
        <p:spPr>
          <a:xfrm>
            <a:off x="8659368" y="2807208"/>
            <a:ext cx="237744" cy="237744"/>
          </a:xfrm>
          <a:prstGeom prst="ellipse">
            <a:avLst/>
          </a:prstGeom>
          <a:solidFill>
            <a:srgbClr val="1F6FEB"/>
          </a:solidFill>
          <a:ln w="25400">
            <a:solidFill>
              <a:srgbClr val="FFFFFF"/>
            </a:solidFill>
            <a:prstDash val="solid"/>
          </a:ln>
        </p:spPr>
      </p:sp>
      <p:sp>
        <p:nvSpPr>
          <p:cNvPr id="14" name="Text 12"/>
          <p:cNvSpPr txBox="1"/>
          <p:nvPr/>
        </p:nvSpPr>
        <p:spPr>
          <a:xfrm>
            <a:off x="7955280" y="3108960"/>
            <a:ext cx="1645920" cy="274320"/>
          </a:xfrm>
          <a:prstGeom prst="rect">
            <a:avLst/>
          </a:prstGeom>
          <a:noFill/>
          <a:ln/>
        </p:spPr>
        <p:txBody>
          <a:bodyPr wrap="square" lIns="0" tIns="0" rIns="0" bIns="0" rtlCol="0" anchor="ctr"/>
          <a:lstStyle/>
          <a:p>
            <a:pPr marL="0" indent="0" algn="ctr">
              <a:buNone/>
            </a:pPr>
            <a:r>
              <a:rPr lang="en-US" sz="1500" b="1" dirty="0">
                <a:solidFill>
                  <a:srgbClr val="0B2A5B"/>
                </a:solidFill>
                <a:latin typeface="Times New Roman" pitchFamily="34" charset="0"/>
                <a:ea typeface="Times New Roman" pitchFamily="34" charset="-122"/>
                <a:cs typeface="Times New Roman" pitchFamily="34" charset="-120"/>
              </a:rPr>
              <a:t>30/09/2011</a:t>
            </a:r>
            <a:endParaRPr lang="en-US" sz="1500" dirty="0"/>
          </a:p>
        </p:txBody>
      </p:sp>
      <p:sp>
        <p:nvSpPr>
          <p:cNvPr id="15" name="Text 13"/>
          <p:cNvSpPr txBox="1"/>
          <p:nvPr/>
        </p:nvSpPr>
        <p:spPr>
          <a:xfrm>
            <a:off x="7955280" y="3383280"/>
            <a:ext cx="1645920" cy="274320"/>
          </a:xfrm>
          <a:prstGeom prst="rect">
            <a:avLst/>
          </a:prstGeom>
          <a:noFill/>
          <a:ln/>
        </p:spPr>
        <p:txBody>
          <a:bodyPr wrap="square" lIns="0" tIns="0" rIns="0" bIns="0" rtlCol="0" anchor="ctr"/>
          <a:lstStyle/>
          <a:p>
            <a:pPr marL="0" indent="0" algn="ctr">
              <a:buNone/>
            </a:pPr>
            <a:r>
              <a:rPr lang="en-US" sz="1600" dirty="0">
                <a:latin typeface="Times New Roman" pitchFamily="34" charset="0"/>
                <a:ea typeface="Times New Roman" pitchFamily="34" charset="-122"/>
                <a:cs typeface="Times New Roman" pitchFamily="34" charset="-120"/>
              </a:rPr>
              <a:t>Snapshot </a:t>
            </a:r>
            <a:r>
              <a:rPr lang="vi-VN" sz="1600" dirty="0">
                <a:latin typeface="Times New Roman" pitchFamily="34" charset="0"/>
                <a:ea typeface="Times New Roman" pitchFamily="34" charset="-122"/>
                <a:cs typeface="Times New Roman" pitchFamily="34" charset="-120"/>
              </a:rPr>
              <a:t>Test</a:t>
            </a:r>
            <a:endParaRPr lang="en-US" sz="1600" dirty="0"/>
          </a:p>
        </p:txBody>
      </p:sp>
      <p:sp>
        <p:nvSpPr>
          <p:cNvPr id="16" name="Shape 14"/>
          <p:cNvSpPr/>
          <p:nvPr/>
        </p:nvSpPr>
        <p:spPr>
          <a:xfrm>
            <a:off x="10853928" y="2807208"/>
            <a:ext cx="237744" cy="237744"/>
          </a:xfrm>
          <a:prstGeom prst="ellipse">
            <a:avLst/>
          </a:prstGeom>
          <a:solidFill>
            <a:srgbClr val="1F6FEB"/>
          </a:solidFill>
          <a:ln w="25400">
            <a:solidFill>
              <a:srgbClr val="FFFFFF"/>
            </a:solidFill>
            <a:prstDash val="solid"/>
          </a:ln>
        </p:spPr>
      </p:sp>
      <p:sp>
        <p:nvSpPr>
          <p:cNvPr id="17" name="Text 15"/>
          <p:cNvSpPr txBox="1"/>
          <p:nvPr/>
        </p:nvSpPr>
        <p:spPr>
          <a:xfrm>
            <a:off x="10149840" y="3108960"/>
            <a:ext cx="1645920" cy="274320"/>
          </a:xfrm>
          <a:prstGeom prst="rect">
            <a:avLst/>
          </a:prstGeom>
          <a:noFill/>
          <a:ln/>
        </p:spPr>
        <p:txBody>
          <a:bodyPr wrap="square" lIns="0" tIns="0" rIns="0" bIns="0" rtlCol="0" anchor="ctr"/>
          <a:lstStyle/>
          <a:p>
            <a:pPr marL="0" indent="0" algn="ctr">
              <a:buNone/>
            </a:pPr>
            <a:r>
              <a:rPr lang="en-US" sz="1500" b="1" dirty="0">
                <a:solidFill>
                  <a:srgbClr val="0B2A5B"/>
                </a:solidFill>
                <a:latin typeface="Times New Roman" pitchFamily="34" charset="0"/>
                <a:ea typeface="Times New Roman" pitchFamily="34" charset="-122"/>
                <a:cs typeface="Times New Roman" pitchFamily="34" charset="-120"/>
              </a:rPr>
              <a:t>09/12/2011</a:t>
            </a:r>
            <a:endParaRPr lang="en-US" sz="1500" dirty="0"/>
          </a:p>
        </p:txBody>
      </p:sp>
      <p:sp>
        <p:nvSpPr>
          <p:cNvPr id="18" name="Text 16"/>
          <p:cNvSpPr txBox="1"/>
          <p:nvPr/>
        </p:nvSpPr>
        <p:spPr>
          <a:xfrm>
            <a:off x="10149840" y="3383280"/>
            <a:ext cx="1645920" cy="274320"/>
          </a:xfrm>
          <a:prstGeom prst="rect">
            <a:avLst/>
          </a:prstGeom>
          <a:noFill/>
          <a:ln/>
        </p:spPr>
        <p:txBody>
          <a:bodyPr wrap="square" lIns="0" tIns="0" rIns="0" bIns="0" rtlCol="0" anchor="ctr"/>
          <a:lstStyle/>
          <a:p>
            <a:pPr marL="0" indent="0" algn="ctr">
              <a:buNone/>
            </a:pPr>
            <a:r>
              <a:rPr lang="en-US" sz="1600" dirty="0">
                <a:latin typeface="Times New Roman" pitchFamily="34" charset="0"/>
                <a:ea typeface="Times New Roman" pitchFamily="34" charset="-122"/>
                <a:cs typeface="Times New Roman" pitchFamily="34" charset="-120"/>
              </a:rPr>
              <a:t>Kết thúc dữ liệu</a:t>
            </a:r>
            <a:endParaRPr lang="en-US" sz="1600" dirty="0"/>
          </a:p>
        </p:txBody>
      </p:sp>
      <p:sp>
        <p:nvSpPr>
          <p:cNvPr id="19" name="Shape 17"/>
          <p:cNvSpPr/>
          <p:nvPr/>
        </p:nvSpPr>
        <p:spPr>
          <a:xfrm>
            <a:off x="6583680" y="2286000"/>
            <a:ext cx="2194560" cy="384048"/>
          </a:xfrm>
          <a:prstGeom prst="rect">
            <a:avLst/>
          </a:prstGeom>
          <a:solidFill>
            <a:srgbClr val="3B82C4"/>
          </a:solidFill>
          <a:ln w="12700">
            <a:solidFill>
              <a:srgbClr val="3B82C4"/>
            </a:solidFill>
            <a:prstDash val="solid"/>
          </a:ln>
        </p:spPr>
      </p:sp>
      <p:sp>
        <p:nvSpPr>
          <p:cNvPr id="20" name="Text 18"/>
          <p:cNvSpPr txBox="1"/>
          <p:nvPr/>
        </p:nvSpPr>
        <p:spPr>
          <a:xfrm>
            <a:off x="6583680" y="2286000"/>
            <a:ext cx="2194560" cy="384048"/>
          </a:xfrm>
          <a:prstGeom prst="rect">
            <a:avLst/>
          </a:prstGeom>
          <a:noFill/>
          <a:ln/>
        </p:spPr>
        <p:txBody>
          <a:bodyPr wrap="square" lIns="0" tIns="0" rIns="0" bIns="0" rtlCol="0" anchor="ctr"/>
          <a:lstStyle/>
          <a:p>
            <a:pPr marL="0" indent="0" algn="ctr">
              <a:buNone/>
            </a:pPr>
            <a:r>
              <a:rPr lang="en-US" sz="1600" b="1" dirty="0" err="1">
                <a:solidFill>
                  <a:srgbClr val="FFFFFF"/>
                </a:solidFill>
                <a:latin typeface="Times New Roman" pitchFamily="34" charset="0"/>
                <a:ea typeface="Times New Roman" pitchFamily="34" charset="-122"/>
                <a:cs typeface="Times New Roman" pitchFamily="34" charset="-120"/>
              </a:rPr>
              <a:t>Nhãn</a:t>
            </a:r>
            <a:r>
              <a:rPr lang="en-US" sz="1600" b="1" dirty="0">
                <a:solidFill>
                  <a:srgbClr val="FFFFFF"/>
                </a:solidFill>
                <a:latin typeface="Times New Roman" pitchFamily="34" charset="0"/>
                <a:ea typeface="Times New Roman" pitchFamily="34" charset="-122"/>
                <a:cs typeface="Times New Roman" pitchFamily="34" charset="-120"/>
              </a:rPr>
              <a:t> </a:t>
            </a:r>
            <a:r>
              <a:rPr lang="vi-VN" sz="1600" b="1" dirty="0">
                <a:solidFill>
                  <a:srgbClr val="FFFFFF"/>
                </a:solidFill>
                <a:latin typeface="Times New Roman" pitchFamily="34" charset="0"/>
                <a:ea typeface="Times New Roman" pitchFamily="34" charset="-122"/>
                <a:cs typeface="Times New Roman" pitchFamily="34" charset="-120"/>
              </a:rPr>
              <a:t>Train</a:t>
            </a:r>
            <a:r>
              <a:rPr lang="en-US" sz="1600" b="1" dirty="0">
                <a:solidFill>
                  <a:srgbClr val="FFFFFF"/>
                </a:solidFill>
                <a:latin typeface="Times New Roman" pitchFamily="34" charset="0"/>
                <a:ea typeface="Times New Roman" pitchFamily="34" charset="-122"/>
                <a:cs typeface="Times New Roman" pitchFamily="34" charset="-120"/>
              </a:rPr>
              <a:t>: 70 ngày</a:t>
            </a:r>
            <a:endParaRPr lang="en-US" sz="1600" dirty="0"/>
          </a:p>
        </p:txBody>
      </p:sp>
      <p:sp>
        <p:nvSpPr>
          <p:cNvPr id="21" name="Shape 19"/>
          <p:cNvSpPr/>
          <p:nvPr/>
        </p:nvSpPr>
        <p:spPr>
          <a:xfrm>
            <a:off x="8778240" y="2286000"/>
            <a:ext cx="2194560" cy="384048"/>
          </a:xfrm>
          <a:prstGeom prst="rect">
            <a:avLst/>
          </a:prstGeom>
          <a:solidFill>
            <a:srgbClr val="1F6FEB"/>
          </a:solidFill>
          <a:ln w="12700">
            <a:solidFill>
              <a:srgbClr val="1F6FEB"/>
            </a:solidFill>
            <a:prstDash val="solid"/>
          </a:ln>
        </p:spPr>
      </p:sp>
      <p:sp>
        <p:nvSpPr>
          <p:cNvPr id="22" name="Text 20"/>
          <p:cNvSpPr txBox="1"/>
          <p:nvPr/>
        </p:nvSpPr>
        <p:spPr>
          <a:xfrm>
            <a:off x="8778240" y="2286000"/>
            <a:ext cx="2194560" cy="384048"/>
          </a:xfrm>
          <a:prstGeom prst="rect">
            <a:avLst/>
          </a:prstGeom>
          <a:noFill/>
          <a:ln/>
        </p:spPr>
        <p:txBody>
          <a:bodyPr wrap="square" lIns="0" tIns="0" rIns="0" bIns="0" rtlCol="0" anchor="ctr"/>
          <a:lstStyle/>
          <a:p>
            <a:pPr marL="0" indent="0" algn="ctr">
              <a:buNone/>
            </a:pPr>
            <a:r>
              <a:rPr lang="en-US" sz="1600" b="1" dirty="0" err="1">
                <a:solidFill>
                  <a:srgbClr val="FFFFFF"/>
                </a:solidFill>
                <a:latin typeface="Times New Roman" pitchFamily="34" charset="0"/>
                <a:ea typeface="Times New Roman" pitchFamily="34" charset="-122"/>
                <a:cs typeface="Times New Roman" pitchFamily="34" charset="-120"/>
              </a:rPr>
              <a:t>Nhãn</a:t>
            </a:r>
            <a:r>
              <a:rPr lang="en-US" sz="1600" b="1" dirty="0">
                <a:solidFill>
                  <a:srgbClr val="FFFFFF"/>
                </a:solidFill>
                <a:latin typeface="Times New Roman" pitchFamily="34" charset="0"/>
                <a:ea typeface="Times New Roman" pitchFamily="34" charset="-122"/>
                <a:cs typeface="Times New Roman" pitchFamily="34" charset="-120"/>
              </a:rPr>
              <a:t> </a:t>
            </a:r>
            <a:r>
              <a:rPr lang="vi-VN" sz="1600" b="1" dirty="0">
                <a:solidFill>
                  <a:srgbClr val="FFFFFF"/>
                </a:solidFill>
                <a:latin typeface="Times New Roman" pitchFamily="34" charset="0"/>
                <a:ea typeface="Times New Roman" pitchFamily="34" charset="-122"/>
                <a:cs typeface="Times New Roman" pitchFamily="34" charset="-120"/>
              </a:rPr>
              <a:t>Test</a:t>
            </a:r>
            <a:r>
              <a:rPr lang="en-US" sz="1600" b="1" dirty="0">
                <a:solidFill>
                  <a:srgbClr val="FFFFFF"/>
                </a:solidFill>
                <a:latin typeface="Times New Roman" pitchFamily="34" charset="0"/>
                <a:ea typeface="Times New Roman" pitchFamily="34" charset="-122"/>
                <a:cs typeface="Times New Roman" pitchFamily="34" charset="-120"/>
              </a:rPr>
              <a:t>: 70 ngày</a:t>
            </a:r>
            <a:endParaRPr lang="en-US" sz="1600" dirty="0"/>
          </a:p>
        </p:txBody>
      </p:sp>
      <p:sp>
        <p:nvSpPr>
          <p:cNvPr id="23" name="Text 21"/>
          <p:cNvSpPr txBox="1"/>
          <p:nvPr/>
        </p:nvSpPr>
        <p:spPr>
          <a:xfrm>
            <a:off x="1097280" y="2286000"/>
            <a:ext cx="5303520" cy="384048"/>
          </a:xfrm>
          <a:prstGeom prst="rect">
            <a:avLst/>
          </a:prstGeom>
          <a:noFill/>
          <a:ln/>
        </p:spPr>
        <p:txBody>
          <a:bodyPr wrap="square" lIns="0" tIns="0" rIns="0" bIns="0" rtlCol="0" anchor="ctr"/>
          <a:lstStyle/>
          <a:p>
            <a:pPr marL="0" indent="0" algn="ctr">
              <a:buNone/>
            </a:pPr>
            <a:r>
              <a:rPr lang="en-US" sz="1600" i="1" dirty="0">
                <a:latin typeface="Times New Roman" pitchFamily="34" charset="0"/>
                <a:ea typeface="Times New Roman" pitchFamily="34" charset="-122"/>
                <a:cs typeface="Times New Roman" pitchFamily="34" charset="-120"/>
              </a:rPr>
              <a:t>Đặc trưng RFM (</a:t>
            </a:r>
            <a:r>
              <a:rPr lang="vi-VN" sz="1600" i="1" dirty="0">
                <a:latin typeface="Times New Roman" pitchFamily="34" charset="0"/>
                <a:ea typeface="Times New Roman" pitchFamily="34" charset="-122"/>
                <a:cs typeface="Times New Roman" pitchFamily="34" charset="-120"/>
              </a:rPr>
              <a:t>C</a:t>
            </a:r>
            <a:r>
              <a:rPr lang="en-US" sz="1600" i="1" dirty="0" err="1">
                <a:latin typeface="Times New Roman" pitchFamily="34" charset="0"/>
                <a:ea typeface="Times New Roman" pitchFamily="34" charset="-122"/>
                <a:cs typeface="Times New Roman" pitchFamily="34" charset="-120"/>
              </a:rPr>
              <a:t>hỉ</a:t>
            </a:r>
            <a:r>
              <a:rPr lang="en-US" sz="1600" i="1" dirty="0">
                <a:latin typeface="Times New Roman" pitchFamily="34" charset="0"/>
                <a:ea typeface="Times New Roman" pitchFamily="34" charset="-122"/>
                <a:cs typeface="Times New Roman" pitchFamily="34" charset="-120"/>
              </a:rPr>
              <a:t> dùng dữ liệu ≤ </a:t>
            </a:r>
            <a:r>
              <a:rPr lang="vi-VN" sz="1600" i="1" dirty="0">
                <a:latin typeface="Times New Roman" pitchFamily="34" charset="0"/>
                <a:ea typeface="Times New Roman" pitchFamily="34" charset="-122"/>
                <a:cs typeface="Times New Roman" pitchFamily="34" charset="-120"/>
              </a:rPr>
              <a:t>S</a:t>
            </a:r>
            <a:r>
              <a:rPr lang="en-US" sz="1600" i="1" dirty="0" err="1">
                <a:latin typeface="Times New Roman" pitchFamily="34" charset="0"/>
                <a:ea typeface="Times New Roman" pitchFamily="34" charset="-122"/>
                <a:cs typeface="Times New Roman" pitchFamily="34" charset="-120"/>
              </a:rPr>
              <a:t>napshot</a:t>
            </a:r>
            <a:r>
              <a:rPr lang="en-US" sz="1600" i="1" dirty="0">
                <a:latin typeface="Times New Roman" pitchFamily="34" charset="0"/>
                <a:ea typeface="Times New Roman" pitchFamily="34" charset="-122"/>
                <a:cs typeface="Times New Roman" pitchFamily="34" charset="-120"/>
              </a:rPr>
              <a:t>)</a:t>
            </a:r>
            <a:endParaRPr lang="en-US" sz="1600" dirty="0"/>
          </a:p>
        </p:txBody>
      </p:sp>
      <p:sp>
        <p:nvSpPr>
          <p:cNvPr id="24" name="Text 22"/>
          <p:cNvSpPr txBox="1"/>
          <p:nvPr/>
        </p:nvSpPr>
        <p:spPr>
          <a:xfrm>
            <a:off x="0" y="1506893"/>
            <a:ext cx="12192000" cy="365760"/>
          </a:xfrm>
          <a:prstGeom prst="rect">
            <a:avLst/>
          </a:prstGeom>
          <a:noFill/>
          <a:ln/>
        </p:spPr>
        <p:txBody>
          <a:bodyPr wrap="square" lIns="0" tIns="0" rIns="0" bIns="0" rtlCol="0" anchor="ctr"/>
          <a:lstStyle/>
          <a:p>
            <a:pPr marL="0" indent="0" algn="ctr">
              <a:buNone/>
            </a:pPr>
            <a:r>
              <a:rPr lang="en-US" sz="1700" b="1" dirty="0">
                <a:solidFill>
                  <a:srgbClr val="0B2A5B"/>
                </a:solidFill>
                <a:latin typeface="Times New Roman" pitchFamily="34" charset="0"/>
                <a:ea typeface="Times New Roman" pitchFamily="34" charset="-122"/>
                <a:cs typeface="Times New Roman" pitchFamily="34" charset="-120"/>
              </a:rPr>
              <a:t>Cửa sổ quan sát nhãn của Train và Test </a:t>
            </a:r>
            <a:r>
              <a:rPr lang="vi-VN" sz="1700" b="1" dirty="0">
                <a:solidFill>
                  <a:srgbClr val="0B2A5B"/>
                </a:solidFill>
                <a:latin typeface="Times New Roman" pitchFamily="34" charset="0"/>
                <a:ea typeface="Times New Roman" pitchFamily="34" charset="-122"/>
                <a:cs typeface="Times New Roman" pitchFamily="34" charset="-120"/>
              </a:rPr>
              <a:t>không</a:t>
            </a:r>
            <a:r>
              <a:rPr lang="en-US" sz="1700" b="1" dirty="0">
                <a:solidFill>
                  <a:srgbClr val="0B2A5B"/>
                </a:solidFill>
                <a:latin typeface="Times New Roman" pitchFamily="34" charset="0"/>
                <a:ea typeface="Times New Roman" pitchFamily="34" charset="-122"/>
                <a:cs typeface="Times New Roman" pitchFamily="34" charset="-120"/>
              </a:rPr>
              <a:t> chồng lấn</a:t>
            </a:r>
            <a:endParaRPr lang="en-US" sz="1700" dirty="0"/>
          </a:p>
        </p:txBody>
      </p:sp>
      <p:sp>
        <p:nvSpPr>
          <p:cNvPr id="25" name="Shape 23"/>
          <p:cNvSpPr/>
          <p:nvPr/>
        </p:nvSpPr>
        <p:spPr>
          <a:xfrm>
            <a:off x="548640" y="4206240"/>
            <a:ext cx="3514344" cy="1874520"/>
          </a:xfrm>
          <a:prstGeom prst="rect">
            <a:avLst/>
          </a:prstGeom>
          <a:solidFill>
            <a:srgbClr val="EAF2FF"/>
          </a:solidFill>
          <a:ln w="9525">
            <a:solidFill>
              <a:srgbClr val="C9DAF2"/>
            </a:solidFill>
            <a:prstDash val="solid"/>
          </a:ln>
        </p:spPr>
      </p:sp>
      <p:sp>
        <p:nvSpPr>
          <p:cNvPr id="26" name="Shape 24"/>
          <p:cNvSpPr/>
          <p:nvPr/>
        </p:nvSpPr>
        <p:spPr>
          <a:xfrm>
            <a:off x="731520" y="4315968"/>
            <a:ext cx="457200" cy="457200"/>
          </a:xfrm>
          <a:prstGeom prst="ellipse">
            <a:avLst/>
          </a:prstGeom>
          <a:solidFill>
            <a:srgbClr val="1F6FEB"/>
          </a:solidFill>
          <a:ln w="12700">
            <a:solidFill>
              <a:srgbClr val="1F6FEB"/>
            </a:solidFill>
            <a:prstDash val="solid"/>
          </a:ln>
        </p:spPr>
      </p:sp>
      <p:pic>
        <p:nvPicPr>
          <p:cNvPr id="27" name="Image 0" descr="preencoded.png"/>
          <p:cNvPicPr>
            <a:picLocks noChangeAspect="1"/>
          </p:cNvPicPr>
          <p:nvPr/>
        </p:nvPicPr>
        <p:blipFill>
          <a:blip r:embed="rId3"/>
          <a:stretch>
            <a:fillRect/>
          </a:stretch>
        </p:blipFill>
        <p:spPr>
          <a:xfrm>
            <a:off x="841248" y="4425696"/>
            <a:ext cx="237744" cy="237744"/>
          </a:xfrm>
          <a:prstGeom prst="rect">
            <a:avLst/>
          </a:prstGeom>
        </p:spPr>
      </p:pic>
      <p:sp>
        <p:nvSpPr>
          <p:cNvPr id="28" name="Text 25"/>
          <p:cNvSpPr txBox="1"/>
          <p:nvPr/>
        </p:nvSpPr>
        <p:spPr>
          <a:xfrm>
            <a:off x="1280160" y="4315968"/>
            <a:ext cx="2599944" cy="457200"/>
          </a:xfrm>
          <a:prstGeom prst="rect">
            <a:avLst/>
          </a:prstGeom>
          <a:noFill/>
          <a:ln/>
        </p:spPr>
        <p:txBody>
          <a:bodyPr wrap="square" lIns="0" tIns="0" rIns="0" bIns="0" rtlCol="0" anchor="ctr"/>
          <a:lstStyle/>
          <a:p>
            <a:pPr marL="0" indent="0">
              <a:buNone/>
            </a:pPr>
            <a:r>
              <a:rPr lang="en-US" sz="1600" b="1" dirty="0">
                <a:solidFill>
                  <a:srgbClr val="0B2A5B"/>
                </a:solidFill>
                <a:latin typeface="Times New Roman" pitchFamily="34" charset="0"/>
                <a:ea typeface="Times New Roman" pitchFamily="34" charset="-122"/>
                <a:cs typeface="Times New Roman" pitchFamily="34" charset="-120"/>
              </a:rPr>
              <a:t>Tách theo thời gian</a:t>
            </a:r>
            <a:endParaRPr lang="en-US" sz="1600" dirty="0"/>
          </a:p>
        </p:txBody>
      </p:sp>
      <p:sp>
        <p:nvSpPr>
          <p:cNvPr id="29" name="Text 26"/>
          <p:cNvSpPr txBox="1"/>
          <p:nvPr/>
        </p:nvSpPr>
        <p:spPr>
          <a:xfrm>
            <a:off x="731520" y="4846320"/>
            <a:ext cx="3148584" cy="1188720"/>
          </a:xfrm>
          <a:prstGeom prst="rect">
            <a:avLst/>
          </a:prstGeom>
          <a:noFill/>
          <a:ln/>
        </p:spPr>
        <p:txBody>
          <a:bodyPr wrap="square" lIns="0" tIns="0" rIns="0" bIns="0" rtlCol="0" anchor="t"/>
          <a:lstStyle/>
          <a:p>
            <a:pPr marL="0" indent="0">
              <a:buNone/>
            </a:pPr>
            <a:r>
              <a:rPr lang="en-US" sz="1500" dirty="0">
                <a:solidFill>
                  <a:srgbClr val="1A2B45"/>
                </a:solidFill>
                <a:latin typeface="Times New Roman" pitchFamily="34" charset="0"/>
                <a:ea typeface="Times New Roman" pitchFamily="34" charset="-122"/>
                <a:cs typeface="Times New Roman" pitchFamily="34" charset="-120"/>
              </a:rPr>
              <a:t>Không chia ngẫu nhiên: </a:t>
            </a:r>
            <a:r>
              <a:rPr lang="vi-VN" sz="1500" dirty="0">
                <a:solidFill>
                  <a:srgbClr val="1A2B45"/>
                </a:solidFill>
                <a:latin typeface="Times New Roman" pitchFamily="34" charset="0"/>
                <a:ea typeface="Times New Roman" pitchFamily="34" charset="-122"/>
                <a:cs typeface="Times New Roman" pitchFamily="34" charset="-120"/>
              </a:rPr>
              <a:t>N</a:t>
            </a:r>
            <a:r>
              <a:rPr lang="en-US" sz="1500" dirty="0" err="1">
                <a:solidFill>
                  <a:srgbClr val="1A2B45"/>
                </a:solidFill>
                <a:latin typeface="Times New Roman" pitchFamily="34" charset="0"/>
                <a:ea typeface="Times New Roman" pitchFamily="34" charset="-122"/>
                <a:cs typeface="Times New Roman" pitchFamily="34" charset="-120"/>
              </a:rPr>
              <a:t>ếu</a:t>
            </a:r>
            <a:r>
              <a:rPr lang="en-US" sz="1500" dirty="0">
                <a:solidFill>
                  <a:srgbClr val="1A2B45"/>
                </a:solidFill>
                <a:latin typeface="Times New Roman" pitchFamily="34" charset="0"/>
                <a:ea typeface="Times New Roman" pitchFamily="34" charset="-122"/>
                <a:cs typeface="Times New Roman" pitchFamily="34" charset="-120"/>
              </a:rPr>
              <a:t> chia ngẫu nhiên, Test cùng giai đoạn với Train (mùa Giáng Sinh, khuyến mãi) → </a:t>
            </a:r>
            <a:r>
              <a:rPr lang="vi-VN" sz="1500" dirty="0">
                <a:solidFill>
                  <a:srgbClr val="1A2B45"/>
                </a:solidFill>
                <a:latin typeface="Times New Roman" pitchFamily="34" charset="0"/>
                <a:ea typeface="Times New Roman" pitchFamily="34" charset="-122"/>
                <a:cs typeface="Times New Roman" pitchFamily="34" charset="-120"/>
              </a:rPr>
              <a:t>K</a:t>
            </a:r>
            <a:r>
              <a:rPr lang="en-US" sz="1500" dirty="0" err="1">
                <a:solidFill>
                  <a:srgbClr val="1A2B45"/>
                </a:solidFill>
                <a:latin typeface="Times New Roman" pitchFamily="34" charset="0"/>
                <a:ea typeface="Times New Roman" pitchFamily="34" charset="-122"/>
                <a:cs typeface="Times New Roman" pitchFamily="34" charset="-120"/>
              </a:rPr>
              <a:t>ết</a:t>
            </a:r>
            <a:r>
              <a:rPr lang="en-US" sz="1500" dirty="0">
                <a:solidFill>
                  <a:srgbClr val="1A2B45"/>
                </a:solidFill>
                <a:latin typeface="Times New Roman" pitchFamily="34" charset="0"/>
                <a:ea typeface="Times New Roman" pitchFamily="34" charset="-122"/>
                <a:cs typeface="Times New Roman" pitchFamily="34" charset="-120"/>
              </a:rPr>
              <a:t> quả lạc quan giả tạo.</a:t>
            </a:r>
            <a:endParaRPr lang="en-US" sz="1500" dirty="0"/>
          </a:p>
        </p:txBody>
      </p:sp>
      <p:sp>
        <p:nvSpPr>
          <p:cNvPr id="30" name="Shape 27"/>
          <p:cNvSpPr/>
          <p:nvPr/>
        </p:nvSpPr>
        <p:spPr>
          <a:xfrm>
            <a:off x="4337304" y="4206240"/>
            <a:ext cx="3514344" cy="1874520"/>
          </a:xfrm>
          <a:prstGeom prst="rect">
            <a:avLst/>
          </a:prstGeom>
          <a:solidFill>
            <a:srgbClr val="EAF2FF"/>
          </a:solidFill>
          <a:ln w="9525">
            <a:solidFill>
              <a:srgbClr val="C9DAF2"/>
            </a:solidFill>
            <a:prstDash val="solid"/>
          </a:ln>
        </p:spPr>
      </p:sp>
      <p:sp>
        <p:nvSpPr>
          <p:cNvPr id="31" name="Shape 28"/>
          <p:cNvSpPr/>
          <p:nvPr/>
        </p:nvSpPr>
        <p:spPr>
          <a:xfrm>
            <a:off x="4520184" y="4315968"/>
            <a:ext cx="457200" cy="457200"/>
          </a:xfrm>
          <a:prstGeom prst="ellipse">
            <a:avLst/>
          </a:prstGeom>
          <a:solidFill>
            <a:srgbClr val="1F6FEB"/>
          </a:solidFill>
          <a:ln w="12700">
            <a:solidFill>
              <a:srgbClr val="1F6FEB"/>
            </a:solidFill>
            <a:prstDash val="solid"/>
          </a:ln>
        </p:spPr>
      </p:sp>
      <p:pic>
        <p:nvPicPr>
          <p:cNvPr id="32" name="Image 1" descr="preencoded.png"/>
          <p:cNvPicPr>
            <a:picLocks noChangeAspect="1"/>
          </p:cNvPicPr>
          <p:nvPr/>
        </p:nvPicPr>
        <p:blipFill>
          <a:blip r:embed="rId3"/>
          <a:stretch>
            <a:fillRect/>
          </a:stretch>
        </p:blipFill>
        <p:spPr>
          <a:xfrm>
            <a:off x="4629912" y="4425696"/>
            <a:ext cx="237744" cy="237744"/>
          </a:xfrm>
          <a:prstGeom prst="rect">
            <a:avLst/>
          </a:prstGeom>
        </p:spPr>
      </p:pic>
      <p:sp>
        <p:nvSpPr>
          <p:cNvPr id="33" name="Text 29"/>
          <p:cNvSpPr txBox="1"/>
          <p:nvPr/>
        </p:nvSpPr>
        <p:spPr>
          <a:xfrm>
            <a:off x="5068824" y="4315968"/>
            <a:ext cx="2599944" cy="457200"/>
          </a:xfrm>
          <a:prstGeom prst="rect">
            <a:avLst/>
          </a:prstGeom>
          <a:noFill/>
          <a:ln/>
        </p:spPr>
        <p:txBody>
          <a:bodyPr wrap="square" lIns="0" tIns="0" rIns="0" bIns="0" rtlCol="0" anchor="ctr"/>
          <a:lstStyle/>
          <a:p>
            <a:pPr marL="0" indent="0">
              <a:buNone/>
            </a:pPr>
            <a:r>
              <a:rPr lang="en-US" sz="1600" b="1" dirty="0">
                <a:solidFill>
                  <a:srgbClr val="0B2A5B"/>
                </a:solidFill>
                <a:latin typeface="Times New Roman" pitchFamily="34" charset="0"/>
                <a:ea typeface="Times New Roman" pitchFamily="34" charset="-122"/>
                <a:cs typeface="Times New Roman" pitchFamily="34" charset="-120"/>
              </a:rPr>
              <a:t>SMOTE chỉ trên Train</a:t>
            </a:r>
            <a:endParaRPr lang="en-US" sz="1600" dirty="0"/>
          </a:p>
        </p:txBody>
      </p:sp>
      <p:sp>
        <p:nvSpPr>
          <p:cNvPr id="34" name="Text 30"/>
          <p:cNvSpPr txBox="1"/>
          <p:nvPr/>
        </p:nvSpPr>
        <p:spPr>
          <a:xfrm>
            <a:off x="4520184" y="4846320"/>
            <a:ext cx="3148584" cy="1188720"/>
          </a:xfrm>
          <a:prstGeom prst="rect">
            <a:avLst/>
          </a:prstGeom>
          <a:noFill/>
          <a:ln/>
        </p:spPr>
        <p:txBody>
          <a:bodyPr wrap="square" lIns="0" tIns="0" rIns="0" bIns="0" rtlCol="0" anchor="t"/>
          <a:lstStyle/>
          <a:p>
            <a:pPr marL="0" indent="0">
              <a:buNone/>
            </a:pPr>
            <a:r>
              <a:rPr lang="en-US" sz="1500" dirty="0">
                <a:solidFill>
                  <a:srgbClr val="1A2B45"/>
                </a:solidFill>
                <a:latin typeface="Times New Roman" pitchFamily="34" charset="0"/>
                <a:ea typeface="Times New Roman" pitchFamily="34" charset="-122"/>
                <a:cs typeface="Times New Roman" pitchFamily="34" charset="-120"/>
              </a:rPr>
              <a:t>Test giữ nguyên phân phối thực tế. Áp SMOTE lên Test là lỗi rò rỉ nghiêm trọng.</a:t>
            </a:r>
            <a:endParaRPr lang="en-US" sz="1500" dirty="0"/>
          </a:p>
        </p:txBody>
      </p:sp>
      <p:sp>
        <p:nvSpPr>
          <p:cNvPr id="35" name="Shape 31"/>
          <p:cNvSpPr/>
          <p:nvPr/>
        </p:nvSpPr>
        <p:spPr>
          <a:xfrm>
            <a:off x="8125968" y="4206240"/>
            <a:ext cx="3514344" cy="1874520"/>
          </a:xfrm>
          <a:prstGeom prst="rect">
            <a:avLst/>
          </a:prstGeom>
          <a:solidFill>
            <a:srgbClr val="EAF2FF"/>
          </a:solidFill>
          <a:ln w="9525">
            <a:solidFill>
              <a:srgbClr val="C9DAF2"/>
            </a:solidFill>
            <a:prstDash val="solid"/>
          </a:ln>
        </p:spPr>
      </p:sp>
      <p:sp>
        <p:nvSpPr>
          <p:cNvPr id="36" name="Shape 32"/>
          <p:cNvSpPr/>
          <p:nvPr/>
        </p:nvSpPr>
        <p:spPr>
          <a:xfrm>
            <a:off x="8308848" y="4315968"/>
            <a:ext cx="457200" cy="457200"/>
          </a:xfrm>
          <a:prstGeom prst="ellipse">
            <a:avLst/>
          </a:prstGeom>
          <a:solidFill>
            <a:srgbClr val="1F6FEB"/>
          </a:solidFill>
          <a:ln w="12700">
            <a:solidFill>
              <a:srgbClr val="1F6FEB"/>
            </a:solidFill>
            <a:prstDash val="solid"/>
          </a:ln>
        </p:spPr>
      </p:sp>
      <p:pic>
        <p:nvPicPr>
          <p:cNvPr id="37" name="Image 2" descr="preencoded.png"/>
          <p:cNvPicPr>
            <a:picLocks noChangeAspect="1"/>
          </p:cNvPicPr>
          <p:nvPr/>
        </p:nvPicPr>
        <p:blipFill>
          <a:blip r:embed="rId3"/>
          <a:stretch>
            <a:fillRect/>
          </a:stretch>
        </p:blipFill>
        <p:spPr>
          <a:xfrm>
            <a:off x="8418576" y="4425696"/>
            <a:ext cx="237744" cy="237744"/>
          </a:xfrm>
          <a:prstGeom prst="rect">
            <a:avLst/>
          </a:prstGeom>
        </p:spPr>
      </p:pic>
      <p:sp>
        <p:nvSpPr>
          <p:cNvPr id="38" name="Text 33"/>
          <p:cNvSpPr txBox="1"/>
          <p:nvPr/>
        </p:nvSpPr>
        <p:spPr>
          <a:xfrm>
            <a:off x="8857488" y="4315968"/>
            <a:ext cx="2599944" cy="457200"/>
          </a:xfrm>
          <a:prstGeom prst="rect">
            <a:avLst/>
          </a:prstGeom>
          <a:noFill/>
          <a:ln/>
        </p:spPr>
        <p:txBody>
          <a:bodyPr wrap="square" lIns="0" tIns="0" rIns="0" bIns="0" rtlCol="0" anchor="ctr"/>
          <a:lstStyle/>
          <a:p>
            <a:pPr marL="0" indent="0">
              <a:buNone/>
            </a:pPr>
            <a:r>
              <a:rPr lang="en-US" sz="1600" b="1" dirty="0">
                <a:solidFill>
                  <a:srgbClr val="0B2A5B"/>
                </a:solidFill>
                <a:latin typeface="Times New Roman" pitchFamily="34" charset="0"/>
                <a:ea typeface="Times New Roman" pitchFamily="34" charset="-122"/>
                <a:cs typeface="Times New Roman" pitchFamily="34" charset="-120"/>
              </a:rPr>
              <a:t>Cửa </a:t>
            </a:r>
            <a:r>
              <a:rPr lang="en-US" sz="1600" b="1" dirty="0" err="1">
                <a:solidFill>
                  <a:srgbClr val="0B2A5B"/>
                </a:solidFill>
                <a:latin typeface="Times New Roman" pitchFamily="34" charset="0"/>
                <a:ea typeface="Times New Roman" pitchFamily="34" charset="-122"/>
                <a:cs typeface="Times New Roman" pitchFamily="34" charset="-120"/>
              </a:rPr>
              <a:t>sổ</a:t>
            </a:r>
            <a:r>
              <a:rPr lang="en-US" sz="1600" b="1" dirty="0">
                <a:solidFill>
                  <a:srgbClr val="0B2A5B"/>
                </a:solidFill>
                <a:latin typeface="Times New Roman" pitchFamily="34" charset="0"/>
                <a:ea typeface="Times New Roman" pitchFamily="34" charset="-122"/>
                <a:cs typeface="Times New Roman" pitchFamily="34" charset="-120"/>
              </a:rPr>
              <a:t> </a:t>
            </a:r>
            <a:r>
              <a:rPr lang="vi-VN" sz="1600" b="1" dirty="0">
                <a:solidFill>
                  <a:srgbClr val="0B2A5B"/>
                </a:solidFill>
                <a:latin typeface="Times New Roman" pitchFamily="34" charset="0"/>
                <a:ea typeface="Times New Roman" pitchFamily="34" charset="-122"/>
                <a:cs typeface="Times New Roman" pitchFamily="34" charset="-120"/>
              </a:rPr>
              <a:t>C</a:t>
            </a:r>
            <a:r>
              <a:rPr lang="en-US" sz="1600" b="1" dirty="0" err="1">
                <a:solidFill>
                  <a:srgbClr val="0B2A5B"/>
                </a:solidFill>
                <a:latin typeface="Times New Roman" pitchFamily="34" charset="0"/>
                <a:ea typeface="Times New Roman" pitchFamily="34" charset="-122"/>
                <a:cs typeface="Times New Roman" pitchFamily="34" charset="-120"/>
              </a:rPr>
              <a:t>hurn</a:t>
            </a:r>
            <a:r>
              <a:rPr lang="en-US" sz="1600" b="1" dirty="0">
                <a:solidFill>
                  <a:srgbClr val="0B2A5B"/>
                </a:solidFill>
                <a:latin typeface="Times New Roman" pitchFamily="34" charset="0"/>
                <a:ea typeface="Times New Roman" pitchFamily="34" charset="-122"/>
                <a:cs typeface="Times New Roman" pitchFamily="34" charset="-120"/>
              </a:rPr>
              <a:t> có căn cứ</a:t>
            </a:r>
            <a:endParaRPr lang="en-US" sz="1600" dirty="0"/>
          </a:p>
        </p:txBody>
      </p:sp>
      <p:sp>
        <p:nvSpPr>
          <p:cNvPr id="39" name="Text 34"/>
          <p:cNvSpPr txBox="1"/>
          <p:nvPr/>
        </p:nvSpPr>
        <p:spPr>
          <a:xfrm>
            <a:off x="8308848" y="4846320"/>
            <a:ext cx="3148584" cy="1188720"/>
          </a:xfrm>
          <a:prstGeom prst="rect">
            <a:avLst/>
          </a:prstGeom>
          <a:noFill/>
          <a:ln/>
        </p:spPr>
        <p:txBody>
          <a:bodyPr wrap="square" lIns="0" tIns="0" rIns="0" bIns="0" rtlCol="0" anchor="t"/>
          <a:lstStyle/>
          <a:p>
            <a:pPr marL="0" indent="0">
              <a:buNone/>
            </a:pPr>
            <a:r>
              <a:rPr lang="en-US" sz="1500" dirty="0">
                <a:solidFill>
                  <a:srgbClr val="1A2B45"/>
                </a:solidFill>
                <a:latin typeface="Times New Roman" pitchFamily="34" charset="0"/>
                <a:ea typeface="Times New Roman" pitchFamily="34" charset="-122"/>
                <a:cs typeface="Times New Roman" pitchFamily="34" charset="-120"/>
              </a:rPr>
              <a:t>70 ngày = P75 của inter-purchase gap (P50 = 32, P90 = 148, P95 = 221 ngày) — </a:t>
            </a:r>
            <a:r>
              <a:rPr lang="vi-VN" sz="1500" dirty="0">
                <a:solidFill>
                  <a:srgbClr val="1A2B45"/>
                </a:solidFill>
                <a:latin typeface="Times New Roman" pitchFamily="34" charset="0"/>
                <a:ea typeface="Times New Roman" pitchFamily="34" charset="-122"/>
                <a:cs typeface="Times New Roman" pitchFamily="34" charset="-120"/>
              </a:rPr>
              <a:t>K</a:t>
            </a:r>
            <a:r>
              <a:rPr lang="en-US" sz="1500" dirty="0" err="1">
                <a:solidFill>
                  <a:srgbClr val="1A2B45"/>
                </a:solidFill>
                <a:latin typeface="Times New Roman" pitchFamily="34" charset="0"/>
                <a:ea typeface="Times New Roman" pitchFamily="34" charset="-122"/>
                <a:cs typeface="Times New Roman" pitchFamily="34" charset="-120"/>
              </a:rPr>
              <a:t>hông</a:t>
            </a:r>
            <a:r>
              <a:rPr lang="en-US" sz="1500" dirty="0">
                <a:solidFill>
                  <a:srgbClr val="1A2B45"/>
                </a:solidFill>
                <a:latin typeface="Times New Roman" pitchFamily="34" charset="0"/>
                <a:ea typeface="Times New Roman" pitchFamily="34" charset="-122"/>
                <a:cs typeface="Times New Roman" pitchFamily="34" charset="-120"/>
              </a:rPr>
              <a:t> chọn số ngẫu nhiên.</a:t>
            </a:r>
            <a:endParaRPr lang="en-US" sz="1500" dirty="0"/>
          </a:p>
        </p:txBody>
      </p:sp>
      <p:sp>
        <p:nvSpPr>
          <p:cNvPr id="41" name="Text 0">
            <a:extLst>
              <a:ext uri="{FF2B5EF4-FFF2-40B4-BE49-F238E27FC236}">
                <a16:creationId xmlns:a16="http://schemas.microsoft.com/office/drawing/2014/main" id="{1E2B0E58-DED3-07A9-8F43-A6EEB656A9F1}"/>
              </a:ext>
            </a:extLst>
          </p:cNvPr>
          <p:cNvSpPr txBox="1"/>
          <p:nvPr/>
        </p:nvSpPr>
        <p:spPr>
          <a:xfrm>
            <a:off x="548640" y="133425"/>
            <a:ext cx="9994392" cy="685800"/>
          </a:xfrm>
          <a:prstGeom prst="rect">
            <a:avLst/>
          </a:prstGeom>
          <a:noFill/>
          <a:ln/>
        </p:spPr>
        <p:txBody>
          <a:bodyPr wrap="square" lIns="0" tIns="0" rIns="0" bIns="0" rtlCol="0" anchor="ctr"/>
          <a:lstStyle/>
          <a:p>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Data Preparation </a:t>
            </a:r>
            <a:r>
              <a:rPr lang="en-US" sz="3200" b="1" dirty="0">
                <a:solidFill>
                  <a:srgbClr val="2C3E50"/>
                </a:solidFill>
                <a:latin typeface="Times New Roman" panose="02020603050405020304" pitchFamily="18" charset="0"/>
                <a:ea typeface="Cambria" pitchFamily="34" charset="-122"/>
                <a:cs typeface="Times New Roman" panose="02020603050405020304" pitchFamily="18" charset="0"/>
              </a:rPr>
              <a:t>—</a:t>
            </a:r>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 Chống rò rỉ dữ liệu cho bài toán Churn</a:t>
            </a:r>
            <a:endParaRPr lang="en-US" sz="3000" dirty="0">
              <a:latin typeface="Times New Roman" panose="02020603050405020304" pitchFamily="18" charset="0"/>
              <a:cs typeface="Times New Roman" panose="02020603050405020304" pitchFamily="18" charset="0"/>
            </a:endParaRPr>
          </a:p>
        </p:txBody>
      </p:sp>
      <p:sp>
        <p:nvSpPr>
          <p:cNvPr id="43" name="Text 2">
            <a:extLst>
              <a:ext uri="{FF2B5EF4-FFF2-40B4-BE49-F238E27FC236}">
                <a16:creationId xmlns:a16="http://schemas.microsoft.com/office/drawing/2014/main" id="{CF2CA498-FE51-1A90-1288-81E55331B240}"/>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98741"/>
            <a:ext cx="9994392" cy="685800"/>
          </a:xfrm>
          <a:prstGeom prst="rect">
            <a:avLst/>
          </a:prstGeom>
          <a:noFill/>
          <a:ln/>
        </p:spPr>
        <p:txBody>
          <a:bodyPr wrap="square" lIns="0" tIns="0" rIns="0" bIns="0" rtlCol="0" anchor="ctr"/>
          <a:lstStyle/>
          <a:p>
            <a:pPr marL="0" indent="0">
              <a:buNone/>
            </a:pP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Tổng</a:t>
            </a: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quan</a:t>
            </a: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kế</a:t>
            </a: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hoạch</a:t>
            </a: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mô</a:t>
            </a: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hình</a:t>
            </a: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en-US" sz="3000" b="1" dirty="0" err="1">
                <a:solidFill>
                  <a:srgbClr val="0B2A5B"/>
                </a:solidFill>
                <a:latin typeface="Times New Roman" panose="02020603050405020304" pitchFamily="18" charset="0"/>
                <a:ea typeface="Times New Roman" pitchFamily="34" charset="-122"/>
                <a:cs typeface="Times New Roman" panose="02020603050405020304" pitchFamily="18" charset="0"/>
              </a:rPr>
              <a:t>hoá</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1005840"/>
            <a:ext cx="11091672" cy="365760"/>
          </a:xfrm>
          <a:prstGeom prst="rect">
            <a:avLst/>
          </a:prstGeom>
          <a:noFill/>
          <a:ln/>
        </p:spPr>
        <p:txBody>
          <a:bodyPr wrap="square" lIns="0" tIns="0" rIns="0" bIns="0" rtlCol="0" anchor="t"/>
          <a:lstStyle/>
          <a:p>
            <a:pPr marL="0" indent="0">
              <a:buNone/>
            </a:pPr>
            <a:r>
              <a:rPr lang="en-US" i="1" dirty="0">
                <a:latin typeface="Times New Roman" panose="02020603050405020304" pitchFamily="18" charset="0"/>
                <a:ea typeface="Times New Roman" pitchFamily="34" charset="-122"/>
                <a:cs typeface="Times New Roman" panose="02020603050405020304" pitchFamily="18" charset="0"/>
              </a:rPr>
              <a:t>Mỗi kỹ thuật so sánh ≥ 2 thuật toán — </a:t>
            </a:r>
            <a:r>
              <a:rPr lang="vi-VN" i="1" dirty="0">
                <a:latin typeface="Times New Roman" panose="02020603050405020304" pitchFamily="18" charset="0"/>
                <a:ea typeface="Times New Roman" pitchFamily="34" charset="-122"/>
                <a:cs typeface="Times New Roman" panose="02020603050405020304" pitchFamily="18" charset="0"/>
              </a:rPr>
              <a:t>K</a:t>
            </a:r>
            <a:r>
              <a:rPr lang="en-US" i="1" dirty="0" err="1">
                <a:latin typeface="Times New Roman" panose="02020603050405020304" pitchFamily="18" charset="0"/>
                <a:ea typeface="Times New Roman" pitchFamily="34" charset="-122"/>
                <a:cs typeface="Times New Roman" panose="02020603050405020304" pitchFamily="18" charset="0"/>
              </a:rPr>
              <a:t>hông</a:t>
            </a:r>
            <a:r>
              <a:rPr lang="en-US" i="1" dirty="0">
                <a:latin typeface="Times New Roman" panose="02020603050405020304" pitchFamily="18" charset="0"/>
                <a:ea typeface="Times New Roman" pitchFamily="34" charset="-122"/>
                <a:cs typeface="Times New Roman" panose="02020603050405020304" pitchFamily="18" charset="0"/>
              </a:rPr>
              <a:t> chỉ áp dụng một phương pháp duy nhất</a:t>
            </a:r>
            <a:endParaRPr lang="en-US" dirty="0">
              <a:latin typeface="Times New Roman" panose="02020603050405020304" pitchFamily="18" charset="0"/>
              <a:cs typeface="Times New Roman" panose="02020603050405020304" pitchFamily="18" charset="0"/>
            </a:endParaRPr>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anose="02020603050405020304" pitchFamily="18" charset="0"/>
                <a:cs typeface="Times New Roman" panose="02020603050405020304" pitchFamily="18" charset="0"/>
              </a:rPr>
              <a:t>17</a:t>
            </a:r>
          </a:p>
        </p:txBody>
      </p:sp>
      <p:graphicFrame>
        <p:nvGraphicFramePr>
          <p:cNvPr id="21" name="Table 0"/>
          <p:cNvGraphicFramePr>
            <a:graphicFrameLocks noGrp="1"/>
          </p:cNvGraphicFramePr>
          <p:nvPr>
            <p:extLst>
              <p:ext uri="{D42A27DB-BD31-4B8C-83A1-F6EECF244321}">
                <p14:modId xmlns:p14="http://schemas.microsoft.com/office/powerpoint/2010/main" val="2368498395"/>
              </p:ext>
            </p:extLst>
          </p:nvPr>
        </p:nvGraphicFramePr>
        <p:xfrm>
          <a:off x="548640" y="1542348"/>
          <a:ext cx="11091672" cy="3200402"/>
        </p:xfrm>
        <a:graphic>
          <a:graphicData uri="http://schemas.openxmlformats.org/drawingml/2006/table">
            <a:tbl>
              <a:tblPr/>
              <a:tblGrid>
                <a:gridCol w="2420001">
                  <a:extLst>
                    <a:ext uri="{9D8B030D-6E8A-4147-A177-3AD203B41FA5}">
                      <a16:colId xmlns:a16="http://schemas.microsoft.com/office/drawing/2014/main" val="20000"/>
                    </a:ext>
                  </a:extLst>
                </a:gridCol>
                <a:gridCol w="2924168">
                  <a:extLst>
                    <a:ext uri="{9D8B030D-6E8A-4147-A177-3AD203B41FA5}">
                      <a16:colId xmlns:a16="http://schemas.microsoft.com/office/drawing/2014/main" val="20001"/>
                    </a:ext>
                  </a:extLst>
                </a:gridCol>
                <a:gridCol w="3226668">
                  <a:extLst>
                    <a:ext uri="{9D8B030D-6E8A-4147-A177-3AD203B41FA5}">
                      <a16:colId xmlns:a16="http://schemas.microsoft.com/office/drawing/2014/main" val="20002"/>
                    </a:ext>
                  </a:extLst>
                </a:gridCol>
                <a:gridCol w="2520835">
                  <a:extLst>
                    <a:ext uri="{9D8B030D-6E8A-4147-A177-3AD203B41FA5}">
                      <a16:colId xmlns:a16="http://schemas.microsoft.com/office/drawing/2014/main" val="20003"/>
                    </a:ext>
                  </a:extLst>
                </a:gridCol>
              </a:tblGrid>
              <a:tr h="594362">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Kỹ thuật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Thuật toán so sánh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Tiêu chí so sánh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Thước đo đánh giá</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868680">
                <a:tc>
                  <a:txBody>
                    <a:bodyPr/>
                    <a:lstStyle/>
                    <a:p>
                      <a:pPr marL="0" indent="0" algn="l">
                        <a:buNone/>
                      </a:pPr>
                      <a:r>
                        <a:rPr lang="en-US" sz="1500" b="1" dirty="0">
                          <a:solidFill>
                            <a:srgbClr val="1A2B45"/>
                          </a:solidFill>
                          <a:latin typeface="Times New Roman" pitchFamily="34" charset="0"/>
                          <a:ea typeface="Times New Roman" pitchFamily="34" charset="-122"/>
                          <a:cs typeface="Times New Roman" pitchFamily="34" charset="-120"/>
                        </a:rPr>
                        <a:t>Market Basket Analysis</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Apriori vs FP-Growth</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Số itemsets, thời gian chạy ở nhiều ngưỡng min_support</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Support, Confidence, Lift, Kulczynski</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500" b="1" dirty="0">
                          <a:solidFill>
                            <a:srgbClr val="1A2B45"/>
                          </a:solidFill>
                          <a:latin typeface="Times New Roman" pitchFamily="34" charset="0"/>
                          <a:ea typeface="Times New Roman" pitchFamily="34" charset="-122"/>
                          <a:cs typeface="Times New Roman" pitchFamily="34" charset="-120"/>
                        </a:rPr>
                        <a:t>RFM Clustering</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K-Means vs K-Medoids (PAM)</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Silhouette, ARI, độ nhạy outlier, khả năng diễn giải</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Elbow, Silhouette, ARI</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868680">
                <a:tc>
                  <a:txBody>
                    <a:bodyPr/>
                    <a:lstStyle/>
                    <a:p>
                      <a:pPr marL="0" indent="0" algn="l">
                        <a:buNone/>
                      </a:pPr>
                      <a:r>
                        <a:rPr lang="en-US" sz="1500" b="1" dirty="0">
                          <a:solidFill>
                            <a:srgbClr val="1A2B45"/>
                          </a:solidFill>
                          <a:latin typeface="Times New Roman" pitchFamily="34" charset="0"/>
                          <a:ea typeface="Times New Roman" pitchFamily="34" charset="-122"/>
                          <a:cs typeface="Times New Roman" pitchFamily="34" charset="-120"/>
                        </a:rPr>
                        <a:t>Churn Classification</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Decision Tree · Random Forest · Naive Bayes</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Precision/Recall/F1/AUC so với Naive Baseline</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2B45"/>
                          </a:solidFill>
                          <a:latin typeface="Times New Roman" pitchFamily="34" charset="0"/>
                          <a:ea typeface="Times New Roman" pitchFamily="34" charset="-122"/>
                          <a:cs typeface="Times New Roman" pitchFamily="34" charset="-120"/>
                        </a:rPr>
                        <a:t>Precision, Recall, F1, AUC, Confusion matrix</a:t>
                      </a:r>
                      <a:endParaRPr lang="en-US" sz="15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48640" y="5349240"/>
            <a:ext cx="11091672" cy="777240"/>
          </a:xfrm>
          <a:prstGeom prst="rect">
            <a:avLst/>
          </a:prstGeom>
          <a:solidFill>
            <a:srgbClr val="0B2A5B"/>
          </a:solidFill>
          <a:ln w="12700">
            <a:solidFill>
              <a:srgbClr val="0B2A5B"/>
            </a:solidFill>
            <a:prstDash val="solid"/>
          </a:ln>
        </p:spPr>
      </p:sp>
      <p:sp>
        <p:nvSpPr>
          <p:cNvPr id="8" name="Text 5"/>
          <p:cNvSpPr txBox="1"/>
          <p:nvPr/>
        </p:nvSpPr>
        <p:spPr>
          <a:xfrm>
            <a:off x="822960" y="5349240"/>
            <a:ext cx="10543032" cy="777240"/>
          </a:xfrm>
          <a:prstGeom prst="rect">
            <a:avLst/>
          </a:prstGeom>
          <a:noFill/>
          <a:ln/>
        </p:spPr>
        <p:txBody>
          <a:bodyPr wrap="square" lIns="0" tIns="0" rIns="0" bIns="0" rtlCol="0" anchor="ctr"/>
          <a:lstStyle/>
          <a:p>
            <a:pPr marL="0" indent="0">
              <a:buNone/>
            </a:pPr>
            <a:r>
              <a:rPr lang="en-US" sz="1700" b="1" dirty="0">
                <a:solidFill>
                  <a:srgbClr val="FFFFFF"/>
                </a:solidFill>
                <a:latin typeface="Times New Roman" panose="02020603050405020304" pitchFamily="18" charset="0"/>
                <a:ea typeface="Times New Roman" pitchFamily="34" charset="-122"/>
                <a:cs typeface="Times New Roman" panose="02020603050405020304" pitchFamily="18" charset="0"/>
              </a:rPr>
              <a:t>Nguyên tắc chung: </a:t>
            </a:r>
            <a:r>
              <a:rPr lang="en-US" sz="1700" dirty="0">
                <a:solidFill>
                  <a:srgbClr val="FFFFFF"/>
                </a:solidFill>
                <a:latin typeface="Times New Roman" panose="02020603050405020304" pitchFamily="18" charset="0"/>
                <a:ea typeface="Times New Roman" pitchFamily="34" charset="-122"/>
                <a:cs typeface="Times New Roman" panose="02020603050405020304" pitchFamily="18" charset="0"/>
              </a:rPr>
              <a:t>chọn thuật toán dựa trên kết quả đo trực tiếp trên dữ liệu này — </a:t>
            </a:r>
            <a:r>
              <a:rPr lang="vi-VN" sz="1700" dirty="0">
                <a:solidFill>
                  <a:srgbClr val="FFFFFF"/>
                </a:solidFill>
                <a:latin typeface="Times New Roman" panose="02020603050405020304" pitchFamily="18" charset="0"/>
                <a:ea typeface="Times New Roman" pitchFamily="34" charset="-122"/>
                <a:cs typeface="Times New Roman" panose="02020603050405020304" pitchFamily="18" charset="0"/>
              </a:rPr>
              <a:t>K</a:t>
            </a:r>
            <a:r>
              <a:rPr lang="en-US" sz="1700" dirty="0" err="1">
                <a:solidFill>
                  <a:srgbClr val="FFFFFF"/>
                </a:solidFill>
                <a:latin typeface="Times New Roman" panose="02020603050405020304" pitchFamily="18" charset="0"/>
                <a:ea typeface="Times New Roman" pitchFamily="34" charset="-122"/>
                <a:cs typeface="Times New Roman" panose="02020603050405020304" pitchFamily="18" charset="0"/>
              </a:rPr>
              <a:t>hông</a:t>
            </a:r>
            <a:r>
              <a:rPr lang="en-US" sz="1700" dirty="0">
                <a:solidFill>
                  <a:srgbClr val="FFFFFF"/>
                </a:solidFill>
                <a:latin typeface="Times New Roman" panose="02020603050405020304" pitchFamily="18" charset="0"/>
                <a:ea typeface="Times New Roman" pitchFamily="34" charset="-122"/>
                <a:cs typeface="Times New Roman" panose="02020603050405020304" pitchFamily="18" charset="0"/>
              </a:rPr>
              <a:t> dựa trên giả định “thuật toán X luôn tốt hơn Y”.</a:t>
            </a:r>
            <a:endParaRPr lang="en-US" sz="1700" dirty="0">
              <a:latin typeface="Times New Roman" panose="02020603050405020304" pitchFamily="18" charset="0"/>
              <a:cs typeface="Times New Roman" panose="02020603050405020304" pitchFamily="18" charset="0"/>
            </a:endParaRPr>
          </a:p>
        </p:txBody>
      </p:sp>
      <p:sp>
        <p:nvSpPr>
          <p:cNvPr id="9" name="Text 2">
            <a:extLst>
              <a:ext uri="{FF2B5EF4-FFF2-40B4-BE49-F238E27FC236}">
                <a16:creationId xmlns:a16="http://schemas.microsoft.com/office/drawing/2014/main" id="{95FD2F59-B829-143B-F135-D4E57F4FA347}"/>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itchFamily="34" charset="0"/>
                <a:ea typeface="Times New Roman" pitchFamily="34" charset="-122"/>
                <a:cs typeface="Times New Roman" pitchFamily="34" charset="-120"/>
              </a:rPr>
              <a:t>Market Basket Analysis: Apriori vs FP-Growth</a:t>
            </a:r>
            <a:endParaRPr lang="en-US" sz="3000" dirty="0"/>
          </a:p>
        </p:txBody>
      </p:sp>
      <p:sp>
        <p:nvSpPr>
          <p:cNvPr id="3" name="Text 1"/>
          <p:cNvSpPr txBox="1"/>
          <p:nvPr/>
        </p:nvSpPr>
        <p:spPr>
          <a:xfrm>
            <a:off x="548640" y="1033833"/>
            <a:ext cx="11091672" cy="365760"/>
          </a:xfrm>
          <a:prstGeom prst="rect">
            <a:avLst/>
          </a:prstGeom>
          <a:noFill/>
          <a:ln/>
        </p:spPr>
        <p:txBody>
          <a:bodyPr wrap="square" lIns="0" tIns="0" rIns="0" bIns="0" rtlCol="0" anchor="t"/>
          <a:lstStyle/>
          <a:p>
            <a:pPr marL="0" indent="0">
              <a:buNone/>
            </a:pPr>
            <a:r>
              <a:rPr lang="en-US" i="1" dirty="0">
                <a:solidFill>
                  <a:srgbClr val="5B6B82"/>
                </a:solidFill>
                <a:latin typeface="Times New Roman" pitchFamily="34" charset="0"/>
                <a:ea typeface="Times New Roman" pitchFamily="34" charset="-122"/>
                <a:cs typeface="Times New Roman" pitchFamily="34" charset="-120"/>
              </a:rPr>
              <a:t>Không thuật toán nào nhanh hơn ở </a:t>
            </a:r>
            <a:r>
              <a:rPr lang="en-US" i="1" dirty="0" err="1">
                <a:solidFill>
                  <a:srgbClr val="5B6B82"/>
                </a:solidFill>
                <a:latin typeface="Times New Roman" pitchFamily="34" charset="0"/>
                <a:ea typeface="Times New Roman" pitchFamily="34" charset="-122"/>
                <a:cs typeface="Times New Roman" pitchFamily="34" charset="-120"/>
              </a:rPr>
              <a:t>mọi</a:t>
            </a:r>
            <a:r>
              <a:rPr lang="en-US" i="1" dirty="0">
                <a:solidFill>
                  <a:srgbClr val="5B6B82"/>
                </a:solidFill>
                <a:latin typeface="Times New Roman" pitchFamily="34" charset="0"/>
                <a:ea typeface="Times New Roman" pitchFamily="34" charset="-122"/>
                <a:cs typeface="Times New Roman" pitchFamily="34" charset="-120"/>
              </a:rPr>
              <a:t> </a:t>
            </a:r>
            <a:r>
              <a:rPr lang="en-US" i="1" dirty="0" err="1">
                <a:solidFill>
                  <a:srgbClr val="5B6B82"/>
                </a:solidFill>
                <a:latin typeface="Times New Roman" pitchFamily="34" charset="0"/>
                <a:ea typeface="Times New Roman" pitchFamily="34" charset="-122"/>
                <a:cs typeface="Times New Roman" pitchFamily="34" charset="-120"/>
              </a:rPr>
              <a:t>ngưỡng</a:t>
            </a:r>
            <a:endParaRPr lang="en-US"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itchFamily="34" charset="0"/>
                <a:cs typeface="Times New Roman" pitchFamily="34" charset="-120"/>
              </a:rPr>
              <a:t>18</a:t>
            </a:r>
            <a:endParaRPr lang="en-US" sz="1200" dirty="0"/>
          </a:p>
        </p:txBody>
      </p:sp>
      <p:sp>
        <p:nvSpPr>
          <p:cNvPr id="6" name="Shape 4"/>
          <p:cNvSpPr/>
          <p:nvPr/>
        </p:nvSpPr>
        <p:spPr>
          <a:xfrm>
            <a:off x="493776" y="1516812"/>
            <a:ext cx="7059168" cy="2549798"/>
          </a:xfrm>
          <a:prstGeom prst="rect">
            <a:avLst/>
          </a:prstGeom>
          <a:solidFill>
            <a:srgbClr val="FFFFFF"/>
          </a:solidFill>
          <a:ln w="12700">
            <a:solidFill>
              <a:srgbClr val="C9DAF2"/>
            </a:solidFill>
            <a:prstDash val="solid"/>
          </a:ln>
        </p:spPr>
      </p:sp>
      <p:pic>
        <p:nvPicPr>
          <p:cNvPr id="7" name="Image 0" descr="/home/claude/figs/04_apriori_vs_fpgrowth.png"/>
          <p:cNvPicPr>
            <a:picLocks noChangeAspect="1"/>
          </p:cNvPicPr>
          <p:nvPr/>
        </p:nvPicPr>
        <p:blipFill>
          <a:blip r:embed="rId3"/>
          <a:stretch>
            <a:fillRect/>
          </a:stretch>
        </p:blipFill>
        <p:spPr>
          <a:xfrm>
            <a:off x="548640" y="1571676"/>
            <a:ext cx="6949440" cy="2440070"/>
          </a:xfrm>
          <a:prstGeom prst="rect">
            <a:avLst/>
          </a:prstGeom>
        </p:spPr>
      </p:pic>
      <p:sp>
        <p:nvSpPr>
          <p:cNvPr id="8" name="Text 5"/>
          <p:cNvSpPr txBox="1"/>
          <p:nvPr/>
        </p:nvSpPr>
        <p:spPr>
          <a:xfrm>
            <a:off x="548640" y="4103186"/>
            <a:ext cx="6949440" cy="274320"/>
          </a:xfrm>
          <a:prstGeom prst="rect">
            <a:avLst/>
          </a:prstGeom>
          <a:noFill/>
          <a:ln/>
        </p:spPr>
        <p:txBody>
          <a:bodyPr wrap="square" lIns="0" tIns="0" rIns="0" bIns="0" rtlCol="0" anchor="ctr"/>
          <a:lstStyle/>
          <a:p>
            <a:pPr marL="0" indent="0" algn="ctr">
              <a:buNone/>
            </a:pPr>
            <a:r>
              <a:rPr lang="en-US" sz="1500" i="1" dirty="0">
                <a:latin typeface="Times New Roman" pitchFamily="34" charset="0"/>
                <a:ea typeface="Times New Roman" pitchFamily="34" charset="-122"/>
                <a:cs typeface="Times New Roman" pitchFamily="34" charset="-120"/>
              </a:rPr>
              <a:t>Hình 4. Thời gian chạy và tỷ lệ FP-Growth / </a:t>
            </a:r>
            <a:r>
              <a:rPr lang="en-US" sz="1500" i="1" dirty="0" err="1">
                <a:latin typeface="Times New Roman" pitchFamily="34" charset="0"/>
                <a:ea typeface="Times New Roman" pitchFamily="34" charset="-122"/>
                <a:cs typeface="Times New Roman" pitchFamily="34" charset="-120"/>
              </a:rPr>
              <a:t>Apriori</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2061291728"/>
              </p:ext>
            </p:extLst>
          </p:nvPr>
        </p:nvGraphicFramePr>
        <p:xfrm>
          <a:off x="548640" y="4548669"/>
          <a:ext cx="7004303" cy="1410792"/>
        </p:xfrm>
        <a:graphic>
          <a:graphicData uri="http://schemas.openxmlformats.org/drawingml/2006/table">
            <a:tbl>
              <a:tblPr/>
              <a:tblGrid>
                <a:gridCol w="1382428">
                  <a:extLst>
                    <a:ext uri="{9D8B030D-6E8A-4147-A177-3AD203B41FA5}">
                      <a16:colId xmlns:a16="http://schemas.microsoft.com/office/drawing/2014/main" val="20000"/>
                    </a:ext>
                  </a:extLst>
                </a:gridCol>
                <a:gridCol w="1198105">
                  <a:extLst>
                    <a:ext uri="{9D8B030D-6E8A-4147-A177-3AD203B41FA5}">
                      <a16:colId xmlns:a16="http://schemas.microsoft.com/office/drawing/2014/main" val="20001"/>
                    </a:ext>
                  </a:extLst>
                </a:gridCol>
                <a:gridCol w="1382428">
                  <a:extLst>
                    <a:ext uri="{9D8B030D-6E8A-4147-A177-3AD203B41FA5}">
                      <a16:colId xmlns:a16="http://schemas.microsoft.com/office/drawing/2014/main" val="20002"/>
                    </a:ext>
                  </a:extLst>
                </a:gridCol>
                <a:gridCol w="1566752">
                  <a:extLst>
                    <a:ext uri="{9D8B030D-6E8A-4147-A177-3AD203B41FA5}">
                      <a16:colId xmlns:a16="http://schemas.microsoft.com/office/drawing/2014/main" val="20003"/>
                    </a:ext>
                  </a:extLst>
                </a:gridCol>
                <a:gridCol w="1474590">
                  <a:extLst>
                    <a:ext uri="{9D8B030D-6E8A-4147-A177-3AD203B41FA5}">
                      <a16:colId xmlns:a16="http://schemas.microsoft.com/office/drawing/2014/main" val="20004"/>
                    </a:ext>
                  </a:extLst>
                </a:gridCol>
              </a:tblGrid>
              <a:tr h="352698">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min_support</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Itemsets</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Apriori (s)</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FP-Growth (s)</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Tỷ lệ FP/</a:t>
                      </a:r>
                      <a:r>
                        <a:rPr lang="vi-VN" sz="1300" b="1" dirty="0">
                          <a:solidFill>
                            <a:srgbClr val="FFFFFF"/>
                          </a:solidFill>
                          <a:latin typeface="Times New Roman" pitchFamily="34" charset="0"/>
                          <a:ea typeface="Times New Roman" pitchFamily="34" charset="-122"/>
                          <a:cs typeface="Times New Roman" pitchFamily="34" charset="-120"/>
                        </a:rPr>
                        <a:t>Apriori</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352698">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0.02</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290</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8449"/>
                          </a:solidFill>
                          <a:latin typeface="Times New Roman" pitchFamily="34" charset="0"/>
                          <a:ea typeface="Times New Roman" pitchFamily="34" charset="-122"/>
                          <a:cs typeface="Times New Roman" pitchFamily="34" charset="-120"/>
                        </a:rPr>
                        <a:t>0.97</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3.00</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3.10</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2698">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0.01</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1,223</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300" b="1" dirty="0">
                          <a:solidFill>
                            <a:srgbClr val="1E8449"/>
                          </a:solidFill>
                          <a:latin typeface="Times New Roman" pitchFamily="34" charset="0"/>
                          <a:ea typeface="Times New Roman" pitchFamily="34" charset="-122"/>
                          <a:cs typeface="Times New Roman" pitchFamily="34" charset="-120"/>
                        </a:rPr>
                        <a:t>5.33</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6.45</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1.21</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352698">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0.005</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6,863</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21.65</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8449"/>
                          </a:solidFill>
                          <a:latin typeface="Times New Roman" pitchFamily="34" charset="0"/>
                          <a:ea typeface="Times New Roman" pitchFamily="34" charset="-122"/>
                          <a:cs typeface="Times New Roman" pitchFamily="34" charset="-120"/>
                        </a:rPr>
                        <a:t>13.10</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45"/>
                          </a:solidFill>
                          <a:latin typeface="Times New Roman" pitchFamily="34" charset="0"/>
                          <a:ea typeface="Times New Roman" pitchFamily="34" charset="-122"/>
                          <a:cs typeface="Times New Roman" pitchFamily="34" charset="-120"/>
                        </a:rPr>
                        <a:t>0.61</a:t>
                      </a:r>
                      <a:endParaRPr lang="en-US" sz="1300" dirty="0">
                        <a:latin typeface="Times New Roman" charset="0"/>
                        <a:ea typeface="Times New Roman" charset="0"/>
                        <a:cs typeface="Times New Roman" charset="0"/>
                      </a:endParaRPr>
                    </a:p>
                  </a:txBody>
                  <a:tcPr marL="73152" marR="73152" marT="36576" marB="36576" anchor="ctr">
                    <a:lnL w="9525" cap="flat" cmpd="sng" algn="ctr">
                      <a:solidFill>
                        <a:srgbClr val="C9DAF2"/>
                      </a:solidFill>
                      <a:prstDash val="solid"/>
                      <a:round/>
                      <a:headEnd type="none" w="med" len="med"/>
                      <a:tailEnd type="none" w="med" len="med"/>
                    </a:lnL>
                    <a:lnR w="9525" cap="flat" cmpd="sng" algn="ctr">
                      <a:solidFill>
                        <a:srgbClr val="C9DAF2"/>
                      </a:solidFill>
                      <a:prstDash val="solid"/>
                      <a:round/>
                      <a:headEnd type="none" w="med" len="med"/>
                      <a:tailEnd type="none" w="med" len="med"/>
                    </a:lnR>
                    <a:lnT w="9525" cap="flat" cmpd="sng" algn="ctr">
                      <a:solidFill>
                        <a:srgbClr val="C9DAF2"/>
                      </a:solidFill>
                      <a:prstDash val="solid"/>
                      <a:round/>
                      <a:headEnd type="none" w="med" len="med"/>
                      <a:tailEnd type="none" w="med" len="med"/>
                    </a:lnT>
                    <a:lnB w="9525" cap="flat" cmpd="sng" algn="ctr">
                      <a:solidFill>
                        <a:srgbClr val="C9DA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7863840" y="1524619"/>
            <a:ext cx="3776472" cy="2148840"/>
          </a:xfrm>
          <a:prstGeom prst="rect">
            <a:avLst/>
          </a:prstGeom>
          <a:solidFill>
            <a:srgbClr val="EAF2FF"/>
          </a:solidFill>
          <a:ln w="9525">
            <a:solidFill>
              <a:srgbClr val="C9DAF2"/>
            </a:solidFill>
            <a:prstDash val="solid"/>
          </a:ln>
        </p:spPr>
      </p:sp>
      <p:sp>
        <p:nvSpPr>
          <p:cNvPr id="11" name="Text 7"/>
          <p:cNvSpPr txBox="1"/>
          <p:nvPr/>
        </p:nvSpPr>
        <p:spPr>
          <a:xfrm>
            <a:off x="8046720" y="1597771"/>
            <a:ext cx="3410712" cy="320040"/>
          </a:xfrm>
          <a:prstGeom prst="rect">
            <a:avLst/>
          </a:prstGeom>
          <a:noFill/>
          <a:ln/>
        </p:spPr>
        <p:txBody>
          <a:bodyPr wrap="square" lIns="0" tIns="0" rIns="0" bIns="0" rtlCol="0" anchor="ctr"/>
          <a:lstStyle/>
          <a:p>
            <a:pPr marL="0" indent="0">
              <a:buNone/>
            </a:pPr>
            <a:r>
              <a:rPr lang="en-US" sz="1600" b="1" dirty="0">
                <a:solidFill>
                  <a:srgbClr val="0B2A5B"/>
                </a:solidFill>
                <a:latin typeface="Times New Roman" pitchFamily="34" charset="0"/>
                <a:ea typeface="Times New Roman" pitchFamily="34" charset="-122"/>
                <a:cs typeface="Times New Roman" pitchFamily="34" charset="-120"/>
              </a:rPr>
              <a:t>Kết quả</a:t>
            </a:r>
            <a:endParaRPr lang="en-US" sz="1600" dirty="0"/>
          </a:p>
        </p:txBody>
      </p:sp>
      <p:sp>
        <p:nvSpPr>
          <p:cNvPr id="12" name="Text 8"/>
          <p:cNvSpPr txBox="1"/>
          <p:nvPr/>
        </p:nvSpPr>
        <p:spPr>
          <a:xfrm>
            <a:off x="8046720" y="1963531"/>
            <a:ext cx="3410712" cy="16916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A2B45"/>
                </a:solidFill>
                <a:latin typeface="Times New Roman" pitchFamily="34" charset="0"/>
                <a:ea typeface="Times New Roman" pitchFamily="34" charset="-122"/>
                <a:cs typeface="Times New Roman" pitchFamily="34" charset="-120"/>
              </a:rPr>
              <a:t>Cả hai tìm </a:t>
            </a:r>
            <a:r>
              <a:rPr lang="en-US" sz="1500" dirty="0" err="1">
                <a:solidFill>
                  <a:srgbClr val="1A2B45"/>
                </a:solidFill>
                <a:latin typeface="Times New Roman" pitchFamily="34" charset="0"/>
                <a:ea typeface="Times New Roman" pitchFamily="34" charset="-122"/>
                <a:cs typeface="Times New Roman" pitchFamily="34" charset="-120"/>
              </a:rPr>
              <a:t>ra</a:t>
            </a:r>
            <a:r>
              <a:rPr lang="en-US" sz="1500" dirty="0">
                <a:solidFill>
                  <a:srgbClr val="1A2B45"/>
                </a:solidFill>
                <a:latin typeface="Times New Roman" pitchFamily="34" charset="0"/>
                <a:ea typeface="Times New Roman" pitchFamily="34" charset="-122"/>
                <a:cs typeface="Times New Roman" pitchFamily="34" charset="-120"/>
              </a:rPr>
              <a:t> </a:t>
            </a:r>
            <a:r>
              <a:rPr lang="vi-VN" sz="1500" dirty="0">
                <a:solidFill>
                  <a:srgbClr val="1A2B45"/>
                </a:solidFill>
                <a:latin typeface="Times New Roman" pitchFamily="34" charset="0"/>
                <a:ea typeface="Times New Roman" pitchFamily="34" charset="-122"/>
                <a:cs typeface="Times New Roman" pitchFamily="34" charset="-120"/>
              </a:rPr>
              <a:t>cùng</a:t>
            </a:r>
            <a:r>
              <a:rPr lang="en-US" sz="1500" dirty="0">
                <a:solidFill>
                  <a:srgbClr val="1A2B45"/>
                </a:solidFill>
                <a:latin typeface="Times New Roman" pitchFamily="34" charset="0"/>
                <a:ea typeface="Times New Roman" pitchFamily="34" charset="-122"/>
                <a:cs typeface="Times New Roman" pitchFamily="34" charset="-120"/>
              </a:rPr>
              <a:t> số itemsets ở cả 3 ngưỡng → </a:t>
            </a:r>
            <a:r>
              <a:rPr lang="vi-VN" sz="1500" dirty="0">
                <a:solidFill>
                  <a:srgbClr val="1A2B45"/>
                </a:solidFill>
                <a:latin typeface="Times New Roman" pitchFamily="34" charset="0"/>
                <a:ea typeface="Times New Roman" pitchFamily="34" charset="-122"/>
                <a:cs typeface="Times New Roman" pitchFamily="34" charset="-120"/>
              </a:rPr>
              <a:t>X</a:t>
            </a:r>
            <a:r>
              <a:rPr lang="en-US" sz="1500" dirty="0" err="1">
                <a:solidFill>
                  <a:srgbClr val="1A2B45"/>
                </a:solidFill>
                <a:latin typeface="Times New Roman" pitchFamily="34" charset="0"/>
                <a:ea typeface="Times New Roman" pitchFamily="34" charset="-122"/>
                <a:cs typeface="Times New Roman" pitchFamily="34" charset="-120"/>
              </a:rPr>
              <a:t>ác</a:t>
            </a:r>
            <a:r>
              <a:rPr lang="en-US" sz="1500" dirty="0">
                <a:solidFill>
                  <a:srgbClr val="1A2B45"/>
                </a:solidFill>
                <a:latin typeface="Times New Roman" pitchFamily="34" charset="0"/>
                <a:ea typeface="Times New Roman" pitchFamily="34" charset="-122"/>
                <a:cs typeface="Times New Roman" pitchFamily="34" charset="-120"/>
              </a:rPr>
              <a:t> nhận tính đúng đắn</a:t>
            </a:r>
            <a:endParaRPr lang="en-US" sz="1500" dirty="0"/>
          </a:p>
          <a:p>
            <a:pPr marL="203200" indent="-203200">
              <a:spcAft>
                <a:spcPts val="400"/>
              </a:spcAft>
              <a:buSzPct val="100000"/>
              <a:buChar char="•"/>
            </a:pPr>
            <a:r>
              <a:rPr lang="en-US" sz="1500" dirty="0">
                <a:solidFill>
                  <a:srgbClr val="1A2B45"/>
                </a:solidFill>
                <a:latin typeface="Times New Roman" pitchFamily="34" charset="0"/>
                <a:ea typeface="Times New Roman" pitchFamily="34" charset="-122"/>
                <a:cs typeface="Times New Roman" pitchFamily="34" charset="-120"/>
              </a:rPr>
              <a:t>Ngưỡng cao: Apriori nhanh hơn. </a:t>
            </a:r>
            <a:endParaRPr lang="vi-VN" sz="1500" dirty="0">
              <a:solidFill>
                <a:srgbClr val="1A2B45"/>
              </a:solidFill>
              <a:latin typeface="Times New Roman" pitchFamily="34" charset="0"/>
              <a:ea typeface="Times New Roman" pitchFamily="34" charset="-122"/>
              <a:cs typeface="Times New Roman" pitchFamily="34" charset="-120"/>
            </a:endParaRPr>
          </a:p>
          <a:p>
            <a:pPr marL="203200" indent="-203200">
              <a:spcAft>
                <a:spcPts val="400"/>
              </a:spcAft>
              <a:buSzPct val="100000"/>
              <a:buChar char="•"/>
            </a:pPr>
            <a:r>
              <a:rPr lang="en-US" sz="1500" dirty="0" err="1">
                <a:solidFill>
                  <a:srgbClr val="1A2B45"/>
                </a:solidFill>
                <a:latin typeface="Times New Roman" pitchFamily="34" charset="0"/>
                <a:ea typeface="Times New Roman" pitchFamily="34" charset="-122"/>
                <a:cs typeface="Times New Roman" pitchFamily="34" charset="-120"/>
              </a:rPr>
              <a:t>Ngưỡng</a:t>
            </a:r>
            <a:r>
              <a:rPr lang="en-US" sz="1500" dirty="0">
                <a:solidFill>
                  <a:srgbClr val="1A2B45"/>
                </a:solidFill>
                <a:latin typeface="Times New Roman" pitchFamily="34" charset="0"/>
                <a:ea typeface="Times New Roman" pitchFamily="34" charset="-122"/>
                <a:cs typeface="Times New Roman" pitchFamily="34" charset="-120"/>
              </a:rPr>
              <a:t> thấp: FP-Growth nhanh hơn</a:t>
            </a:r>
            <a:endParaRPr lang="en-US" sz="1500" dirty="0"/>
          </a:p>
          <a:p>
            <a:pPr marL="203200" indent="-203200">
              <a:spcAft>
                <a:spcPts val="400"/>
              </a:spcAft>
              <a:buSzPct val="100000"/>
              <a:buChar char="•"/>
            </a:pPr>
            <a:r>
              <a:rPr lang="en-US" sz="1500" dirty="0">
                <a:solidFill>
                  <a:srgbClr val="1A2B45"/>
                </a:solidFill>
                <a:latin typeface="Times New Roman" pitchFamily="34" charset="0"/>
                <a:ea typeface="Times New Roman" pitchFamily="34" charset="-122"/>
                <a:cs typeface="Times New Roman" pitchFamily="34" charset="-120"/>
              </a:rPr>
              <a:t>Điểm giao nằm khoảng </a:t>
            </a:r>
            <a:r>
              <a:rPr lang="en-US" sz="1500" b="1" i="1" dirty="0" err="1">
                <a:solidFill>
                  <a:srgbClr val="1A2B45"/>
                </a:solidFill>
                <a:latin typeface="Times New Roman" pitchFamily="34" charset="0"/>
                <a:ea typeface="Times New Roman" pitchFamily="34" charset="-122"/>
                <a:cs typeface="Times New Roman" pitchFamily="34" charset="-120"/>
              </a:rPr>
              <a:t>min_support</a:t>
            </a:r>
            <a:r>
              <a:rPr lang="en-US" sz="1500" b="1" i="1" dirty="0">
                <a:solidFill>
                  <a:srgbClr val="1A2B45"/>
                </a:solidFill>
                <a:latin typeface="Times New Roman" pitchFamily="34" charset="0"/>
                <a:ea typeface="Times New Roman" pitchFamily="34" charset="-122"/>
                <a:cs typeface="Times New Roman" pitchFamily="34" charset="-120"/>
              </a:rPr>
              <a:t> </a:t>
            </a:r>
            <a:r>
              <a:rPr lang="en-US" sz="1500" dirty="0">
                <a:solidFill>
                  <a:srgbClr val="1A2B45"/>
                </a:solidFill>
                <a:latin typeface="Times New Roman" pitchFamily="34" charset="0"/>
                <a:ea typeface="Times New Roman" pitchFamily="34" charset="-122"/>
                <a:cs typeface="Times New Roman" pitchFamily="34" charset="-120"/>
              </a:rPr>
              <a:t>0.005</a:t>
            </a:r>
            <a:r>
              <a:rPr lang="vi-VN" sz="1500" dirty="0">
                <a:solidFill>
                  <a:srgbClr val="1A2B45"/>
                </a:solidFill>
                <a:latin typeface="Times New Roman" pitchFamily="34" charset="0"/>
                <a:ea typeface="Times New Roman" pitchFamily="34" charset="-122"/>
                <a:cs typeface="Times New Roman" pitchFamily="34" charset="-120"/>
              </a:rPr>
              <a:t> </a:t>
            </a:r>
            <a:r>
              <a:rPr lang="en-US" sz="1500" dirty="0">
                <a:solidFill>
                  <a:srgbClr val="1A2B45"/>
                </a:solidFill>
                <a:latin typeface="Times New Roman" pitchFamily="34" charset="0"/>
                <a:ea typeface="Times New Roman" pitchFamily="34" charset="-122"/>
                <a:cs typeface="Times New Roman" pitchFamily="34" charset="-120"/>
              </a:rPr>
              <a:t>–</a:t>
            </a:r>
            <a:r>
              <a:rPr lang="vi-VN" sz="1500" dirty="0">
                <a:solidFill>
                  <a:srgbClr val="1A2B45"/>
                </a:solidFill>
                <a:latin typeface="Times New Roman" pitchFamily="34" charset="0"/>
                <a:ea typeface="Times New Roman" pitchFamily="34" charset="-122"/>
                <a:cs typeface="Times New Roman" pitchFamily="34" charset="-120"/>
              </a:rPr>
              <a:t> </a:t>
            </a:r>
            <a:r>
              <a:rPr lang="en-US" sz="1500" dirty="0">
                <a:solidFill>
                  <a:srgbClr val="1A2B45"/>
                </a:solidFill>
                <a:latin typeface="Times New Roman" pitchFamily="34" charset="0"/>
                <a:ea typeface="Times New Roman" pitchFamily="34" charset="-122"/>
                <a:cs typeface="Times New Roman" pitchFamily="34" charset="-120"/>
              </a:rPr>
              <a:t>0.01</a:t>
            </a:r>
            <a:endParaRPr lang="en-US" sz="1500" dirty="0"/>
          </a:p>
        </p:txBody>
      </p:sp>
      <p:sp>
        <p:nvSpPr>
          <p:cNvPr id="13" name="Shape 9"/>
          <p:cNvSpPr/>
          <p:nvPr/>
        </p:nvSpPr>
        <p:spPr>
          <a:xfrm>
            <a:off x="7863840" y="3810619"/>
            <a:ext cx="3776472" cy="2148840"/>
          </a:xfrm>
          <a:prstGeom prst="rect">
            <a:avLst/>
          </a:prstGeom>
          <a:solidFill>
            <a:srgbClr val="0B2A5B"/>
          </a:solidFill>
          <a:ln w="9525">
            <a:solidFill>
              <a:srgbClr val="C9DAF2"/>
            </a:solidFill>
            <a:prstDash val="solid"/>
          </a:ln>
        </p:spPr>
      </p:sp>
      <p:sp>
        <p:nvSpPr>
          <p:cNvPr id="14" name="Text 10"/>
          <p:cNvSpPr txBox="1"/>
          <p:nvPr/>
        </p:nvSpPr>
        <p:spPr>
          <a:xfrm>
            <a:off x="8046720" y="3883771"/>
            <a:ext cx="3410712" cy="320040"/>
          </a:xfrm>
          <a:prstGeom prst="rect">
            <a:avLst/>
          </a:prstGeom>
          <a:noFill/>
          <a:ln/>
        </p:spPr>
        <p:txBody>
          <a:bodyPr wrap="square" lIns="0" tIns="0" rIns="0" bIns="0"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Quyết định</a:t>
            </a:r>
            <a:endParaRPr lang="en-US" sz="1600" dirty="0"/>
          </a:p>
        </p:txBody>
      </p:sp>
      <p:sp>
        <p:nvSpPr>
          <p:cNvPr id="15" name="Text 11"/>
          <p:cNvSpPr txBox="1"/>
          <p:nvPr/>
        </p:nvSpPr>
        <p:spPr>
          <a:xfrm>
            <a:off x="8046720" y="4267819"/>
            <a:ext cx="3410712" cy="1645920"/>
          </a:xfrm>
          <a:prstGeom prst="rect">
            <a:avLst/>
          </a:prstGeom>
          <a:noFill/>
          <a:ln/>
        </p:spPr>
        <p:txBody>
          <a:bodyPr wrap="square" lIns="0" tIns="0" rIns="0" bIns="0" rtlCol="0" anchor="t"/>
          <a:lstStyle/>
          <a:p>
            <a:pPr marL="285750" indent="-285750">
              <a:lnSpc>
                <a:spcPct val="150000"/>
              </a:lnSpc>
              <a:buFont typeface="Arial" panose="020B0604020202020204" pitchFamily="34" charset="0"/>
              <a:buChar char="•"/>
            </a:pPr>
            <a:r>
              <a:rPr lang="en-US" sz="1500" dirty="0">
                <a:solidFill>
                  <a:srgbClr val="FFFFFF"/>
                </a:solidFill>
                <a:latin typeface="Times New Roman" pitchFamily="34" charset="0"/>
                <a:ea typeface="Times New Roman" pitchFamily="34" charset="-122"/>
                <a:cs typeface="Times New Roman" pitchFamily="34" charset="-120"/>
              </a:rPr>
              <a:t>Dùng FP-Growth cho bước </a:t>
            </a:r>
            <a:r>
              <a:rPr lang="en-US" sz="1500" dirty="0" err="1">
                <a:solidFill>
                  <a:srgbClr val="FFFFFF"/>
                </a:solidFill>
                <a:latin typeface="Times New Roman" pitchFamily="34" charset="0"/>
                <a:ea typeface="Times New Roman" pitchFamily="34" charset="-122"/>
                <a:cs typeface="Times New Roman" pitchFamily="34" charset="-120"/>
              </a:rPr>
              <a:t>sinh</a:t>
            </a:r>
            <a:r>
              <a:rPr lang="en-US" sz="1500" dirty="0">
                <a:solidFill>
                  <a:srgbClr val="FFFFFF"/>
                </a:solidFill>
                <a:latin typeface="Times New Roman" pitchFamily="34" charset="0"/>
                <a:ea typeface="Times New Roman" pitchFamily="34" charset="-122"/>
                <a:cs typeface="Times New Roman" pitchFamily="34" charset="-120"/>
              </a:rPr>
              <a:t> </a:t>
            </a:r>
            <a:r>
              <a:rPr lang="vi-VN" sz="1500" dirty="0">
                <a:solidFill>
                  <a:srgbClr val="FFFFFF"/>
                </a:solidFill>
                <a:latin typeface="Times New Roman" pitchFamily="34" charset="0"/>
                <a:ea typeface="Times New Roman" pitchFamily="34" charset="-122"/>
                <a:cs typeface="Times New Roman" pitchFamily="34" charset="-120"/>
              </a:rPr>
              <a:t>luật.</a:t>
            </a:r>
          </a:p>
          <a:p>
            <a:pPr marL="285750" indent="-285750">
              <a:lnSpc>
                <a:spcPct val="150000"/>
              </a:lnSpc>
              <a:buFont typeface="Arial" panose="020B0604020202020204" pitchFamily="34" charset="0"/>
              <a:buChar char="•"/>
            </a:pPr>
            <a:r>
              <a:rPr lang="vi-VN" sz="1500" dirty="0">
                <a:solidFill>
                  <a:srgbClr val="FFFFFF"/>
                </a:solidFill>
                <a:latin typeface="Times New Roman" pitchFamily="34" charset="0"/>
                <a:ea typeface="Times New Roman" pitchFamily="34" charset="-122"/>
                <a:cs typeface="Times New Roman" pitchFamily="34" charset="-120"/>
              </a:rPr>
              <a:t>D</a:t>
            </a:r>
            <a:r>
              <a:rPr lang="en-US" sz="1500" dirty="0" err="1">
                <a:solidFill>
                  <a:srgbClr val="FFFFFF"/>
                </a:solidFill>
                <a:latin typeface="Times New Roman" pitchFamily="34" charset="0"/>
                <a:ea typeface="Times New Roman" pitchFamily="34" charset="-122"/>
                <a:cs typeface="Times New Roman" pitchFamily="34" charset="-120"/>
              </a:rPr>
              <a:t>ựa</a:t>
            </a:r>
            <a:r>
              <a:rPr lang="en-US" sz="1500" dirty="0">
                <a:solidFill>
                  <a:srgbClr val="FFFFFF"/>
                </a:solidFill>
                <a:latin typeface="Times New Roman" pitchFamily="34" charset="0"/>
                <a:ea typeface="Times New Roman" pitchFamily="34" charset="-122"/>
                <a:cs typeface="Times New Roman" pitchFamily="34" charset="-120"/>
              </a:rPr>
              <a:t> </a:t>
            </a:r>
            <a:r>
              <a:rPr lang="en-US" sz="1500" dirty="0" err="1">
                <a:solidFill>
                  <a:srgbClr val="FFFFFF"/>
                </a:solidFill>
                <a:latin typeface="Times New Roman" pitchFamily="34" charset="0"/>
                <a:ea typeface="Times New Roman" pitchFamily="34" charset="-122"/>
                <a:cs typeface="Times New Roman" pitchFamily="34" charset="-120"/>
              </a:rPr>
              <a:t>trên</a:t>
            </a:r>
            <a:r>
              <a:rPr lang="en-US" sz="1500" dirty="0">
                <a:solidFill>
                  <a:srgbClr val="FFFFFF"/>
                </a:solidFill>
                <a:latin typeface="Times New Roman" pitchFamily="34" charset="0"/>
                <a:ea typeface="Times New Roman" pitchFamily="34" charset="-122"/>
                <a:cs typeface="Times New Roman" pitchFamily="34" charset="-120"/>
              </a:rPr>
              <a:t> </a:t>
            </a:r>
            <a:r>
              <a:rPr lang="vi-VN" sz="1500" dirty="0">
                <a:solidFill>
                  <a:srgbClr val="FFFFFF"/>
                </a:solidFill>
                <a:latin typeface="Times New Roman" pitchFamily="34" charset="0"/>
                <a:ea typeface="Times New Roman" pitchFamily="34" charset="-122"/>
                <a:cs typeface="Times New Roman" pitchFamily="34" charset="-120"/>
              </a:rPr>
              <a:t>B</a:t>
            </a:r>
            <a:r>
              <a:rPr lang="en-US" sz="1500" dirty="0" err="1">
                <a:solidFill>
                  <a:srgbClr val="FFFFFF"/>
                </a:solidFill>
                <a:latin typeface="Times New Roman" pitchFamily="34" charset="0"/>
                <a:ea typeface="Times New Roman" pitchFamily="34" charset="-122"/>
                <a:cs typeface="Times New Roman" pitchFamily="34" charset="-120"/>
              </a:rPr>
              <a:t>enchmark</a:t>
            </a:r>
            <a:r>
              <a:rPr lang="en-US" sz="1500" dirty="0">
                <a:solidFill>
                  <a:srgbClr val="FFFFFF"/>
                </a:solidFill>
                <a:latin typeface="Times New Roman" pitchFamily="34" charset="0"/>
                <a:ea typeface="Times New Roman" pitchFamily="34" charset="-122"/>
                <a:cs typeface="Times New Roman" pitchFamily="34" charset="-120"/>
              </a:rPr>
              <a:t> cụ thể tại </a:t>
            </a:r>
            <a:r>
              <a:rPr lang="en-US" sz="1500" b="1" i="1" dirty="0">
                <a:solidFill>
                  <a:srgbClr val="FFFFFF"/>
                </a:solidFill>
                <a:latin typeface="Times New Roman" pitchFamily="34" charset="0"/>
                <a:ea typeface="Times New Roman" pitchFamily="34" charset="-122"/>
                <a:cs typeface="Times New Roman" pitchFamily="34" charset="-120"/>
              </a:rPr>
              <a:t>min_support</a:t>
            </a:r>
            <a:r>
              <a:rPr lang="en-US" sz="1500" dirty="0">
                <a:solidFill>
                  <a:srgbClr val="FFFFFF"/>
                </a:solidFill>
                <a:latin typeface="Times New Roman" pitchFamily="34" charset="0"/>
                <a:ea typeface="Times New Roman" pitchFamily="34" charset="-122"/>
                <a:cs typeface="Times New Roman" pitchFamily="34" charset="-120"/>
              </a:rPr>
              <a:t> = 0.005, không dựa trên giả định “FP-Growth luôn nhanh hơn”.</a:t>
            </a:r>
            <a:endParaRPr lang="en-US" sz="1500" dirty="0"/>
          </a:p>
        </p:txBody>
      </p:sp>
      <p:sp>
        <p:nvSpPr>
          <p:cNvPr id="16" name="Text 2">
            <a:extLst>
              <a:ext uri="{FF2B5EF4-FFF2-40B4-BE49-F238E27FC236}">
                <a16:creationId xmlns:a16="http://schemas.microsoft.com/office/drawing/2014/main" id="{FBF967DC-B473-25A8-0E88-DB03AA50DBBC}"/>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itchFamily="34" charset="0"/>
                <a:cs typeface="Times New Roman" pitchFamily="34" charset="-120"/>
              </a:rPr>
              <a:t>19</a:t>
            </a:r>
            <a:endParaRPr lang="en-US" sz="1200" dirty="0"/>
          </a:p>
        </p:txBody>
      </p:sp>
      <p:sp>
        <p:nvSpPr>
          <p:cNvPr id="6" name="Shape 4"/>
          <p:cNvSpPr/>
          <p:nvPr/>
        </p:nvSpPr>
        <p:spPr>
          <a:xfrm>
            <a:off x="628483" y="826879"/>
            <a:ext cx="5875355" cy="3538728"/>
          </a:xfrm>
          <a:prstGeom prst="rect">
            <a:avLst/>
          </a:prstGeom>
          <a:solidFill>
            <a:srgbClr val="FFFFFF"/>
          </a:solidFill>
          <a:ln w="12700">
            <a:solidFill>
              <a:srgbClr val="C9DAF2"/>
            </a:solidFill>
            <a:prstDash val="solid"/>
          </a:ln>
        </p:spPr>
      </p:sp>
      <p:pic>
        <p:nvPicPr>
          <p:cNvPr id="7" name="Image 0" descr="/home/claude/figs/05_top7_rules.png"/>
          <p:cNvPicPr>
            <a:picLocks noChangeAspect="1"/>
          </p:cNvPicPr>
          <p:nvPr/>
        </p:nvPicPr>
        <p:blipFill>
          <a:blip r:embed="rId3"/>
          <a:stretch>
            <a:fillRect/>
          </a:stretch>
        </p:blipFill>
        <p:spPr>
          <a:xfrm>
            <a:off x="683347" y="881743"/>
            <a:ext cx="5765627" cy="3429000"/>
          </a:xfrm>
          <a:prstGeom prst="rect">
            <a:avLst/>
          </a:prstGeom>
        </p:spPr>
      </p:pic>
      <p:sp>
        <p:nvSpPr>
          <p:cNvPr id="8" name="Text 5"/>
          <p:cNvSpPr txBox="1"/>
          <p:nvPr/>
        </p:nvSpPr>
        <p:spPr>
          <a:xfrm>
            <a:off x="548640" y="4430176"/>
            <a:ext cx="6035040" cy="274320"/>
          </a:xfrm>
          <a:prstGeom prst="rect">
            <a:avLst/>
          </a:prstGeom>
          <a:noFill/>
          <a:ln/>
        </p:spPr>
        <p:txBody>
          <a:bodyPr wrap="square" lIns="0" tIns="0" rIns="0" bIns="0" rtlCol="0" anchor="ctr"/>
          <a:lstStyle/>
          <a:p>
            <a:pPr marL="0" indent="0" algn="ctr">
              <a:buNone/>
            </a:pPr>
            <a:r>
              <a:rPr lang="en-US" sz="1500" i="1" dirty="0">
                <a:latin typeface="Times New Roman" pitchFamily="34" charset="0"/>
                <a:ea typeface="Times New Roman" pitchFamily="34" charset="-122"/>
                <a:cs typeface="Times New Roman" pitchFamily="34" charset="-120"/>
              </a:rPr>
              <a:t>Hình 5. Top 7 luật kết hợp </a:t>
            </a:r>
            <a:r>
              <a:rPr lang="en-US" sz="1500" i="1" dirty="0" err="1">
                <a:latin typeface="Times New Roman" pitchFamily="34" charset="0"/>
                <a:ea typeface="Times New Roman" pitchFamily="34" charset="-122"/>
                <a:cs typeface="Times New Roman" pitchFamily="34" charset="-120"/>
              </a:rPr>
              <a:t>theo</a:t>
            </a:r>
            <a:r>
              <a:rPr lang="en-US" sz="1500" i="1" dirty="0">
                <a:latin typeface="Times New Roman" pitchFamily="34" charset="0"/>
                <a:ea typeface="Times New Roman" pitchFamily="34" charset="-122"/>
                <a:cs typeface="Times New Roman" pitchFamily="34" charset="-120"/>
              </a:rPr>
              <a:t> Lift</a:t>
            </a:r>
            <a:endParaRPr lang="en-US" sz="1500" dirty="0"/>
          </a:p>
        </p:txBody>
      </p:sp>
      <p:sp>
        <p:nvSpPr>
          <p:cNvPr id="12" name="Shape 9"/>
          <p:cNvSpPr/>
          <p:nvPr/>
        </p:nvSpPr>
        <p:spPr>
          <a:xfrm>
            <a:off x="6949440" y="3703320"/>
            <a:ext cx="4690872" cy="2377440"/>
          </a:xfrm>
          <a:prstGeom prst="rect">
            <a:avLst/>
          </a:prstGeom>
          <a:solidFill>
            <a:srgbClr val="EAF2FF"/>
          </a:solidFill>
          <a:ln w="9525">
            <a:solidFill>
              <a:srgbClr val="C9DAF2"/>
            </a:solidFill>
            <a:prstDash val="solid"/>
          </a:ln>
        </p:spPr>
      </p:sp>
      <p:sp>
        <p:nvSpPr>
          <p:cNvPr id="13" name="Shape 10"/>
          <p:cNvSpPr/>
          <p:nvPr/>
        </p:nvSpPr>
        <p:spPr>
          <a:xfrm>
            <a:off x="7132320" y="3794760"/>
            <a:ext cx="457200" cy="457200"/>
          </a:xfrm>
          <a:prstGeom prst="ellipse">
            <a:avLst/>
          </a:prstGeom>
          <a:solidFill>
            <a:srgbClr val="1F6FEB"/>
          </a:solidFill>
          <a:ln w="12700">
            <a:solidFill>
              <a:srgbClr val="1F6FEB"/>
            </a:solidFill>
            <a:prstDash val="solid"/>
          </a:ln>
        </p:spPr>
      </p:sp>
      <p:pic>
        <p:nvPicPr>
          <p:cNvPr id="14" name="Image 1" descr="preencoded.png"/>
          <p:cNvPicPr>
            <a:picLocks noChangeAspect="1"/>
          </p:cNvPicPr>
          <p:nvPr/>
        </p:nvPicPr>
        <p:blipFill>
          <a:blip r:embed="rId4"/>
          <a:stretch>
            <a:fillRect/>
          </a:stretch>
        </p:blipFill>
        <p:spPr>
          <a:xfrm>
            <a:off x="7242048" y="3904488"/>
            <a:ext cx="237744" cy="237744"/>
          </a:xfrm>
          <a:prstGeom prst="rect">
            <a:avLst/>
          </a:prstGeom>
        </p:spPr>
      </p:pic>
      <p:sp>
        <p:nvSpPr>
          <p:cNvPr id="15" name="Text 11"/>
          <p:cNvSpPr txBox="1"/>
          <p:nvPr/>
        </p:nvSpPr>
        <p:spPr>
          <a:xfrm>
            <a:off x="7726680" y="3794760"/>
            <a:ext cx="3730752" cy="457200"/>
          </a:xfrm>
          <a:prstGeom prst="rect">
            <a:avLst/>
          </a:prstGeom>
          <a:noFill/>
          <a:ln/>
        </p:spPr>
        <p:txBody>
          <a:bodyPr wrap="square" lIns="0" tIns="0" rIns="0" bIns="0" rtlCol="0" anchor="ctr"/>
          <a:lstStyle/>
          <a:p>
            <a:pPr marL="0" indent="0">
              <a:buNone/>
            </a:pPr>
            <a:r>
              <a:rPr lang="vi-VN" sz="1600" b="1" dirty="0">
                <a:solidFill>
                  <a:srgbClr val="0B2A5B"/>
                </a:solidFill>
                <a:latin typeface="Times New Roman" pitchFamily="34" charset="0"/>
                <a:ea typeface="Times New Roman" pitchFamily="34" charset="-122"/>
                <a:cs typeface="Times New Roman" pitchFamily="34" charset="-120"/>
              </a:rPr>
              <a:t>Lý do</a:t>
            </a:r>
            <a:r>
              <a:rPr lang="en-US" sz="1600" b="1" dirty="0">
                <a:solidFill>
                  <a:srgbClr val="0B2A5B"/>
                </a:solidFill>
                <a:latin typeface="Times New Roman" pitchFamily="34" charset="0"/>
                <a:ea typeface="Times New Roman" pitchFamily="34" charset="-122"/>
                <a:cs typeface="Times New Roman" pitchFamily="34" charset="-120"/>
              </a:rPr>
              <a:t> </a:t>
            </a:r>
            <a:r>
              <a:rPr lang="en-US" sz="1600" b="1" dirty="0" err="1">
                <a:solidFill>
                  <a:srgbClr val="0B2A5B"/>
                </a:solidFill>
                <a:latin typeface="Times New Roman" pitchFamily="34" charset="0"/>
                <a:ea typeface="Times New Roman" pitchFamily="34" charset="-122"/>
                <a:cs typeface="Times New Roman" pitchFamily="34" charset="-120"/>
              </a:rPr>
              <a:t>thêm</a:t>
            </a:r>
            <a:r>
              <a:rPr lang="en-US" sz="1600" b="1" dirty="0">
                <a:solidFill>
                  <a:srgbClr val="0B2A5B"/>
                </a:solidFill>
                <a:latin typeface="Times New Roman" pitchFamily="34" charset="0"/>
                <a:ea typeface="Times New Roman" pitchFamily="34" charset="-122"/>
                <a:cs typeface="Times New Roman" pitchFamily="34" charset="-120"/>
              </a:rPr>
              <a:t> </a:t>
            </a:r>
            <a:r>
              <a:rPr lang="en-US" sz="1600" b="1" dirty="0" err="1">
                <a:solidFill>
                  <a:srgbClr val="0B2A5B"/>
                </a:solidFill>
                <a:latin typeface="Times New Roman" pitchFamily="34" charset="0"/>
                <a:ea typeface="Times New Roman" pitchFamily="34" charset="-122"/>
                <a:cs typeface="Times New Roman" pitchFamily="34" charset="-120"/>
              </a:rPr>
              <a:t>Kulczynski</a:t>
            </a:r>
            <a:endParaRPr lang="en-US" sz="1600" dirty="0"/>
          </a:p>
        </p:txBody>
      </p:sp>
      <p:sp>
        <p:nvSpPr>
          <p:cNvPr id="16" name="Text 12"/>
          <p:cNvSpPr txBox="1"/>
          <p:nvPr/>
        </p:nvSpPr>
        <p:spPr>
          <a:xfrm>
            <a:off x="7132320" y="4343400"/>
            <a:ext cx="4325112" cy="169164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A2B45"/>
                </a:solidFill>
                <a:latin typeface="Times New Roman" pitchFamily="34" charset="0"/>
                <a:ea typeface="Times New Roman" pitchFamily="34" charset="-122"/>
                <a:cs typeface="Times New Roman" pitchFamily="34" charset="-120"/>
              </a:rPr>
              <a:t>Là trung bình cộng của conf(A→B) và conf(B→A): đối xứng, đánh giá theo cả hai chiều</a:t>
            </a:r>
            <a:endParaRPr lang="en-US" sz="1600" dirty="0"/>
          </a:p>
          <a:p>
            <a:pPr marL="203200" indent="-203200">
              <a:spcAft>
                <a:spcPts val="300"/>
              </a:spcAft>
              <a:buSzPct val="100000"/>
              <a:buChar char="•"/>
            </a:pPr>
            <a:r>
              <a:rPr lang="en-US" sz="1600" dirty="0">
                <a:solidFill>
                  <a:srgbClr val="1A2B45"/>
                </a:solidFill>
                <a:latin typeface="Times New Roman" pitchFamily="34" charset="0"/>
                <a:ea typeface="Times New Roman" pitchFamily="34" charset="-122"/>
                <a:cs typeface="Times New Roman" pitchFamily="34" charset="-120"/>
              </a:rPr>
              <a:t>Null-invariant: không bị chi phối bởi số giao dịch không chứa cả hai sản phẩm</a:t>
            </a:r>
            <a:endParaRPr lang="en-US" sz="1600" dirty="0"/>
          </a:p>
          <a:p>
            <a:pPr marL="203200" indent="-203200">
              <a:spcAft>
                <a:spcPts val="300"/>
              </a:spcAft>
              <a:buSzPct val="100000"/>
              <a:buChar char="•"/>
            </a:pPr>
            <a:r>
              <a:rPr lang="en-US" sz="1600" dirty="0">
                <a:solidFill>
                  <a:srgbClr val="1A2B45"/>
                </a:solidFill>
                <a:latin typeface="Times New Roman" pitchFamily="34" charset="0"/>
                <a:ea typeface="Times New Roman" pitchFamily="34" charset="-122"/>
                <a:cs typeface="Times New Roman" pitchFamily="34" charset="-120"/>
              </a:rPr>
              <a:t>Lift cao nhưng Kulczynski thấp → quan hệ không cân bằng; không nên chỉ dựa vào Lift</a:t>
            </a:r>
            <a:endParaRPr lang="en-US" sz="1600" dirty="0"/>
          </a:p>
        </p:txBody>
      </p:sp>
      <p:sp>
        <p:nvSpPr>
          <p:cNvPr id="17" name="Shape 13"/>
          <p:cNvSpPr/>
          <p:nvPr/>
        </p:nvSpPr>
        <p:spPr>
          <a:xfrm>
            <a:off x="548640" y="4851919"/>
            <a:ext cx="6035040" cy="1371600"/>
          </a:xfrm>
          <a:prstGeom prst="rect">
            <a:avLst/>
          </a:prstGeom>
          <a:solidFill>
            <a:srgbClr val="EAF2FF"/>
          </a:solidFill>
          <a:ln w="9525">
            <a:solidFill>
              <a:srgbClr val="C9DAF2"/>
            </a:solidFill>
            <a:prstDash val="solid"/>
          </a:ln>
        </p:spPr>
      </p:sp>
      <p:sp>
        <p:nvSpPr>
          <p:cNvPr id="18" name="Text 14"/>
          <p:cNvSpPr txBox="1"/>
          <p:nvPr/>
        </p:nvSpPr>
        <p:spPr>
          <a:xfrm>
            <a:off x="685800" y="4935894"/>
            <a:ext cx="5760720" cy="1287624"/>
          </a:xfrm>
          <a:prstGeom prst="rect">
            <a:avLst/>
          </a:prstGeom>
          <a:noFill/>
          <a:ln/>
        </p:spPr>
        <p:txBody>
          <a:bodyPr wrap="square" lIns="0" tIns="0" rIns="0" bIns="0" rtlCol="0" anchor="ctr"/>
          <a:lstStyle/>
          <a:p>
            <a:pPr marL="0" indent="0">
              <a:buNone/>
            </a:pPr>
            <a:r>
              <a:rPr lang="en-US" sz="1600" b="1" dirty="0" err="1">
                <a:solidFill>
                  <a:srgbClr val="C0392B"/>
                </a:solidFill>
                <a:latin typeface="Times New Roman" pitchFamily="34" charset="0"/>
                <a:ea typeface="Times New Roman" pitchFamily="34" charset="-122"/>
                <a:cs typeface="Times New Roman" pitchFamily="34" charset="-120"/>
              </a:rPr>
              <a:t>Nhận</a:t>
            </a:r>
            <a:r>
              <a:rPr lang="en-US" sz="1600" b="1" dirty="0">
                <a:solidFill>
                  <a:srgbClr val="C0392B"/>
                </a:solidFill>
                <a:latin typeface="Times New Roman" pitchFamily="34" charset="0"/>
                <a:ea typeface="Times New Roman" pitchFamily="34" charset="-122"/>
                <a:cs typeface="Times New Roman" pitchFamily="34" charset="-120"/>
              </a:rPr>
              <a:t> </a:t>
            </a:r>
            <a:r>
              <a:rPr lang="en-US" sz="1600" b="1" dirty="0" err="1">
                <a:solidFill>
                  <a:srgbClr val="C0392B"/>
                </a:solidFill>
                <a:latin typeface="Times New Roman" pitchFamily="34" charset="0"/>
                <a:ea typeface="Times New Roman" pitchFamily="34" charset="-122"/>
                <a:cs typeface="Times New Roman" pitchFamily="34" charset="-120"/>
              </a:rPr>
              <a:t>xét</a:t>
            </a:r>
            <a:r>
              <a:rPr lang="en-US" sz="1600" b="1" dirty="0">
                <a:solidFill>
                  <a:srgbClr val="C0392B"/>
                </a:solidFill>
                <a:latin typeface="Times New Roman" pitchFamily="34" charset="0"/>
                <a:ea typeface="Times New Roman" pitchFamily="34" charset="-122"/>
                <a:cs typeface="Times New Roman" pitchFamily="34" charset="-120"/>
              </a:rPr>
              <a:t>: </a:t>
            </a:r>
            <a:r>
              <a:rPr lang="en-US" sz="1600" dirty="0">
                <a:solidFill>
                  <a:srgbClr val="1A2B45"/>
                </a:solidFill>
                <a:latin typeface="Times New Roman" pitchFamily="34" charset="0"/>
                <a:ea typeface="Times New Roman" pitchFamily="34" charset="-122"/>
                <a:cs typeface="Times New Roman" pitchFamily="34" charset="-120"/>
              </a:rPr>
              <a:t>Lift rất cao ở đây (~157) đến từ các sản phẩm cùng bộ (thảo mộc, bộ dụng cụ làm vườn trẻ em) </a:t>
            </a:r>
            <a:r>
              <a:rPr lang="en-US" sz="1600" dirty="0" err="1">
                <a:solidFill>
                  <a:srgbClr val="1A2B45"/>
                </a:solidFill>
                <a:latin typeface="Times New Roman" pitchFamily="34" charset="0"/>
                <a:ea typeface="Times New Roman" pitchFamily="34" charset="-122"/>
                <a:cs typeface="Times New Roman" pitchFamily="34" charset="-120"/>
              </a:rPr>
              <a:t>và</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S</a:t>
            </a:r>
            <a:r>
              <a:rPr lang="en-US" sz="1600" dirty="0" err="1">
                <a:solidFill>
                  <a:srgbClr val="1A2B45"/>
                </a:solidFill>
                <a:latin typeface="Times New Roman" pitchFamily="34" charset="0"/>
                <a:ea typeface="Times New Roman" pitchFamily="34" charset="-122"/>
                <a:cs typeface="Times New Roman" pitchFamily="34" charset="-120"/>
              </a:rPr>
              <a:t>upport</a:t>
            </a:r>
            <a:r>
              <a:rPr lang="en-US" sz="1600" dirty="0">
                <a:solidFill>
                  <a:srgbClr val="1A2B45"/>
                </a:solidFill>
                <a:latin typeface="Times New Roman" pitchFamily="34" charset="0"/>
                <a:ea typeface="Times New Roman" pitchFamily="34" charset="-122"/>
                <a:cs typeface="Times New Roman" pitchFamily="34" charset="-120"/>
              </a:rPr>
              <a:t> thấp (0.0051) — </a:t>
            </a:r>
            <a:r>
              <a:rPr lang="vi-VN" sz="1600" dirty="0">
                <a:solidFill>
                  <a:srgbClr val="1A2B45"/>
                </a:solidFill>
                <a:latin typeface="Times New Roman" pitchFamily="34" charset="0"/>
                <a:ea typeface="Times New Roman" pitchFamily="34" charset="-122"/>
                <a:cs typeface="Times New Roman" pitchFamily="34" charset="-120"/>
              </a:rPr>
              <a:t>H</a:t>
            </a:r>
            <a:r>
              <a:rPr lang="en-US" sz="1600" dirty="0" err="1">
                <a:solidFill>
                  <a:srgbClr val="1A2B45"/>
                </a:solidFill>
                <a:latin typeface="Times New Roman" pitchFamily="34" charset="0"/>
                <a:ea typeface="Times New Roman" pitchFamily="34" charset="-122"/>
                <a:cs typeface="Times New Roman" pitchFamily="34" charset="-120"/>
              </a:rPr>
              <a:t>ữu</a:t>
            </a:r>
            <a:r>
              <a:rPr lang="en-US" sz="1600" dirty="0">
                <a:solidFill>
                  <a:srgbClr val="1A2B45"/>
                </a:solidFill>
                <a:latin typeface="Times New Roman" pitchFamily="34" charset="0"/>
                <a:ea typeface="Times New Roman" pitchFamily="34" charset="-122"/>
                <a:cs typeface="Times New Roman" pitchFamily="34" charset="-120"/>
              </a:rPr>
              <a:t> ích cho bán theo bộ, nhưng cần lọc thêm theo support khi ứng dụng.</a:t>
            </a:r>
            <a:endParaRPr lang="en-US" sz="1600" dirty="0"/>
          </a:p>
        </p:txBody>
      </p:sp>
      <p:sp>
        <p:nvSpPr>
          <p:cNvPr id="20" name="Text 2">
            <a:extLst>
              <a:ext uri="{FF2B5EF4-FFF2-40B4-BE49-F238E27FC236}">
                <a16:creationId xmlns:a16="http://schemas.microsoft.com/office/drawing/2014/main" id="{F00C2D73-B234-CF15-2F5A-21E19754D76F}"/>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
        <p:nvSpPr>
          <p:cNvPr id="22" name="Text 0">
            <a:extLst>
              <a:ext uri="{FF2B5EF4-FFF2-40B4-BE49-F238E27FC236}">
                <a16:creationId xmlns:a16="http://schemas.microsoft.com/office/drawing/2014/main" id="{E073BE9D-7BAD-141D-F025-31FD50CA833F}"/>
              </a:ext>
            </a:extLst>
          </p:cNvPr>
          <p:cNvSpPr txBox="1"/>
          <p:nvPr/>
        </p:nvSpPr>
        <p:spPr>
          <a:xfrm>
            <a:off x="628483" y="137160"/>
            <a:ext cx="1118407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itchFamily="34" charset="0"/>
                <a:ea typeface="Times New Roman" pitchFamily="34" charset="-122"/>
                <a:cs typeface="Times New Roman" pitchFamily="34" charset="-120"/>
              </a:rPr>
              <a:t>Market Basket Analysis: </a:t>
            </a:r>
            <a:r>
              <a:rPr lang="vi-VN" sz="3000" b="1" dirty="0">
                <a:solidFill>
                  <a:srgbClr val="0B2A5B"/>
                </a:solidFill>
                <a:latin typeface="Times New Roman" pitchFamily="34" charset="0"/>
                <a:ea typeface="Times New Roman" pitchFamily="34" charset="-122"/>
                <a:cs typeface="Times New Roman" pitchFamily="34" charset="-120"/>
              </a:rPr>
              <a:t>Luật kết hợp – Lý do thêm Kulczynski</a:t>
            </a:r>
            <a:endParaRPr lang="en-US" sz="3000" dirty="0"/>
          </a:p>
        </p:txBody>
      </p:sp>
      <p:sp>
        <p:nvSpPr>
          <p:cNvPr id="28" name="Shape 5">
            <a:extLst>
              <a:ext uri="{FF2B5EF4-FFF2-40B4-BE49-F238E27FC236}">
                <a16:creationId xmlns:a16="http://schemas.microsoft.com/office/drawing/2014/main" id="{7D4454C3-6310-AF31-22EB-FDB9C849A9D6}"/>
              </a:ext>
            </a:extLst>
          </p:cNvPr>
          <p:cNvSpPr/>
          <p:nvPr/>
        </p:nvSpPr>
        <p:spPr>
          <a:xfrm>
            <a:off x="6949440" y="855616"/>
            <a:ext cx="4690872" cy="2587379"/>
          </a:xfrm>
          <a:prstGeom prst="roundRect">
            <a:avLst>
              <a:gd name="adj" fmla="val 5333"/>
            </a:avLst>
          </a:prstGeom>
          <a:solidFill>
            <a:srgbClr val="F4F6FA"/>
          </a:solidFill>
          <a:ln w="12700">
            <a:solidFill>
              <a:srgbClr val="F4F6FA"/>
            </a:solidFill>
            <a:prstDash val="solid"/>
          </a:ln>
        </p:spPr>
      </p:sp>
      <mc:AlternateContent xmlns:mc="http://schemas.openxmlformats.org/markup-compatibility/2006">
        <mc:Choice xmlns:a14="http://schemas.microsoft.com/office/drawing/2010/main" Requires="a14">
          <p:sp>
            <p:nvSpPr>
              <p:cNvPr id="30" name="Text 6">
                <a:extLst>
                  <a:ext uri="{FF2B5EF4-FFF2-40B4-BE49-F238E27FC236}">
                    <a16:creationId xmlns:a16="http://schemas.microsoft.com/office/drawing/2014/main" id="{5DECD7B6-CAD2-6DDD-CFC7-9EB1DAA64E35}"/>
                  </a:ext>
                </a:extLst>
              </p:cNvPr>
              <p:cNvSpPr txBox="1"/>
              <p:nvPr/>
            </p:nvSpPr>
            <p:spPr>
              <a:xfrm>
                <a:off x="7025640" y="1246195"/>
                <a:ext cx="4525658" cy="365760"/>
              </a:xfrm>
              <a:prstGeom prst="rect">
                <a:avLst/>
              </a:prstGeom>
              <a:noFill/>
              <a:ln/>
            </p:spPr>
            <p:txBody>
              <a:bodyPr wrap="square" lIns="0" tIns="0" rIns="0" bIns="0" rtlCol="0" anchor="ctr"/>
              <a:lstStyle/>
              <a:p>
                <a:pPr marL="0" indent="0" algn="ctr">
                  <a:buNone/>
                </a:pPr>
                <a:r>
                  <a:rPr lang="en-US" b="1" i="1" dirty="0">
                    <a:solidFill>
                      <a:schemeClr val="tx1"/>
                    </a:solidFill>
                    <a:latin typeface="Times New Roman" panose="02020603050405020304" pitchFamily="18" charset="0"/>
                    <a:ea typeface="Cambria" pitchFamily="34" charset="-122"/>
                    <a:cs typeface="Times New Roman" panose="02020603050405020304" pitchFamily="18" charset="0"/>
                  </a:rPr>
                  <a:t>Kulczynski =</a:t>
                </a:r>
                <a:r>
                  <a:rPr lang="vi-VN" b="1" i="1" dirty="0">
                    <a:solidFill>
                      <a:schemeClr val="tx1"/>
                    </a:solidFill>
                    <a:latin typeface="Times New Roman" panose="02020603050405020304" pitchFamily="18" charset="0"/>
                    <a:ea typeface="Cambria" pitchFamily="34" charset="-122"/>
                    <a:cs typeface="Times New Roman" panose="02020603050405020304" pitchFamily="18" charset="0"/>
                  </a:rPr>
                  <a:t> </a:t>
                </a:r>
                <a14:m>
                  <m:oMath xmlns:m="http://schemas.openxmlformats.org/officeDocument/2006/math">
                    <m:f>
                      <m:fPr>
                        <m:ctrlPr>
                          <a:rPr lang="en-US" b="1"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𝟏</m:t>
                        </m:r>
                      </m:num>
                      <m:den>
                        <m:r>
                          <a:rPr lang="en-US" b="1" i="1" smtClean="0">
                            <a:solidFill>
                              <a:schemeClr val="tx1"/>
                            </a:solidFill>
                            <a:latin typeface="Cambria Math" panose="02040503050406030204" pitchFamily="18" charset="0"/>
                          </a:rPr>
                          <m:t>𝟐</m:t>
                        </m:r>
                      </m:den>
                    </m:f>
                  </m:oMath>
                </a14:m>
                <a:r>
                  <a:rPr lang="en-US" b="1" i="1" dirty="0">
                    <a:solidFill>
                      <a:schemeClr val="tx1"/>
                    </a:solidFill>
                    <a:latin typeface="Times New Roman" panose="02020603050405020304" pitchFamily="18" charset="0"/>
                    <a:ea typeface="Cambria" pitchFamily="34" charset="-122"/>
                    <a:cs typeface="Times New Roman" panose="02020603050405020304" pitchFamily="18" charset="0"/>
                  </a:rPr>
                  <a:t> · </a:t>
                </a:r>
                <a14:m>
                  <m:oMath xmlns:m="http://schemas.openxmlformats.org/officeDocument/2006/math">
                    <m:r>
                      <a:rPr lang="en-US" b="1" i="1" smtClean="0">
                        <a:solidFill>
                          <a:schemeClr val="tx1"/>
                        </a:solidFill>
                        <a:latin typeface="Cambria Math" panose="02040503050406030204" pitchFamily="18" charset="0"/>
                      </a:rPr>
                      <m:t>[</m:t>
                    </m:r>
                    <m:r>
                      <a:rPr lang="vi-VN" b="1" i="1">
                        <a:solidFill>
                          <a:schemeClr val="tx1"/>
                        </a:solidFill>
                        <a:latin typeface="Cambria Math" panose="02040503050406030204" pitchFamily="18" charset="0"/>
                      </a:rPr>
                      <m:t>𝒄𝒐𝒏𝒇</m:t>
                    </m:r>
                  </m:oMath>
                </a14:m>
                <a:r>
                  <a:rPr lang="vi-VN" b="1" i="1" dirty="0">
                    <a:solidFill>
                      <a:schemeClr val="tx1"/>
                    </a:solidFill>
                    <a:latin typeface="Times New Roman" panose="02020603050405020304" pitchFamily="18" charset="0"/>
                    <a:ea typeface="Cambria" pitchFamily="34" charset="-122"/>
                    <a:cs typeface="Times New Roman" panose="02020603050405020304" pitchFamily="18" charset="0"/>
                  </a:rPr>
                  <a:t>(A</a:t>
                </a:r>
                <a14:m>
                  <m:oMath xmlns:m="http://schemas.openxmlformats.org/officeDocument/2006/math">
                    <m:r>
                      <a:rPr lang="vi-VN" b="1" i="1" dirty="0" smtClean="0">
                        <a:solidFill>
                          <a:schemeClr val="tx1"/>
                        </a:solidFill>
                        <a:latin typeface="Cambria Math" panose="02040503050406030204" pitchFamily="18" charset="0"/>
                      </a:rPr>
                      <m:t>→</m:t>
                    </m:r>
                  </m:oMath>
                </a14:m>
                <a:r>
                  <a:rPr lang="vi-VN" b="1" i="1" dirty="0">
                    <a:solidFill>
                      <a:schemeClr val="tx1"/>
                    </a:solidFill>
                    <a:latin typeface="Times New Roman" panose="02020603050405020304" pitchFamily="18" charset="0"/>
                    <a:ea typeface="Cambria" pitchFamily="34" charset="-122"/>
                    <a:cs typeface="Times New Roman" panose="02020603050405020304" pitchFamily="18" charset="0"/>
                  </a:rPr>
                  <a:t>B)</a:t>
                </a:r>
                <a:r>
                  <a:rPr lang="en-US" b="1" i="1" dirty="0">
                    <a:solidFill>
                      <a:schemeClr val="tx1"/>
                    </a:solidFill>
                    <a:latin typeface="Times New Roman" panose="02020603050405020304" pitchFamily="18" charset="0"/>
                    <a:ea typeface="Cambria" pitchFamily="34" charset="-122"/>
                    <a:cs typeface="Times New Roman" panose="02020603050405020304" pitchFamily="18" charset="0"/>
                  </a:rPr>
                  <a:t> + conf(B</a:t>
                </a:r>
                <a14:m>
                  <m:oMath xmlns:m="http://schemas.openxmlformats.org/officeDocument/2006/math">
                    <m:r>
                      <a:rPr lang="en-US" b="1" i="1" smtClean="0">
                        <a:solidFill>
                          <a:schemeClr val="tx1"/>
                        </a:solidFill>
                        <a:latin typeface="Cambria Math" panose="02040503050406030204" pitchFamily="18" charset="0"/>
                      </a:rPr>
                      <m:t>→</m:t>
                    </m:r>
                  </m:oMath>
                </a14:m>
                <a:r>
                  <a:rPr lang="en-US" b="1" i="1" dirty="0">
                    <a:solidFill>
                      <a:schemeClr val="tx1"/>
                    </a:solidFill>
                    <a:latin typeface="Times New Roman" panose="02020603050405020304" pitchFamily="18" charset="0"/>
                    <a:ea typeface="Cambria" pitchFamily="34" charset="-122"/>
                    <a:cs typeface="Times New Roman" panose="02020603050405020304" pitchFamily="18" charset="0"/>
                  </a:rPr>
                  <a:t>A)</a:t>
                </a:r>
                <a14:m>
                  <m:oMath xmlns:m="http://schemas.openxmlformats.org/officeDocument/2006/math">
                    <m:r>
                      <a:rPr lang="en-US" b="1" i="1" dirty="0" smtClean="0">
                        <a:solidFill>
                          <a:schemeClr val="tx1"/>
                        </a:solidFill>
                        <a:latin typeface="Cambria Math" panose="02040503050406030204" pitchFamily="18" charset="0"/>
                      </a:rPr>
                      <m:t>]</m:t>
                    </m:r>
                  </m:oMath>
                </a14:m>
                <a:endParaRPr lang="en-US" b="1" i="1" dirty="0">
                  <a:solidFill>
                    <a:schemeClr val="tx1"/>
                  </a:solidFill>
                  <a:latin typeface="Times New Roman" panose="02020603050405020304" pitchFamily="18" charset="0"/>
                  <a:cs typeface="Times New Roman" panose="02020603050405020304" pitchFamily="18" charset="0"/>
                </a:endParaRPr>
              </a:p>
            </p:txBody>
          </p:sp>
        </mc:Choice>
        <mc:Fallback>
          <p:sp>
            <p:nvSpPr>
              <p:cNvPr id="30" name="Text 6">
                <a:extLst>
                  <a:ext uri="{FF2B5EF4-FFF2-40B4-BE49-F238E27FC236}">
                    <a16:creationId xmlns:a16="http://schemas.microsoft.com/office/drawing/2014/main" id="{5DECD7B6-CAD2-6DDD-CFC7-9EB1DAA64E35}"/>
                  </a:ext>
                </a:extLst>
              </p:cNvPr>
              <p:cNvSpPr txBox="1">
                <a:spLocks noRot="1" noChangeAspect="1" noMove="1" noResize="1" noEditPoints="1" noAdjustHandles="1" noChangeArrowheads="1" noChangeShapeType="1" noTextEdit="1"/>
              </p:cNvSpPr>
              <p:nvPr/>
            </p:nvSpPr>
            <p:spPr>
              <a:xfrm>
                <a:off x="7025640" y="1246195"/>
                <a:ext cx="4525658" cy="365760"/>
              </a:xfrm>
              <a:prstGeom prst="rect">
                <a:avLst/>
              </a:prstGeom>
              <a:blipFill>
                <a:blip r:embed="rId5"/>
                <a:stretch>
                  <a:fillRect t="-8333" b="-28333"/>
                </a:stretch>
              </a:blipFill>
              <a:ln/>
            </p:spPr>
            <p:txBody>
              <a:bodyPr/>
              <a:lstStyle/>
              <a:p>
                <a:r>
                  <a:rPr lang="en-US">
                    <a:noFill/>
                  </a:rPr>
                  <a:t> </a:t>
                </a:r>
              </a:p>
            </p:txBody>
          </p:sp>
        </mc:Fallback>
      </mc:AlternateContent>
      <p:sp>
        <p:nvSpPr>
          <p:cNvPr id="32" name="Text 7">
            <a:extLst>
              <a:ext uri="{FF2B5EF4-FFF2-40B4-BE49-F238E27FC236}">
                <a16:creationId xmlns:a16="http://schemas.microsoft.com/office/drawing/2014/main" id="{648C740F-6DAC-409D-7938-A3671462691A}"/>
              </a:ext>
            </a:extLst>
          </p:cNvPr>
          <p:cNvSpPr txBox="1"/>
          <p:nvPr/>
        </p:nvSpPr>
        <p:spPr>
          <a:xfrm>
            <a:off x="7025640" y="1875453"/>
            <a:ext cx="4525658" cy="1248436"/>
          </a:xfrm>
          <a:prstGeom prst="rect">
            <a:avLst/>
          </a:prstGeom>
          <a:noFill/>
          <a:ln/>
        </p:spPr>
        <p:txBody>
          <a:bodyPr wrap="square" lIns="0" tIns="0" rIns="0" bIns="0" rtlCol="0" anchor="t"/>
          <a:lstStyle/>
          <a:p>
            <a:pPr marL="285750" indent="-285750">
              <a:lnSpc>
                <a:spcPct val="150000"/>
              </a:lnSpc>
              <a:buFont typeface="Arial" panose="020B0604020202020204" pitchFamily="34" charset="0"/>
              <a:buChar char="•"/>
            </a:pP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Đối</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xứng, null-invariant, giá trị ∈ [0,1]. </a:t>
            </a:r>
            <a:endParaRPr lang="vi-VN" sz="1600" dirty="0">
              <a:solidFill>
                <a:srgbClr val="1F2937"/>
              </a:solidFill>
              <a:latin typeface="Times New Roman" panose="02020603050405020304" pitchFamily="18" charset="0"/>
              <a:ea typeface="Calibri"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Dùng</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bổ sung cho Support / Confidence / Lift —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K</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hông</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thay thế Lift.</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572000" cy="4572000"/>
          </a:xfrm>
          <a:prstGeom prst="ellipse">
            <a:avLst/>
          </a:prstGeom>
          <a:solidFill>
            <a:srgbClr val="028090">
              <a:alpha val="40000"/>
            </a:srgbClr>
          </a:solidFill>
          <a:ln/>
        </p:spPr>
      </p:sp>
      <p:sp>
        <p:nvSpPr>
          <p:cNvPr id="4" name="Text 2"/>
          <p:cNvSpPr txBox="1"/>
          <p:nvPr/>
        </p:nvSpPr>
        <p:spPr>
          <a:xfrm>
            <a:off x="548640" y="749808"/>
            <a:ext cx="10789920" cy="640080"/>
          </a:xfrm>
          <a:prstGeom prst="rect">
            <a:avLst/>
          </a:prstGeom>
          <a:noFill/>
          <a:ln/>
        </p:spPr>
        <p:txBody>
          <a:bodyPr wrap="square" lIns="0" tIns="0" rIns="0" bIns="0" rtlCol="0" anchor="ctr"/>
          <a:lstStyle/>
          <a:p>
            <a:pPr marL="0" indent="0">
              <a:buNone/>
            </a:pPr>
            <a:r>
              <a:rPr lang="vi-VN" sz="2500" b="1" dirty="0">
                <a:latin typeface="Times New Roman" panose="02020603050405020304" pitchFamily="18" charset="0"/>
                <a:ea typeface="Cambria" pitchFamily="34" charset="-122"/>
                <a:cs typeface="Times New Roman" panose="02020603050405020304" pitchFamily="18" charset="0"/>
              </a:rPr>
              <a:t>Lý do</a:t>
            </a:r>
            <a:r>
              <a:rPr lang="en-US" sz="2500" b="1" dirty="0">
                <a:latin typeface="Times New Roman" panose="02020603050405020304" pitchFamily="18" charset="0"/>
                <a:ea typeface="Cambria" pitchFamily="34" charset="-122"/>
                <a:cs typeface="Times New Roman" panose="02020603050405020304" pitchFamily="18" charset="0"/>
              </a:rPr>
              <a:t> cần 2 mốc Snapshot khác nhau cho RFM và </a:t>
            </a:r>
            <a:r>
              <a:rPr lang="en-US" sz="2500" b="1" dirty="0" err="1">
                <a:latin typeface="Times New Roman" panose="02020603050405020304" pitchFamily="18" charset="0"/>
                <a:ea typeface="Cambria" pitchFamily="34" charset="-122"/>
                <a:cs typeface="Times New Roman" panose="02020603050405020304" pitchFamily="18" charset="0"/>
              </a:rPr>
              <a:t>cho</a:t>
            </a:r>
            <a:r>
              <a:rPr lang="en-US" sz="2500" b="1" dirty="0">
                <a:latin typeface="Times New Roman" panose="02020603050405020304" pitchFamily="18" charset="0"/>
                <a:ea typeface="Cambria" pitchFamily="34" charset="-122"/>
                <a:cs typeface="Times New Roman" panose="02020603050405020304" pitchFamily="18" charset="0"/>
              </a:rPr>
              <a:t> Churn</a:t>
            </a:r>
            <a:endParaRPr lang="en-US" sz="25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722432"/>
            <a:ext cx="5486400" cy="3977640"/>
          </a:xfrm>
          <a:prstGeom prst="roundRect">
            <a:avLst>
              <a:gd name="adj" fmla="val 2299"/>
            </a:avLst>
          </a:prstGeom>
          <a:solidFill>
            <a:srgbClr val="24313A"/>
          </a:solidFill>
          <a:ln/>
        </p:spPr>
      </p:sp>
      <p:sp>
        <p:nvSpPr>
          <p:cNvPr id="6" name="Text 4"/>
          <p:cNvSpPr txBox="1"/>
          <p:nvPr/>
        </p:nvSpPr>
        <p:spPr>
          <a:xfrm>
            <a:off x="822960" y="1905312"/>
            <a:ext cx="4937760" cy="411480"/>
          </a:xfrm>
          <a:prstGeom prst="rect">
            <a:avLst/>
          </a:prstGeom>
          <a:noFill/>
          <a:ln/>
        </p:spPr>
        <p:txBody>
          <a:bodyPr wrap="square" lIns="0" tIns="0" rIns="0" bIns="0" rtlCol="0" anchor="ctr"/>
          <a:lstStyle/>
          <a:p>
            <a:pPr marL="0" indent="0">
              <a:buNone/>
            </a:pPr>
            <a:r>
              <a:rPr lang="en-US" b="1" dirty="0">
                <a:solidFill>
                  <a:srgbClr val="02C39A"/>
                </a:solidFill>
                <a:latin typeface="Times New Roman" panose="02020603050405020304" pitchFamily="18" charset="0"/>
                <a:ea typeface="Calibri" pitchFamily="34" charset="-122"/>
                <a:cs typeface="Times New Roman" panose="02020603050405020304" pitchFamily="18" charset="0"/>
              </a:rPr>
              <a:t>Customer_RFM.csv</a:t>
            </a:r>
            <a:endParaRPr lang="en-US" dirty="0">
              <a:latin typeface="Times New Roman" panose="02020603050405020304" pitchFamily="18" charset="0"/>
              <a:cs typeface="Times New Roman" panose="02020603050405020304" pitchFamily="18" charset="0"/>
            </a:endParaRPr>
          </a:p>
        </p:txBody>
      </p:sp>
      <p:sp>
        <p:nvSpPr>
          <p:cNvPr id="7" name="Text 5"/>
          <p:cNvSpPr txBox="1"/>
          <p:nvPr/>
        </p:nvSpPr>
        <p:spPr>
          <a:xfrm>
            <a:off x="822960" y="2289360"/>
            <a:ext cx="4937760" cy="320040"/>
          </a:xfrm>
          <a:prstGeom prst="rect">
            <a:avLst/>
          </a:prstGeom>
          <a:noFill/>
          <a:ln/>
        </p:spPr>
        <p:txBody>
          <a:bodyPr wrap="square" lIns="0" tIns="0" rIns="0" bIns="0" rtlCol="0" anchor="ctr"/>
          <a:lstStyle/>
          <a:p>
            <a:pPr marL="0" indent="0">
              <a:buNone/>
            </a:pPr>
            <a:r>
              <a:rPr lang="en-US" sz="1600" i="1" dirty="0">
                <a:solidFill>
                  <a:srgbClr val="FFFF00"/>
                </a:solidFill>
                <a:latin typeface="Times New Roman" panose="02020603050405020304" pitchFamily="18" charset="0"/>
                <a:ea typeface="Calibri" pitchFamily="34" charset="-122"/>
                <a:cs typeface="Times New Roman" panose="02020603050405020304" pitchFamily="18" charset="0"/>
              </a:rPr>
              <a:t>Cho Clustering</a:t>
            </a:r>
            <a:endParaRPr lang="en-US" sz="1600" dirty="0">
              <a:solidFill>
                <a:srgbClr val="FFFF00"/>
              </a:solidFill>
              <a:latin typeface="Times New Roman" panose="02020603050405020304" pitchFamily="18" charset="0"/>
              <a:cs typeface="Times New Roman" panose="02020603050405020304" pitchFamily="18" charset="0"/>
            </a:endParaRPr>
          </a:p>
        </p:txBody>
      </p:sp>
      <p:sp>
        <p:nvSpPr>
          <p:cNvPr id="8" name="Shape 6"/>
          <p:cNvSpPr/>
          <p:nvPr/>
        </p:nvSpPr>
        <p:spPr>
          <a:xfrm>
            <a:off x="822960" y="2655120"/>
            <a:ext cx="4937760" cy="0"/>
          </a:xfrm>
          <a:prstGeom prst="line">
            <a:avLst/>
          </a:prstGeom>
          <a:noFill/>
          <a:ln w="12700">
            <a:solidFill>
              <a:srgbClr val="028090"/>
            </a:solidFill>
            <a:prstDash val="solid"/>
          </a:ln>
        </p:spPr>
      </p:sp>
      <p:sp>
        <p:nvSpPr>
          <p:cNvPr id="9" name="Text 7"/>
          <p:cNvSpPr txBox="1"/>
          <p:nvPr/>
        </p:nvSpPr>
        <p:spPr>
          <a:xfrm>
            <a:off x="822960" y="2773992"/>
            <a:ext cx="4937760" cy="502920"/>
          </a:xfrm>
          <a:prstGeom prst="rect">
            <a:avLst/>
          </a:prstGeom>
          <a:noFill/>
          <a:ln/>
        </p:spPr>
        <p:txBody>
          <a:bodyPr wrap="square" lIns="0" tIns="0" rIns="0" bIns="0" rtlCol="0" anchor="ct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Snapshot = </a:t>
            </a:r>
            <a:r>
              <a:rPr lang="vi-VN" sz="1600" b="1" dirty="0">
                <a:solidFill>
                  <a:srgbClr val="FFFFFF"/>
                </a:solidFill>
                <a:latin typeface="Times New Roman" panose="02020603050405020304" pitchFamily="18" charset="0"/>
                <a:ea typeface="Calibri" pitchFamily="34" charset="-122"/>
                <a:cs typeface="Times New Roman" panose="02020603050405020304" pitchFamily="18" charset="0"/>
              </a:rPr>
              <a:t>N</a:t>
            </a:r>
            <a:r>
              <a:rPr lang="en-US" sz="1600" b="1" dirty="0" err="1">
                <a:solidFill>
                  <a:srgbClr val="FFFFFF"/>
                </a:solidFill>
                <a:latin typeface="Times New Roman" panose="02020603050405020304" pitchFamily="18" charset="0"/>
                <a:ea typeface="Calibri" pitchFamily="34" charset="-122"/>
                <a:cs typeface="Times New Roman" panose="02020603050405020304" pitchFamily="18" charset="0"/>
              </a:rPr>
              <a:t>gày</a:t>
            </a: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 cuối dữ liệu (2011-12-09)</a:t>
            </a:r>
            <a:endParaRPr lang="en-US" sz="1600" dirty="0">
              <a:latin typeface="Times New Roman" panose="02020603050405020304" pitchFamily="18" charset="0"/>
              <a:cs typeface="Times New Roman" panose="02020603050405020304" pitchFamily="18" charset="0"/>
            </a:endParaRPr>
          </a:p>
        </p:txBody>
      </p:sp>
      <p:sp>
        <p:nvSpPr>
          <p:cNvPr id="10" name="Text 8"/>
          <p:cNvSpPr txBox="1"/>
          <p:nvPr/>
        </p:nvSpPr>
        <p:spPr>
          <a:xfrm>
            <a:off x="822960" y="3276912"/>
            <a:ext cx="4937760" cy="1051560"/>
          </a:xfrm>
          <a:prstGeom prst="rect">
            <a:avLst/>
          </a:prstGeom>
          <a:noFill/>
          <a:ln/>
        </p:spPr>
        <p:txBody>
          <a:bodyPr wrap="square" lIns="0" tIns="0" rIns="0" bIns="0" rtlCol="0" anchor="ctr"/>
          <a:lstStyle/>
          <a:p>
            <a:pPr marL="0" indent="0">
              <a:buNone/>
            </a:pP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Mô tả khách hàng dựa </a:t>
            </a:r>
            <a:r>
              <a:rPr lang="en-US" sz="1600" dirty="0" err="1">
                <a:solidFill>
                  <a:srgbClr val="FFC000"/>
                </a:solidFill>
                <a:latin typeface="Times New Roman" panose="02020603050405020304" pitchFamily="18" charset="0"/>
                <a:ea typeface="Calibri" pitchFamily="34" charset="-122"/>
                <a:cs typeface="Times New Roman" panose="02020603050405020304" pitchFamily="18" charset="0"/>
              </a:rPr>
              <a:t>trên</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FFC000"/>
                </a:solidFill>
                <a:latin typeface="Times New Roman" panose="02020603050405020304" pitchFamily="18" charset="0"/>
                <a:ea typeface="Calibri" pitchFamily="34" charset="-122"/>
                <a:cs typeface="Times New Roman" panose="02020603050405020304" pitchFamily="18" charset="0"/>
              </a:rPr>
              <a:t>toàn bộ</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a:t>
            </a:r>
            <a:r>
              <a:rPr lang="en-US" sz="1600" dirty="0" err="1">
                <a:solidFill>
                  <a:srgbClr val="FFC000"/>
                </a:solidFill>
                <a:latin typeface="Times New Roman" panose="02020603050405020304" pitchFamily="18" charset="0"/>
                <a:ea typeface="Calibri" pitchFamily="34" charset="-122"/>
                <a:cs typeface="Times New Roman" panose="02020603050405020304" pitchFamily="18" charset="0"/>
              </a:rPr>
              <a:t>lịch</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FFC000"/>
                </a:solidFill>
                <a:latin typeface="Times New Roman" panose="02020603050405020304" pitchFamily="18" charset="0"/>
                <a:ea typeface="Calibri" pitchFamily="34" charset="-122"/>
                <a:cs typeface="Times New Roman" panose="02020603050405020304" pitchFamily="18" charset="0"/>
              </a:rPr>
              <a:t>sử,</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không có yếu tố dự đoán tương lai nên dùng hết dữ liệu là hợp lệ.</a:t>
            </a:r>
            <a:endParaRPr lang="en-US" sz="1600" dirty="0">
              <a:solidFill>
                <a:srgbClr val="FFC000"/>
              </a:solidFill>
              <a:latin typeface="Times New Roman" panose="02020603050405020304" pitchFamily="18" charset="0"/>
              <a:cs typeface="Times New Roman" panose="02020603050405020304" pitchFamily="18" charset="0"/>
            </a:endParaRPr>
          </a:p>
        </p:txBody>
      </p:sp>
      <p:sp>
        <p:nvSpPr>
          <p:cNvPr id="11" name="Shape 9"/>
          <p:cNvSpPr/>
          <p:nvPr/>
        </p:nvSpPr>
        <p:spPr>
          <a:xfrm>
            <a:off x="822960" y="4419912"/>
            <a:ext cx="4937760" cy="0"/>
          </a:xfrm>
          <a:prstGeom prst="line">
            <a:avLst/>
          </a:prstGeom>
          <a:noFill/>
          <a:ln w="12700">
            <a:solidFill>
              <a:srgbClr val="3A4A55"/>
            </a:solidFill>
            <a:prstDash val="solid"/>
          </a:ln>
        </p:spPr>
      </p:sp>
      <p:sp>
        <p:nvSpPr>
          <p:cNvPr id="12" name="Text 10"/>
          <p:cNvSpPr txBox="1"/>
          <p:nvPr/>
        </p:nvSpPr>
        <p:spPr>
          <a:xfrm>
            <a:off x="822960" y="4557072"/>
            <a:ext cx="4937760" cy="320040"/>
          </a:xfrm>
          <a:prstGeom prst="rect">
            <a:avLst/>
          </a:prstGeom>
          <a:noFill/>
          <a:ln/>
        </p:spPr>
        <p:txBody>
          <a:bodyPr wrap="square" lIns="0" tIns="0" rIns="0" bIns="0" rtlCol="0" anchor="ctr"/>
          <a:lstStyle/>
          <a:p>
            <a:pPr marL="0" indent="0">
              <a:buNone/>
            </a:pPr>
            <a:r>
              <a:rPr lang="en-US" sz="1600" b="1" dirty="0">
                <a:solidFill>
                  <a:srgbClr val="FFFF00"/>
                </a:solidFill>
                <a:latin typeface="Times New Roman" panose="02020603050405020304" pitchFamily="18" charset="0"/>
                <a:ea typeface="Calibri" pitchFamily="34" charset="-122"/>
                <a:cs typeface="Times New Roman" panose="02020603050405020304" pitchFamily="18" charset="0"/>
              </a:rPr>
              <a:t>5.853 khách hàng</a:t>
            </a:r>
            <a:endParaRPr lang="en-US" sz="1600" dirty="0">
              <a:solidFill>
                <a:srgbClr val="FFFF00"/>
              </a:solidFill>
              <a:latin typeface="Times New Roman" panose="02020603050405020304" pitchFamily="18" charset="0"/>
              <a:cs typeface="Times New Roman" panose="02020603050405020304" pitchFamily="18" charset="0"/>
            </a:endParaRPr>
          </a:p>
        </p:txBody>
      </p:sp>
      <p:sp>
        <p:nvSpPr>
          <p:cNvPr id="13" name="Text 11"/>
          <p:cNvSpPr txBox="1"/>
          <p:nvPr/>
        </p:nvSpPr>
        <p:spPr>
          <a:xfrm>
            <a:off x="822960" y="4877112"/>
            <a:ext cx="4937760" cy="548640"/>
          </a:xfrm>
          <a:prstGeom prst="rect">
            <a:avLst/>
          </a:prstGeom>
          <a:noFill/>
          <a:ln/>
        </p:spPr>
        <p:txBody>
          <a:bodyPr wrap="square" lIns="0" tIns="0" rIns="0" bIns="0" rtlCol="0" anchor="ctr"/>
          <a:lstStyle/>
          <a:p>
            <a:pPr marL="0" indent="0">
              <a:buNone/>
            </a:pPr>
            <a:r>
              <a:rPr lang="en-US" sz="1600" dirty="0">
                <a:solidFill>
                  <a:srgbClr val="FFFF00"/>
                </a:solidFill>
                <a:latin typeface="Times New Roman" panose="02020603050405020304" pitchFamily="18" charset="0"/>
                <a:ea typeface="Calibri" pitchFamily="34" charset="-122"/>
                <a:cs typeface="Times New Roman" panose="02020603050405020304" pitchFamily="18" charset="0"/>
              </a:rPr>
              <a:t>Frequency TB = 6.25   ·   Monetary TB = £2.916</a:t>
            </a:r>
            <a:endParaRPr lang="en-US" sz="1600" dirty="0">
              <a:solidFill>
                <a:srgbClr val="FFFF00"/>
              </a:solidFill>
              <a:latin typeface="Times New Roman" panose="02020603050405020304" pitchFamily="18" charset="0"/>
              <a:cs typeface="Times New Roman" panose="02020603050405020304" pitchFamily="18" charset="0"/>
            </a:endParaRPr>
          </a:p>
        </p:txBody>
      </p:sp>
      <p:sp>
        <p:nvSpPr>
          <p:cNvPr id="14" name="Shape 12"/>
          <p:cNvSpPr/>
          <p:nvPr/>
        </p:nvSpPr>
        <p:spPr>
          <a:xfrm>
            <a:off x="6172200" y="1722432"/>
            <a:ext cx="5486400" cy="3977640"/>
          </a:xfrm>
          <a:prstGeom prst="roundRect">
            <a:avLst>
              <a:gd name="adj" fmla="val 2299"/>
            </a:avLst>
          </a:prstGeom>
          <a:solidFill>
            <a:srgbClr val="24313A"/>
          </a:solidFill>
          <a:ln/>
        </p:spPr>
      </p:sp>
      <p:sp>
        <p:nvSpPr>
          <p:cNvPr id="15" name="Text 13"/>
          <p:cNvSpPr txBox="1"/>
          <p:nvPr/>
        </p:nvSpPr>
        <p:spPr>
          <a:xfrm>
            <a:off x="6446520" y="1905312"/>
            <a:ext cx="4937760" cy="411480"/>
          </a:xfrm>
          <a:prstGeom prst="rect">
            <a:avLst/>
          </a:prstGeom>
          <a:noFill/>
          <a:ln/>
        </p:spPr>
        <p:txBody>
          <a:bodyPr wrap="square" lIns="0" tIns="0" rIns="0" bIns="0" rtlCol="0" anchor="ctr"/>
          <a:lstStyle/>
          <a:p>
            <a:pPr marL="0" indent="0">
              <a:buNone/>
            </a:pPr>
            <a:r>
              <a:rPr lang="en-US" b="1" dirty="0">
                <a:solidFill>
                  <a:srgbClr val="02C39A"/>
                </a:solidFill>
                <a:latin typeface="Times New Roman" panose="02020603050405020304" pitchFamily="18" charset="0"/>
                <a:ea typeface="Calibri" pitchFamily="34" charset="-122"/>
                <a:cs typeface="Times New Roman" panose="02020603050405020304" pitchFamily="18" charset="0"/>
              </a:rPr>
              <a:t>Customer_Churn_Features.csv</a:t>
            </a:r>
            <a:endParaRPr lang="en-US" dirty="0">
              <a:latin typeface="Times New Roman" panose="02020603050405020304" pitchFamily="18" charset="0"/>
              <a:cs typeface="Times New Roman" panose="02020603050405020304" pitchFamily="18" charset="0"/>
            </a:endParaRPr>
          </a:p>
        </p:txBody>
      </p:sp>
      <p:sp>
        <p:nvSpPr>
          <p:cNvPr id="16" name="Text 14"/>
          <p:cNvSpPr txBox="1"/>
          <p:nvPr/>
        </p:nvSpPr>
        <p:spPr>
          <a:xfrm>
            <a:off x="6446520" y="2289360"/>
            <a:ext cx="4937760" cy="320040"/>
          </a:xfrm>
          <a:prstGeom prst="rect">
            <a:avLst/>
          </a:prstGeom>
          <a:noFill/>
          <a:ln/>
        </p:spPr>
        <p:txBody>
          <a:bodyPr wrap="square" lIns="0" tIns="0" rIns="0" bIns="0" rtlCol="0" anchor="ctr"/>
          <a:lstStyle/>
          <a:p>
            <a:pPr marL="0" indent="0">
              <a:buNone/>
            </a:pPr>
            <a:r>
              <a:rPr lang="en-US" sz="1600" i="1" dirty="0">
                <a:solidFill>
                  <a:srgbClr val="FFFF00"/>
                </a:solidFill>
                <a:latin typeface="Times New Roman" panose="02020603050405020304" pitchFamily="18" charset="0"/>
                <a:ea typeface="Calibri" pitchFamily="34" charset="-122"/>
                <a:cs typeface="Times New Roman" panose="02020603050405020304" pitchFamily="18" charset="0"/>
              </a:rPr>
              <a:t>Cho Churn</a:t>
            </a:r>
            <a:endParaRPr lang="en-US" sz="1600" dirty="0">
              <a:solidFill>
                <a:srgbClr val="FFFF00"/>
              </a:solidFill>
              <a:latin typeface="Times New Roman" panose="02020603050405020304" pitchFamily="18" charset="0"/>
              <a:cs typeface="Times New Roman" panose="02020603050405020304" pitchFamily="18" charset="0"/>
            </a:endParaRPr>
          </a:p>
        </p:txBody>
      </p:sp>
      <p:sp>
        <p:nvSpPr>
          <p:cNvPr id="17" name="Shape 15"/>
          <p:cNvSpPr/>
          <p:nvPr/>
        </p:nvSpPr>
        <p:spPr>
          <a:xfrm>
            <a:off x="6446520" y="2655120"/>
            <a:ext cx="4937760" cy="0"/>
          </a:xfrm>
          <a:prstGeom prst="line">
            <a:avLst/>
          </a:prstGeom>
          <a:noFill/>
          <a:ln w="12700">
            <a:solidFill>
              <a:srgbClr val="028090"/>
            </a:solidFill>
            <a:prstDash val="solid"/>
          </a:ln>
        </p:spPr>
      </p:sp>
      <p:sp>
        <p:nvSpPr>
          <p:cNvPr id="18" name="Text 16"/>
          <p:cNvSpPr txBox="1"/>
          <p:nvPr/>
        </p:nvSpPr>
        <p:spPr>
          <a:xfrm>
            <a:off x="6446520" y="2773992"/>
            <a:ext cx="5212080" cy="502920"/>
          </a:xfrm>
          <a:prstGeom prst="rect">
            <a:avLst/>
          </a:prstGeom>
          <a:noFill/>
          <a:ln/>
        </p:spPr>
        <p:txBody>
          <a:bodyPr wrap="square" lIns="0" tIns="0" rIns="0" bIns="0" rtlCol="0" anchor="ct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Snapshot = </a:t>
            </a:r>
            <a:r>
              <a:rPr lang="vi-VN" sz="1600" b="1" dirty="0">
                <a:solidFill>
                  <a:srgbClr val="FFFFFF"/>
                </a:solidFill>
                <a:latin typeface="Times New Roman" panose="02020603050405020304" pitchFamily="18" charset="0"/>
                <a:ea typeface="Calibri" pitchFamily="34" charset="-122"/>
                <a:cs typeface="Times New Roman" panose="02020603050405020304" pitchFamily="18" charset="0"/>
              </a:rPr>
              <a:t>C</a:t>
            </a:r>
            <a:r>
              <a:rPr lang="en-US" sz="1600" b="1" dirty="0" err="1">
                <a:solidFill>
                  <a:srgbClr val="FFFFFF"/>
                </a:solidFill>
                <a:latin typeface="Times New Roman" panose="02020603050405020304" pitchFamily="18" charset="0"/>
                <a:ea typeface="Calibri" pitchFamily="34" charset="-122"/>
                <a:cs typeface="Times New Roman" panose="02020603050405020304" pitchFamily="18" charset="0"/>
              </a:rPr>
              <a:t>ắt</a:t>
            </a: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 sớm hơn (P75 = 70 </a:t>
            </a:r>
            <a:r>
              <a:rPr lang="vi-VN" sz="1600" b="1" dirty="0">
                <a:solidFill>
                  <a:srgbClr val="FFFFFF"/>
                </a:solidFill>
                <a:latin typeface="Times New Roman" panose="02020603050405020304" pitchFamily="18" charset="0"/>
                <a:ea typeface="Calibri" pitchFamily="34" charset="-122"/>
                <a:cs typeface="Times New Roman" panose="02020603050405020304" pitchFamily="18" charset="0"/>
              </a:rPr>
              <a:t>N</a:t>
            </a:r>
            <a:r>
              <a:rPr lang="en-US" sz="1600" b="1" dirty="0" err="1">
                <a:solidFill>
                  <a:srgbClr val="FFFFFF"/>
                </a:solidFill>
                <a:latin typeface="Times New Roman" panose="02020603050405020304" pitchFamily="18" charset="0"/>
                <a:ea typeface="Calibri" pitchFamily="34" charset="-122"/>
                <a:cs typeface="Times New Roman" panose="02020603050405020304" pitchFamily="18" charset="0"/>
              </a:rPr>
              <a:t>gày</a:t>
            </a: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 trước ngày cuối)</a:t>
            </a:r>
            <a:endParaRPr lang="en-US" sz="1600" dirty="0">
              <a:latin typeface="Times New Roman" panose="02020603050405020304" pitchFamily="18" charset="0"/>
              <a:cs typeface="Times New Roman" panose="02020603050405020304" pitchFamily="18" charset="0"/>
            </a:endParaRPr>
          </a:p>
        </p:txBody>
      </p:sp>
      <p:sp>
        <p:nvSpPr>
          <p:cNvPr id="19" name="Text 17"/>
          <p:cNvSpPr txBox="1"/>
          <p:nvPr/>
        </p:nvSpPr>
        <p:spPr>
          <a:xfrm>
            <a:off x="6446520" y="3276912"/>
            <a:ext cx="4937760" cy="1051560"/>
          </a:xfrm>
          <a:prstGeom prst="rect">
            <a:avLst/>
          </a:prstGeom>
          <a:noFill/>
          <a:ln/>
        </p:spPr>
        <p:txBody>
          <a:bodyPr wrap="square" lIns="0" tIns="0" rIns="0" bIns="0" rtlCol="0" anchor="ctr"/>
          <a:lstStyle/>
          <a:p>
            <a:pPr marL="0" indent="0">
              <a:buNone/>
            </a:pP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Giao </a:t>
            </a:r>
            <a:r>
              <a:rPr lang="en-US" sz="1600" dirty="0" err="1">
                <a:solidFill>
                  <a:srgbClr val="FFC000"/>
                </a:solidFill>
                <a:latin typeface="Times New Roman" panose="02020603050405020304" pitchFamily="18" charset="0"/>
                <a:ea typeface="Calibri" pitchFamily="34" charset="-122"/>
                <a:cs typeface="Times New Roman" panose="02020603050405020304" pitchFamily="18" charset="0"/>
              </a:rPr>
              <a:t>dịch</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FFC000"/>
                </a:solidFill>
                <a:latin typeface="Times New Roman" panose="02020603050405020304" pitchFamily="18" charset="0"/>
                <a:ea typeface="Calibri" pitchFamily="34" charset="-122"/>
                <a:cs typeface="Times New Roman" panose="02020603050405020304" pitchFamily="18" charset="0"/>
              </a:rPr>
              <a:t>sau</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FFC000"/>
                </a:solidFill>
                <a:latin typeface="Times New Roman" panose="02020603050405020304" pitchFamily="18" charset="0"/>
                <a:ea typeface="Calibri" pitchFamily="34" charset="-122"/>
                <a:cs typeface="Times New Roman" panose="02020603050405020304" pitchFamily="18" charset="0"/>
              </a:rPr>
              <a:t>S</a:t>
            </a:r>
            <a:r>
              <a:rPr lang="en-US" sz="1600" dirty="0" err="1">
                <a:solidFill>
                  <a:srgbClr val="FFC000"/>
                </a:solidFill>
                <a:latin typeface="Times New Roman" panose="02020603050405020304" pitchFamily="18" charset="0"/>
                <a:ea typeface="Calibri" pitchFamily="34" charset="-122"/>
                <a:cs typeface="Times New Roman" panose="02020603050405020304" pitchFamily="18" charset="0"/>
              </a:rPr>
              <a:t>napshot</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bị loại khỏi </a:t>
            </a:r>
            <a:r>
              <a:rPr lang="en-US" sz="1600" dirty="0" err="1">
                <a:solidFill>
                  <a:srgbClr val="FFC000"/>
                </a:solidFill>
                <a:latin typeface="Times New Roman" panose="02020603050405020304" pitchFamily="18" charset="0"/>
                <a:ea typeface="Calibri" pitchFamily="34" charset="-122"/>
                <a:cs typeface="Times New Roman" panose="02020603050405020304" pitchFamily="18" charset="0"/>
              </a:rPr>
              <a:t>đặc</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FFC000"/>
                </a:solidFill>
                <a:latin typeface="Times New Roman" panose="02020603050405020304" pitchFamily="18" charset="0"/>
                <a:ea typeface="Calibri" pitchFamily="34" charset="-122"/>
                <a:cs typeface="Times New Roman" panose="02020603050405020304" pitchFamily="18" charset="0"/>
              </a:rPr>
              <a:t>trưng, </a:t>
            </a:r>
            <a:r>
              <a:rPr lang="en-US" sz="1600" dirty="0" err="1">
                <a:solidFill>
                  <a:srgbClr val="FFC000"/>
                </a:solidFill>
                <a:latin typeface="Times New Roman" panose="02020603050405020304" pitchFamily="18" charset="0"/>
                <a:ea typeface="Calibri" pitchFamily="34" charset="-122"/>
                <a:cs typeface="Times New Roman" panose="02020603050405020304" pitchFamily="18" charset="0"/>
              </a:rPr>
              <a:t>để</a:t>
            </a:r>
            <a:r>
              <a:rPr lang="en-US" sz="1600" dirty="0">
                <a:solidFill>
                  <a:srgbClr val="FFC000"/>
                </a:solidFill>
                <a:latin typeface="Times New Roman" panose="02020603050405020304" pitchFamily="18" charset="0"/>
                <a:ea typeface="Calibri" pitchFamily="34" charset="-122"/>
                <a:cs typeface="Times New Roman" panose="02020603050405020304" pitchFamily="18" charset="0"/>
              </a:rPr>
              <a:t> dành phần đó xác nhận khách có thực sự quay lại hay không (sinh nhãn).</a:t>
            </a:r>
            <a:endParaRPr lang="en-US" sz="1600" dirty="0">
              <a:solidFill>
                <a:srgbClr val="FFC000"/>
              </a:solidFill>
              <a:latin typeface="Times New Roman" panose="02020603050405020304" pitchFamily="18" charset="0"/>
              <a:cs typeface="Times New Roman" panose="02020603050405020304" pitchFamily="18" charset="0"/>
            </a:endParaRPr>
          </a:p>
        </p:txBody>
      </p:sp>
      <p:sp>
        <p:nvSpPr>
          <p:cNvPr id="20" name="Shape 18"/>
          <p:cNvSpPr/>
          <p:nvPr/>
        </p:nvSpPr>
        <p:spPr>
          <a:xfrm>
            <a:off x="6446520" y="4419912"/>
            <a:ext cx="4937760" cy="0"/>
          </a:xfrm>
          <a:prstGeom prst="line">
            <a:avLst/>
          </a:prstGeom>
          <a:noFill/>
          <a:ln w="12700">
            <a:solidFill>
              <a:srgbClr val="3A4A55"/>
            </a:solidFill>
            <a:prstDash val="solid"/>
          </a:ln>
        </p:spPr>
      </p:sp>
      <p:sp>
        <p:nvSpPr>
          <p:cNvPr id="21" name="Text 19"/>
          <p:cNvSpPr txBox="1"/>
          <p:nvPr/>
        </p:nvSpPr>
        <p:spPr>
          <a:xfrm>
            <a:off x="6446520" y="4557072"/>
            <a:ext cx="4937760" cy="320040"/>
          </a:xfrm>
          <a:prstGeom prst="rect">
            <a:avLst/>
          </a:prstGeom>
          <a:noFill/>
          <a:ln/>
        </p:spPr>
        <p:txBody>
          <a:bodyPr wrap="square" lIns="0" tIns="0" rIns="0" bIns="0" rtlCol="0" anchor="ctr"/>
          <a:lstStyle/>
          <a:p>
            <a:pPr marL="0" indent="0">
              <a:buNone/>
            </a:pPr>
            <a:r>
              <a:rPr lang="en-US" sz="1600" b="1" dirty="0">
                <a:solidFill>
                  <a:srgbClr val="FFFF00"/>
                </a:solidFill>
                <a:latin typeface="Times New Roman" panose="02020603050405020304" pitchFamily="18" charset="0"/>
                <a:ea typeface="Calibri" pitchFamily="34" charset="-122"/>
                <a:cs typeface="Times New Roman" panose="02020603050405020304" pitchFamily="18" charset="0"/>
              </a:rPr>
              <a:t>5.472 khách hàng</a:t>
            </a:r>
            <a:endParaRPr lang="en-US" sz="1600" dirty="0">
              <a:solidFill>
                <a:srgbClr val="FFFF00"/>
              </a:solidFill>
              <a:latin typeface="Times New Roman" panose="02020603050405020304" pitchFamily="18" charset="0"/>
              <a:cs typeface="Times New Roman" panose="02020603050405020304" pitchFamily="18" charset="0"/>
            </a:endParaRPr>
          </a:p>
        </p:txBody>
      </p:sp>
      <p:sp>
        <p:nvSpPr>
          <p:cNvPr id="22" name="Text 20"/>
          <p:cNvSpPr txBox="1"/>
          <p:nvPr/>
        </p:nvSpPr>
        <p:spPr>
          <a:xfrm>
            <a:off x="6446520" y="4877112"/>
            <a:ext cx="4937760" cy="548640"/>
          </a:xfrm>
          <a:prstGeom prst="rect">
            <a:avLst/>
          </a:prstGeom>
          <a:noFill/>
          <a:ln/>
        </p:spPr>
        <p:txBody>
          <a:bodyPr wrap="square" lIns="0" tIns="0" rIns="0" bIns="0" rtlCol="0" anchor="ctr"/>
          <a:lstStyle/>
          <a:p>
            <a:pPr marL="0" indent="0">
              <a:buNone/>
            </a:pPr>
            <a:r>
              <a:rPr lang="en-US" sz="1600" dirty="0">
                <a:solidFill>
                  <a:srgbClr val="FFFF00"/>
                </a:solidFill>
                <a:latin typeface="Times New Roman" panose="02020603050405020304" pitchFamily="18" charset="0"/>
                <a:ea typeface="Calibri" pitchFamily="34" charset="-122"/>
                <a:cs typeface="Times New Roman" panose="02020603050405020304" pitchFamily="18" charset="0"/>
              </a:rPr>
              <a:t>Frequency TB = 5.80   ·   Monetary TB = £2.688</a:t>
            </a:r>
            <a:endParaRPr lang="en-US" sz="1600" dirty="0">
              <a:solidFill>
                <a:srgbClr val="FFFF00"/>
              </a:solidFill>
              <a:latin typeface="Times New Roman" panose="02020603050405020304" pitchFamily="18" charset="0"/>
              <a:cs typeface="Times New Roman" panose="02020603050405020304" pitchFamily="18" charset="0"/>
            </a:endParaRPr>
          </a:p>
        </p:txBody>
      </p:sp>
      <p:sp>
        <p:nvSpPr>
          <p:cNvPr id="25" name="Text 23"/>
          <p:cNvSpPr txBox="1"/>
          <p:nvPr/>
        </p:nvSpPr>
        <p:spPr>
          <a:xfrm>
            <a:off x="11521440" y="6528816"/>
            <a:ext cx="457200" cy="274320"/>
          </a:xfrm>
          <a:prstGeom prst="rect">
            <a:avLst/>
          </a:prstGeom>
          <a:noFill/>
          <a:ln/>
        </p:spPr>
        <p:txBody>
          <a:bodyPr wrap="square" lIns="0" tIns="0" rIns="0" bIns="0" rtlCol="0" anchor="ctr"/>
          <a:lstStyle/>
          <a:p>
            <a:pPr marL="0" indent="0" algn="r">
              <a:buNone/>
            </a:pPr>
            <a:r>
              <a:rPr lang="vi-VN" sz="900" dirty="0">
                <a:solidFill>
                  <a:srgbClr val="7F8C8D"/>
                </a:solidFill>
                <a:latin typeface="Times New Roman" panose="02020603050405020304" pitchFamily="18" charset="0"/>
                <a:ea typeface="Calibri" pitchFamily="34" charset="-122"/>
                <a:cs typeface="Times New Roman" panose="02020603050405020304" pitchFamily="18" charset="0"/>
              </a:rPr>
              <a:t>20</a:t>
            </a:r>
            <a:endParaRPr lang="en-US" sz="900" dirty="0">
              <a:latin typeface="Times New Roman" panose="02020603050405020304" pitchFamily="18" charset="0"/>
              <a:cs typeface="Times New Roman" panose="02020603050405020304" pitchFamily="18" charset="0"/>
            </a:endParaRPr>
          </a:p>
        </p:txBody>
      </p:sp>
      <p:sp>
        <p:nvSpPr>
          <p:cNvPr id="27" name="Text 0">
            <a:extLst>
              <a:ext uri="{FF2B5EF4-FFF2-40B4-BE49-F238E27FC236}">
                <a16:creationId xmlns:a16="http://schemas.microsoft.com/office/drawing/2014/main" id="{B02A2A14-0D8E-ADA2-385F-2EF6A38A1B43}"/>
              </a:ext>
            </a:extLst>
          </p:cNvPr>
          <p:cNvSpPr txBox="1"/>
          <p:nvPr/>
        </p:nvSpPr>
        <p:spPr>
          <a:xfrm>
            <a:off x="563166" y="71843"/>
            <a:ext cx="11184072" cy="685800"/>
          </a:xfrm>
          <a:prstGeom prst="rect">
            <a:avLst/>
          </a:prstGeom>
          <a:noFill/>
          <a:ln/>
        </p:spPr>
        <p:txBody>
          <a:bodyPr wrap="square" lIns="0" tIns="0" rIns="0" bIns="0" rtlCol="0" anchor="ctr"/>
          <a:lstStyle/>
          <a:p>
            <a:pPr marL="0" indent="0">
              <a:buNone/>
            </a:pPr>
            <a:r>
              <a:rPr lang="vi-VN" sz="3000" b="1" dirty="0">
                <a:solidFill>
                  <a:srgbClr val="0B2A5B"/>
                </a:solidFill>
                <a:latin typeface="Times New Roman" pitchFamily="34" charset="0"/>
                <a:ea typeface="Times New Roman" pitchFamily="34" charset="-122"/>
                <a:cs typeface="Times New Roman" pitchFamily="34" charset="-120"/>
              </a:rPr>
              <a:t>Điểm mấu chốt của phương pháp luận – Chống rò rỉ dữ liệu </a:t>
            </a:r>
            <a:endParaRPr lang="en-US" sz="3000" dirty="0"/>
          </a:p>
        </p:txBody>
      </p:sp>
      <p:sp>
        <p:nvSpPr>
          <p:cNvPr id="29" name="Text 2">
            <a:extLst>
              <a:ext uri="{FF2B5EF4-FFF2-40B4-BE49-F238E27FC236}">
                <a16:creationId xmlns:a16="http://schemas.microsoft.com/office/drawing/2014/main" id="{84D501E9-4909-D472-CFE1-14B43EA5EAAE}"/>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Times New Roman" panose="02020603050405020304" pitchFamily="18" charset="0"/>
                <a:ea typeface="Calibri" pitchFamily="34" charset="-122"/>
                <a:cs typeface="Times New Roman" panose="02020603050405020304" pitchFamily="18" charset="0"/>
              </a:rPr>
              <a:t>21</a:t>
            </a:r>
            <a:endParaRPr lang="en-US" sz="1000" dirty="0">
              <a:latin typeface="Times New Roman" panose="02020603050405020304" pitchFamily="18" charset="0"/>
              <a:cs typeface="Times New Roman" panose="02020603050405020304" pitchFamily="18" charset="0"/>
            </a:endParaRPr>
          </a:p>
        </p:txBody>
      </p:sp>
      <p:sp>
        <p:nvSpPr>
          <p:cNvPr id="7" name="Text 4"/>
          <p:cNvSpPr txBox="1"/>
          <p:nvPr/>
        </p:nvSpPr>
        <p:spPr>
          <a:xfrm>
            <a:off x="380686" y="4532436"/>
            <a:ext cx="6583680" cy="274320"/>
          </a:xfrm>
          <a:prstGeom prst="rect">
            <a:avLst/>
          </a:prstGeom>
          <a:noFill/>
          <a:ln/>
        </p:spPr>
        <p:txBody>
          <a:bodyPr wrap="square" lIns="0" tIns="0" rIns="0" bIns="0" rtlCol="0" anchor="ctr"/>
          <a:lstStyle/>
          <a:p>
            <a:pPr marL="0" indent="0" algn="ctr">
              <a:buNone/>
            </a:pPr>
            <a:r>
              <a:rPr lang="en-US" sz="1500" i="1" dirty="0">
                <a:latin typeface="Times New Roman" panose="02020603050405020304" pitchFamily="18" charset="0"/>
                <a:ea typeface="Calibri" pitchFamily="34" charset="-122"/>
                <a:cs typeface="Times New Roman" panose="02020603050405020304" pitchFamily="18" charset="0"/>
              </a:rPr>
              <a:t>Hình 6. Phân </a:t>
            </a:r>
            <a:r>
              <a:rPr lang="en-US" sz="1500" i="1" dirty="0" err="1">
                <a:latin typeface="Times New Roman" panose="02020603050405020304" pitchFamily="18" charset="0"/>
                <a:ea typeface="Calibri" pitchFamily="34" charset="-122"/>
                <a:cs typeface="Times New Roman" panose="02020603050405020304" pitchFamily="18" charset="0"/>
              </a:rPr>
              <a:t>phối</a:t>
            </a:r>
            <a:r>
              <a:rPr lang="en-US" sz="1500" i="1" dirty="0">
                <a:latin typeface="Times New Roman" panose="02020603050405020304" pitchFamily="18" charset="0"/>
                <a:ea typeface="Calibri" pitchFamily="34" charset="-122"/>
                <a:cs typeface="Times New Roman" panose="02020603050405020304" pitchFamily="18" charset="0"/>
              </a:rPr>
              <a:t> RFM: </a:t>
            </a:r>
            <a:r>
              <a:rPr lang="en-US" sz="1500" i="1" dirty="0" err="1">
                <a:latin typeface="Times New Roman" panose="02020603050405020304" pitchFamily="18" charset="0"/>
                <a:ea typeface="Calibri" pitchFamily="34" charset="-122"/>
                <a:cs typeface="Times New Roman" panose="02020603050405020304" pitchFamily="18" charset="0"/>
              </a:rPr>
              <a:t>gốc</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và</a:t>
            </a:r>
            <a:r>
              <a:rPr lang="en-US" sz="1500" i="1" dirty="0">
                <a:latin typeface="Times New Roman" panose="02020603050405020304" pitchFamily="18" charset="0"/>
                <a:ea typeface="Calibri" pitchFamily="34" charset="-122"/>
                <a:cs typeface="Times New Roman" panose="02020603050405020304" pitchFamily="18" charset="0"/>
              </a:rPr>
              <a:t> </a:t>
            </a:r>
            <a:r>
              <a:rPr lang="en-US" sz="1500" i="1" dirty="0" err="1">
                <a:latin typeface="Times New Roman" panose="02020603050405020304" pitchFamily="18" charset="0"/>
                <a:ea typeface="Calibri" pitchFamily="34" charset="-122"/>
                <a:cs typeface="Times New Roman" panose="02020603050405020304" pitchFamily="18" charset="0"/>
              </a:rPr>
              <a:t>sau</a:t>
            </a:r>
            <a:r>
              <a:rPr lang="en-US" sz="1500" i="1" dirty="0">
                <a:latin typeface="Times New Roman" panose="02020603050405020304" pitchFamily="18" charset="0"/>
                <a:ea typeface="Calibri" pitchFamily="34" charset="-122"/>
                <a:cs typeface="Times New Roman" panose="02020603050405020304" pitchFamily="18" charset="0"/>
              </a:rPr>
              <a:t> log1p</a:t>
            </a:r>
            <a:endParaRPr lang="en-US" sz="1500" dirty="0">
              <a:latin typeface="Times New Roman" panose="02020603050405020304" pitchFamily="18" charset="0"/>
              <a:cs typeface="Times New Roman" panose="02020603050405020304" pitchFamily="18" charset="0"/>
            </a:endParaRPr>
          </a:p>
        </p:txBody>
      </p:sp>
      <p:graphicFrame>
        <p:nvGraphicFramePr>
          <p:cNvPr id="15" name="Table 0"/>
          <p:cNvGraphicFramePr>
            <a:graphicFrameLocks noGrp="1"/>
          </p:cNvGraphicFramePr>
          <p:nvPr>
            <p:extLst>
              <p:ext uri="{D42A27DB-BD31-4B8C-83A1-F6EECF244321}">
                <p14:modId xmlns:p14="http://schemas.microsoft.com/office/powerpoint/2010/main" val="135205050"/>
              </p:ext>
            </p:extLst>
          </p:nvPr>
        </p:nvGraphicFramePr>
        <p:xfrm>
          <a:off x="548640" y="4943357"/>
          <a:ext cx="6583681" cy="1280160"/>
        </p:xfrm>
        <a:graphic>
          <a:graphicData uri="http://schemas.openxmlformats.org/drawingml/2006/table">
            <a:tbl>
              <a:tblPr/>
              <a:tblGrid>
                <a:gridCol w="1188721">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83464">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Biến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Định nghĩa</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Median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Max</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83464">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Recency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Số ngày từ lần mua cuối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đến</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S</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napshot</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94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738</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Frequency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Số hoá đơn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373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Monetary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Tổng chi tiêu (£)</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856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dirty="0">
                          <a:solidFill>
                            <a:srgbClr val="D64545"/>
                          </a:solidFill>
                          <a:latin typeface="Times New Roman" panose="02020603050405020304" pitchFamily="18" charset="0"/>
                          <a:ea typeface="Calibri" pitchFamily="34" charset="-122"/>
                          <a:cs typeface="Times New Roman" panose="02020603050405020304" pitchFamily="18" charset="0"/>
                        </a:rPr>
                        <a:t>580,987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5"/>
          <p:cNvSpPr/>
          <p:nvPr/>
        </p:nvSpPr>
        <p:spPr>
          <a:xfrm>
            <a:off x="7406640" y="1188720"/>
            <a:ext cx="4233672" cy="4983480"/>
          </a:xfrm>
          <a:prstGeom prst="roundRect">
            <a:avLst>
              <a:gd name="adj" fmla="val 1728"/>
            </a:avLst>
          </a:prstGeom>
          <a:solidFill>
            <a:srgbClr val="F4F6FA"/>
          </a:solidFill>
          <a:ln w="12700">
            <a:solidFill>
              <a:srgbClr val="F4F6FA"/>
            </a:solidFill>
            <a:prstDash val="solid"/>
          </a:ln>
        </p:spPr>
      </p:sp>
      <p:sp>
        <p:nvSpPr>
          <p:cNvPr id="10" name="Text 6"/>
          <p:cNvSpPr txBox="1"/>
          <p:nvPr/>
        </p:nvSpPr>
        <p:spPr>
          <a:xfrm>
            <a:off x="7635240" y="1280160"/>
            <a:ext cx="3776472"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Quyết </a:t>
            </a:r>
            <a:r>
              <a:rPr lang="en-US" b="1" dirty="0" err="1">
                <a:solidFill>
                  <a:srgbClr val="14213D"/>
                </a:solidFill>
                <a:latin typeface="Times New Roman" panose="02020603050405020304" pitchFamily="18" charset="0"/>
                <a:ea typeface="Cambria" pitchFamily="34" charset="-122"/>
                <a:cs typeface="Times New Roman" panose="02020603050405020304" pitchFamily="18" charset="0"/>
              </a:rPr>
              <a:t>định</a:t>
            </a: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 </a:t>
            </a:r>
            <a:r>
              <a:rPr lang="en-US" b="1" dirty="0" err="1">
                <a:solidFill>
                  <a:srgbClr val="14213D"/>
                </a:solidFill>
                <a:latin typeface="Times New Roman" panose="02020603050405020304" pitchFamily="18" charset="0"/>
                <a:ea typeface="Cambria" pitchFamily="34" charset="-122"/>
                <a:cs typeface="Times New Roman" panose="02020603050405020304" pitchFamily="18" charset="0"/>
              </a:rPr>
              <a:t>xử</a:t>
            </a: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 lý</a:t>
            </a:r>
            <a:endParaRPr lang="en-US" dirty="0">
              <a:latin typeface="Times New Roman" panose="02020603050405020304" pitchFamily="18" charset="0"/>
              <a:cs typeface="Times New Roman" panose="02020603050405020304" pitchFamily="18" charset="0"/>
            </a:endParaRPr>
          </a:p>
        </p:txBody>
      </p:sp>
      <p:sp>
        <p:nvSpPr>
          <p:cNvPr id="11" name="Text 7"/>
          <p:cNvSpPr txBox="1"/>
          <p:nvPr/>
        </p:nvSpPr>
        <p:spPr>
          <a:xfrm>
            <a:off x="7635240" y="1737360"/>
            <a:ext cx="3776472" cy="4084942"/>
          </a:xfrm>
          <a:prstGeom prst="rect">
            <a:avLst/>
          </a:prstGeom>
          <a:noFill/>
          <a:ln/>
        </p:spPr>
        <p:txBody>
          <a:bodyPr wrap="square" lIns="0" tIns="0" rIns="0" bIns="0" rtlCol="0" anchor="t"/>
          <a:lstStyle/>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Vấn đề: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Frequency, Monetary lệch phải rất mạnh; K-Means/K-Medoids dùng khoảng cách nên vài giá trị cực đoan sẽ chi phối.</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Giải pháp: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log1p cho Frequency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và</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Monetary → StandardScaler cho cả 3 biến (mean ≈ 0, std = 1).</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Giữ nguyên Recency: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Đ</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ể bảo toàn ý nghĩa tuyến tính của “số ngày”; mức nén cần thiết chưa kết luận được chỉ từ biểu đồ.</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Snapshot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toàn kỳ hợp lệ vì phân cụm là mô tả, không dự đoán tương lai.</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5,853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khách hàng có định danh tham gia phân cụm.</a:t>
            </a:r>
            <a:endParaRPr lang="en-US" sz="1600" dirty="0">
              <a:latin typeface="Times New Roman" panose="02020603050405020304" pitchFamily="18" charset="0"/>
              <a:cs typeface="Times New Roman" panose="02020603050405020304" pitchFamily="18" charset="0"/>
            </a:endParaRPr>
          </a:p>
        </p:txBody>
      </p:sp>
      <p:sp>
        <p:nvSpPr>
          <p:cNvPr id="12" name="Text 0">
            <a:extLst>
              <a:ext uri="{FF2B5EF4-FFF2-40B4-BE49-F238E27FC236}">
                <a16:creationId xmlns:a16="http://schemas.microsoft.com/office/drawing/2014/main" id="{6ACB2381-AA4B-F342-70A8-84A83652E380}"/>
              </a:ext>
            </a:extLst>
          </p:cNvPr>
          <p:cNvSpPr txBox="1"/>
          <p:nvPr/>
        </p:nvSpPr>
        <p:spPr>
          <a:xfrm>
            <a:off x="557971" y="114764"/>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itchFamily="34" charset="0"/>
                <a:ea typeface="Times New Roman" pitchFamily="34" charset="-122"/>
                <a:cs typeface="Times New Roman" pitchFamily="34" charset="-120"/>
              </a:rPr>
              <a:t>RFM Clustering:</a:t>
            </a:r>
            <a:r>
              <a:rPr lang="vi-VN" sz="3000" b="1" dirty="0">
                <a:solidFill>
                  <a:srgbClr val="0B2A5B"/>
                </a:solidFill>
                <a:latin typeface="Times New Roman" pitchFamily="34" charset="0"/>
                <a:ea typeface="Times New Roman" pitchFamily="34" charset="-122"/>
                <a:cs typeface="Times New Roman" pitchFamily="34" charset="-120"/>
              </a:rPr>
              <a:t> Log-transform và chuẩn hóa</a:t>
            </a:r>
            <a:endParaRPr lang="en-US" sz="3000" dirty="0"/>
          </a:p>
        </p:txBody>
      </p:sp>
      <p:pic>
        <p:nvPicPr>
          <p:cNvPr id="14" name="Picture 13">
            <a:extLst>
              <a:ext uri="{FF2B5EF4-FFF2-40B4-BE49-F238E27FC236}">
                <a16:creationId xmlns:a16="http://schemas.microsoft.com/office/drawing/2014/main" id="{7F743237-279D-81F0-D380-2A169EE10E31}"/>
              </a:ext>
            </a:extLst>
          </p:cNvPr>
          <p:cNvPicPr>
            <a:picLocks noChangeAspect="1"/>
          </p:cNvPicPr>
          <p:nvPr/>
        </p:nvPicPr>
        <p:blipFill>
          <a:blip r:embed="rId3"/>
          <a:stretch>
            <a:fillRect/>
          </a:stretch>
        </p:blipFill>
        <p:spPr>
          <a:xfrm>
            <a:off x="343372" y="791233"/>
            <a:ext cx="6775891" cy="3582062"/>
          </a:xfrm>
          <a:prstGeom prst="rect">
            <a:avLst/>
          </a:prstGeom>
        </p:spPr>
      </p:pic>
      <p:sp>
        <p:nvSpPr>
          <p:cNvPr id="19" name="Text 2">
            <a:extLst>
              <a:ext uri="{FF2B5EF4-FFF2-40B4-BE49-F238E27FC236}">
                <a16:creationId xmlns:a16="http://schemas.microsoft.com/office/drawing/2014/main" id="{3B0B7DE8-2D95-5098-312C-190557250C5F}"/>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Times New Roman" panose="02020603050405020304" pitchFamily="18" charset="0"/>
                <a:ea typeface="Calibri" pitchFamily="34" charset="-122"/>
                <a:cs typeface="Times New Roman" panose="02020603050405020304" pitchFamily="18" charset="0"/>
              </a:rPr>
              <a:t>22</a:t>
            </a:r>
            <a:endParaRPr lang="en-US" sz="1000" dirty="0">
              <a:latin typeface="Times New Roman" panose="02020603050405020304" pitchFamily="18" charset="0"/>
              <a:cs typeface="Times New Roman" panose="02020603050405020304" pitchFamily="18" charset="0"/>
            </a:endParaRPr>
          </a:p>
        </p:txBody>
      </p:sp>
      <p:sp>
        <p:nvSpPr>
          <p:cNvPr id="7" name="Text 4"/>
          <p:cNvSpPr txBox="1"/>
          <p:nvPr/>
        </p:nvSpPr>
        <p:spPr>
          <a:xfrm>
            <a:off x="548640" y="3480317"/>
            <a:ext cx="6858000" cy="274320"/>
          </a:xfrm>
          <a:prstGeom prst="rect">
            <a:avLst/>
          </a:prstGeom>
          <a:noFill/>
          <a:ln/>
        </p:spPr>
        <p:txBody>
          <a:bodyPr wrap="square" lIns="0" tIns="0" rIns="0" bIns="0" rtlCol="0" anchor="ctr"/>
          <a:lstStyle/>
          <a:p>
            <a:pPr marL="0" indent="0" algn="ctr">
              <a:buNone/>
            </a:pPr>
            <a:r>
              <a:rPr lang="en-US" sz="1500" i="1" dirty="0">
                <a:latin typeface="Times New Roman" panose="02020603050405020304" pitchFamily="18" charset="0"/>
                <a:ea typeface="Calibri" pitchFamily="34" charset="-122"/>
                <a:cs typeface="Times New Roman" panose="02020603050405020304" pitchFamily="18" charset="0"/>
              </a:rPr>
              <a:t>Hình 7. Elbow </a:t>
            </a:r>
            <a:r>
              <a:rPr lang="en-US" sz="1500" i="1" dirty="0" err="1">
                <a:latin typeface="Times New Roman" panose="02020603050405020304" pitchFamily="18" charset="0"/>
                <a:ea typeface="Calibri" pitchFamily="34" charset="-122"/>
                <a:cs typeface="Times New Roman" panose="02020603050405020304" pitchFamily="18" charset="0"/>
              </a:rPr>
              <a:t>và</a:t>
            </a:r>
            <a:r>
              <a:rPr lang="en-US" sz="1500" i="1" dirty="0">
                <a:latin typeface="Times New Roman" panose="02020603050405020304" pitchFamily="18" charset="0"/>
                <a:ea typeface="Calibri" pitchFamily="34" charset="-122"/>
                <a:cs typeface="Times New Roman" panose="02020603050405020304" pitchFamily="18" charset="0"/>
              </a:rPr>
              <a:t> Silhouette Score, k = 2…10</a:t>
            </a:r>
            <a:endParaRPr lang="en-US" sz="1500" dirty="0">
              <a:latin typeface="Times New Roman" panose="02020603050405020304" pitchFamily="18" charset="0"/>
              <a:cs typeface="Times New Roman" panose="02020603050405020304" pitchFamily="18" charset="0"/>
            </a:endParaRPr>
          </a:p>
        </p:txBody>
      </p:sp>
      <p:graphicFrame>
        <p:nvGraphicFramePr>
          <p:cNvPr id="16" name="Table 0"/>
          <p:cNvGraphicFramePr>
            <a:graphicFrameLocks noGrp="1"/>
          </p:cNvGraphicFramePr>
          <p:nvPr>
            <p:extLst>
              <p:ext uri="{D42A27DB-BD31-4B8C-83A1-F6EECF244321}">
                <p14:modId xmlns:p14="http://schemas.microsoft.com/office/powerpoint/2010/main" val="4215959129"/>
              </p:ext>
            </p:extLst>
          </p:nvPr>
        </p:nvGraphicFramePr>
        <p:xfrm>
          <a:off x="548640" y="4069080"/>
          <a:ext cx="6973052" cy="1920240"/>
        </p:xfrm>
        <a:graphic>
          <a:graphicData uri="http://schemas.openxmlformats.org/drawingml/2006/table">
            <a:tbl>
              <a:tblPr/>
              <a:tblGrid>
                <a:gridCol w="1394610">
                  <a:extLst>
                    <a:ext uri="{9D8B030D-6E8A-4147-A177-3AD203B41FA5}">
                      <a16:colId xmlns:a16="http://schemas.microsoft.com/office/drawing/2014/main" val="20000"/>
                    </a:ext>
                  </a:extLst>
                </a:gridCol>
                <a:gridCol w="2789221">
                  <a:extLst>
                    <a:ext uri="{9D8B030D-6E8A-4147-A177-3AD203B41FA5}">
                      <a16:colId xmlns:a16="http://schemas.microsoft.com/office/drawing/2014/main" val="20001"/>
                    </a:ext>
                  </a:extLst>
                </a:gridCol>
                <a:gridCol w="2789221">
                  <a:extLst>
                    <a:ext uri="{9D8B030D-6E8A-4147-A177-3AD203B41FA5}">
                      <a16:colId xmlns:a16="http://schemas.microsoft.com/office/drawing/2014/main" val="20002"/>
                    </a:ext>
                  </a:extLst>
                </a:gridCol>
              </a:tblGrid>
              <a:tr h="310896">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k</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Inertia</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Silhouette</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10896">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8,867.6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0.4180</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lgn="ctr">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4DD"/>
                    </a:solidFill>
                  </a:tcPr>
                </a:tc>
                <a:tc>
                  <a:txBody>
                    <a:bodyPr/>
                    <a:lstStyle/>
                    <a:p>
                      <a:pPr marL="0" indent="0" algn="ctr">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5,710.0</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4DD"/>
                    </a:solidFill>
                  </a:tcPr>
                </a:tc>
                <a:tc>
                  <a:txBody>
                    <a:bodyPr/>
                    <a:lstStyle/>
                    <a:p>
                      <a:pPr marL="0" indent="0" algn="ctr">
                        <a:buNone/>
                      </a:pPr>
                      <a:r>
                        <a:rPr lang="en-US" sz="1500" b="1" dirty="0">
                          <a:solidFill>
                            <a:srgbClr val="D9890A"/>
                          </a:solidFill>
                          <a:latin typeface="Times New Roman" panose="02020603050405020304" pitchFamily="18" charset="0"/>
                          <a:ea typeface="Calibri" pitchFamily="34" charset="-122"/>
                          <a:cs typeface="Times New Roman" panose="02020603050405020304" pitchFamily="18" charset="0"/>
                        </a:rPr>
                        <a:t>0.4017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4DD"/>
                    </a:solidFill>
                  </a:tcPr>
                </a:tc>
                <a:extLst>
                  <a:ext uri="{0D108BD9-81ED-4DB2-BD59-A6C34878D82A}">
                    <a16:rowId xmlns:a16="http://schemas.microsoft.com/office/drawing/2014/main" val="10002"/>
                  </a:ext>
                </a:extLst>
              </a:tr>
              <a:tr h="310896">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4,471.0</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0.3614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3,646.3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0.3647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3,081.8</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0.3486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5"/>
          <p:cNvSpPr/>
          <p:nvPr/>
        </p:nvSpPr>
        <p:spPr>
          <a:xfrm>
            <a:off x="7680960" y="1234440"/>
            <a:ext cx="3959352" cy="4937760"/>
          </a:xfrm>
          <a:prstGeom prst="roundRect">
            <a:avLst>
              <a:gd name="adj" fmla="val 1848"/>
            </a:avLst>
          </a:prstGeom>
          <a:solidFill>
            <a:srgbClr val="F4F6FA"/>
          </a:solidFill>
          <a:ln w="12700">
            <a:solidFill>
              <a:srgbClr val="F4F6FA"/>
            </a:solidFill>
            <a:prstDash val="solid"/>
          </a:ln>
        </p:spPr>
      </p:sp>
      <p:sp>
        <p:nvSpPr>
          <p:cNvPr id="10" name="Text 6"/>
          <p:cNvSpPr txBox="1"/>
          <p:nvPr/>
        </p:nvSpPr>
        <p:spPr>
          <a:xfrm>
            <a:off x="7909560" y="1325880"/>
            <a:ext cx="3502152" cy="365760"/>
          </a:xfrm>
          <a:prstGeom prst="rect">
            <a:avLst/>
          </a:prstGeom>
          <a:noFill/>
          <a:ln/>
        </p:spPr>
        <p:txBody>
          <a:bodyPr wrap="square" lIns="0" tIns="0" rIns="0" bIns="0" rtlCol="0" anchor="ctr"/>
          <a:lstStyle/>
          <a:p>
            <a:pPr marL="0" indent="0">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C</a:t>
            </a:r>
            <a:r>
              <a:rPr lang="en-US" b="1" dirty="0" err="1">
                <a:solidFill>
                  <a:srgbClr val="14213D"/>
                </a:solidFill>
                <a:latin typeface="Times New Roman" panose="02020603050405020304" pitchFamily="18" charset="0"/>
                <a:ea typeface="Cambria" pitchFamily="34" charset="-122"/>
                <a:cs typeface="Times New Roman" panose="02020603050405020304" pitchFamily="18" charset="0"/>
              </a:rPr>
              <a:t>họn</a:t>
            </a: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 k = 3</a:t>
            </a:r>
            <a:endParaRPr lang="en-US" dirty="0">
              <a:latin typeface="Times New Roman" panose="02020603050405020304" pitchFamily="18" charset="0"/>
              <a:cs typeface="Times New Roman" panose="02020603050405020304" pitchFamily="18" charset="0"/>
            </a:endParaRPr>
          </a:p>
        </p:txBody>
      </p:sp>
      <p:sp>
        <p:nvSpPr>
          <p:cNvPr id="11" name="Text 7"/>
          <p:cNvSpPr txBox="1"/>
          <p:nvPr/>
        </p:nvSpPr>
        <p:spPr>
          <a:xfrm>
            <a:off x="7909560" y="1783080"/>
            <a:ext cx="3502152" cy="4343400"/>
          </a:xfrm>
          <a:prstGeom prst="rect">
            <a:avLst/>
          </a:prstGeom>
          <a:noFill/>
          <a:ln/>
        </p:spPr>
        <p:txBody>
          <a:bodyPr wrap="square" lIns="0" tIns="0" rIns="0" bIns="0" rtlCol="0" anchor="t"/>
          <a:lstStyle/>
          <a:p>
            <a:pPr marL="203200" indent="-203200">
              <a:spcAft>
                <a:spcPts val="1100"/>
              </a:spcAft>
              <a:buSzPct val="100000"/>
              <a:buChar char="•"/>
            </a:pPr>
            <a:r>
              <a:rPr lang="en-US" sz="1600" b="1" i="1" dirty="0">
                <a:solidFill>
                  <a:srgbClr val="1F2937"/>
                </a:solidFill>
                <a:latin typeface="Times New Roman" panose="02020603050405020304" pitchFamily="18" charset="0"/>
                <a:ea typeface="Calibri" pitchFamily="34" charset="-122"/>
                <a:cs typeface="Times New Roman" panose="02020603050405020304" pitchFamily="18" charset="0"/>
              </a:rPr>
              <a:t>Silhouette</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cao nhất toàn dải là k = 2 (0.4180).</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i="1" dirty="0">
                <a:solidFill>
                  <a:srgbClr val="1F2937"/>
                </a:solidFill>
                <a:latin typeface="Times New Roman" panose="02020603050405020304" pitchFamily="18" charset="0"/>
                <a:ea typeface="Calibri" pitchFamily="34" charset="-122"/>
                <a:cs typeface="Times New Roman" panose="02020603050405020304" pitchFamily="18" charset="0"/>
              </a:rPr>
              <a:t>Ràng buộc nghiệp vụ: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N</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hóm</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giới hạn 3–5 cụm để phân khúc đủ chi tiết cho marketing nhưng vẫn triển khai được.</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Trong 3–5: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k = 3 có Silhouette cao nhất (0.4017 &gt; 0.3647 &gt; 0.3614).</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Elbow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chủ quan, đường cong mượt → dùng bổ trợ; Silhouette cho số đo khách quan nhưng tốn O(n²).</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Đây là quyết định kết hợp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kỹ thuật + nghiệp vụ, không dựa một chỉ số.</a:t>
            </a:r>
            <a:endParaRPr lang="en-US" sz="1600" dirty="0">
              <a:latin typeface="Times New Roman" panose="02020603050405020304" pitchFamily="18" charset="0"/>
              <a:cs typeface="Times New Roman" panose="02020603050405020304" pitchFamily="18" charset="0"/>
            </a:endParaRPr>
          </a:p>
        </p:txBody>
      </p:sp>
      <p:sp>
        <p:nvSpPr>
          <p:cNvPr id="12" name="Text 0">
            <a:extLst>
              <a:ext uri="{FF2B5EF4-FFF2-40B4-BE49-F238E27FC236}">
                <a16:creationId xmlns:a16="http://schemas.microsoft.com/office/drawing/2014/main" id="{0949EF4E-B4B1-E59F-4227-4C30518D1D05}"/>
              </a:ext>
            </a:extLst>
          </p:cNvPr>
          <p:cNvSpPr txBox="1"/>
          <p:nvPr/>
        </p:nvSpPr>
        <p:spPr>
          <a:xfrm>
            <a:off x="557971" y="114764"/>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RFM Clustering:</a:t>
            </a:r>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 Chọn số cụm K: Elbow + Silhouette</a:t>
            </a:r>
            <a:endParaRPr lang="en-US" sz="3000" dirty="0">
              <a:latin typeface="Times New Roman" panose="02020603050405020304" pitchFamily="18" charset="0"/>
              <a:cs typeface="Times New Roman" panose="02020603050405020304" pitchFamily="18" charset="0"/>
            </a:endParaRPr>
          </a:p>
        </p:txBody>
      </p:sp>
      <p:sp>
        <p:nvSpPr>
          <p:cNvPr id="14" name="Text 2">
            <a:extLst>
              <a:ext uri="{FF2B5EF4-FFF2-40B4-BE49-F238E27FC236}">
                <a16:creationId xmlns:a16="http://schemas.microsoft.com/office/drawing/2014/main" id="{F1B3F4B0-FBEA-599D-2CCC-BF5DFC58C224}"/>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CD7C7305-CD70-A116-572C-16071DBDD7F4}"/>
              </a:ext>
            </a:extLst>
          </p:cNvPr>
          <p:cNvPicPr>
            <a:picLocks noChangeAspect="1"/>
          </p:cNvPicPr>
          <p:nvPr/>
        </p:nvPicPr>
        <p:blipFill>
          <a:blip r:embed="rId3"/>
          <a:stretch>
            <a:fillRect/>
          </a:stretch>
        </p:blipFill>
        <p:spPr>
          <a:xfrm>
            <a:off x="447869" y="847218"/>
            <a:ext cx="7073823" cy="247448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27300"/>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mj-lt"/>
                <a:ea typeface="Calibri" pitchFamily="34" charset="-122"/>
                <a:cs typeface="Calibri" pitchFamily="34" charset="-120"/>
              </a:rPr>
              <a:t>23</a:t>
            </a:r>
            <a:endParaRPr lang="en-US" sz="1000" dirty="0">
              <a:latin typeface="+mj-lt"/>
            </a:endParaRPr>
          </a:p>
        </p:txBody>
      </p:sp>
      <p:sp>
        <p:nvSpPr>
          <p:cNvPr id="7" name="Text 4"/>
          <p:cNvSpPr txBox="1"/>
          <p:nvPr/>
        </p:nvSpPr>
        <p:spPr>
          <a:xfrm>
            <a:off x="548640" y="3930052"/>
            <a:ext cx="6583680" cy="274320"/>
          </a:xfrm>
          <a:prstGeom prst="rect">
            <a:avLst/>
          </a:prstGeom>
          <a:noFill/>
          <a:ln/>
        </p:spPr>
        <p:txBody>
          <a:bodyPr wrap="square" lIns="0" tIns="0" rIns="0" bIns="0" rtlCol="0" anchor="ctr"/>
          <a:lstStyle/>
          <a:p>
            <a:pPr algn="ctr"/>
            <a:r>
              <a:rPr lang="en-US" sz="1500" i="1" dirty="0" err="1">
                <a:latin typeface="Times New Roman" panose="02020603050405020304" pitchFamily="18" charset="0"/>
                <a:ea typeface="Times New Roman" pitchFamily="34" charset="-122"/>
                <a:cs typeface="Times New Roman" panose="02020603050405020304" pitchFamily="18" charset="0"/>
              </a:rPr>
              <a:t>Hình</a:t>
            </a:r>
            <a:r>
              <a:rPr lang="en-US" sz="1500" i="1" dirty="0">
                <a:latin typeface="Times New Roman" panose="02020603050405020304" pitchFamily="18" charset="0"/>
                <a:ea typeface="Times New Roman" pitchFamily="34" charset="-122"/>
                <a:cs typeface="Times New Roman" panose="02020603050405020304" pitchFamily="18" charset="0"/>
              </a:rPr>
              <a:t> 8. So </a:t>
            </a:r>
            <a:r>
              <a:rPr lang="en-US" sz="1500" i="1" dirty="0" err="1">
                <a:latin typeface="Times New Roman" panose="02020603050405020304" pitchFamily="18" charset="0"/>
                <a:ea typeface="Times New Roman" pitchFamily="34" charset="-122"/>
                <a:cs typeface="Times New Roman" panose="02020603050405020304" pitchFamily="18" charset="0"/>
              </a:rPr>
              <a:t>sánh</a:t>
            </a:r>
            <a:r>
              <a:rPr lang="en-US" sz="1500" i="1" dirty="0">
                <a:latin typeface="Times New Roman" panose="02020603050405020304" pitchFamily="18" charset="0"/>
                <a:ea typeface="Times New Roman" pitchFamily="34" charset="-122"/>
                <a:cs typeface="Times New Roman" panose="02020603050405020304" pitchFamily="18" charset="0"/>
              </a:rPr>
              <a:t> K-Means </a:t>
            </a:r>
            <a:r>
              <a:rPr lang="en-US" sz="1500" i="1" dirty="0" err="1">
                <a:latin typeface="Times New Roman" panose="02020603050405020304" pitchFamily="18" charset="0"/>
                <a:ea typeface="Times New Roman" pitchFamily="34" charset="-122"/>
                <a:cs typeface="Times New Roman" panose="02020603050405020304" pitchFamily="18" charset="0"/>
              </a:rPr>
              <a:t>và</a:t>
            </a:r>
            <a:r>
              <a:rPr lang="en-US" sz="1500" i="1" dirty="0">
                <a:latin typeface="Times New Roman" panose="02020603050405020304" pitchFamily="18" charset="0"/>
                <a:ea typeface="Times New Roman" pitchFamily="34" charset="-122"/>
                <a:cs typeface="Times New Roman" panose="02020603050405020304" pitchFamily="18" charset="0"/>
              </a:rPr>
              <a:t> K-Medoids </a:t>
            </a:r>
            <a:r>
              <a:rPr lang="en-US" sz="1500" i="1" dirty="0" err="1">
                <a:latin typeface="Times New Roman" panose="02020603050405020304" pitchFamily="18" charset="0"/>
                <a:ea typeface="Times New Roman" pitchFamily="34" charset="-122"/>
                <a:cs typeface="Times New Roman" panose="02020603050405020304" pitchFamily="18" charset="0"/>
              </a:rPr>
              <a:t>trên</a:t>
            </a:r>
            <a:r>
              <a:rPr lang="en-US" sz="1500" i="1" dirty="0">
                <a:latin typeface="Times New Roman" panose="02020603050405020304" pitchFamily="18" charset="0"/>
                <a:ea typeface="Times New Roman" pitchFamily="34" charset="-122"/>
                <a:cs typeface="Times New Roman" panose="02020603050405020304" pitchFamily="18" charset="0"/>
              </a:rPr>
              <a:t> Recency × log1p(Monetary)</a:t>
            </a:r>
            <a:endParaRPr lang="en-US" sz="150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3078867334"/>
              </p:ext>
            </p:extLst>
          </p:nvPr>
        </p:nvGraphicFramePr>
        <p:xfrm>
          <a:off x="492655" y="4370453"/>
          <a:ext cx="6816952" cy="1862395"/>
        </p:xfrm>
        <a:graphic>
          <a:graphicData uri="http://schemas.openxmlformats.org/drawingml/2006/table">
            <a:tbl>
              <a:tblPr/>
              <a:tblGrid>
                <a:gridCol w="1609558">
                  <a:extLst>
                    <a:ext uri="{9D8B030D-6E8A-4147-A177-3AD203B41FA5}">
                      <a16:colId xmlns:a16="http://schemas.microsoft.com/office/drawing/2014/main" val="20000"/>
                    </a:ext>
                  </a:extLst>
                </a:gridCol>
                <a:gridCol w="2556357">
                  <a:extLst>
                    <a:ext uri="{9D8B030D-6E8A-4147-A177-3AD203B41FA5}">
                      <a16:colId xmlns:a16="http://schemas.microsoft.com/office/drawing/2014/main" val="20001"/>
                    </a:ext>
                  </a:extLst>
                </a:gridCol>
                <a:gridCol w="2651037">
                  <a:extLst>
                    <a:ext uri="{9D8B030D-6E8A-4147-A177-3AD203B41FA5}">
                      <a16:colId xmlns:a16="http://schemas.microsoft.com/office/drawing/2014/main" val="20002"/>
                    </a:ext>
                  </a:extLst>
                </a:gridCol>
              </a:tblGrid>
              <a:tr h="372479">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Tiêu chí</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K-Means</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K-Medoids (PAM)</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72479">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Silhouette</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0.4017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0.4012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2479">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Kích thước cụm</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2354 · 1824 ·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1675]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2283 · 1899 ·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1671]</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2479">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Tâm cụm</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Centroid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Đ</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iểm</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trung bình ảo)</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Medoid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K</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hách</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hàng thật)</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2479">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Nhạy với outlier</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Nhạy hơn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Ít nhạy hơn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5"/>
          <p:cNvSpPr/>
          <p:nvPr/>
        </p:nvSpPr>
        <p:spPr>
          <a:xfrm>
            <a:off x="7406640" y="731523"/>
            <a:ext cx="4233672" cy="1031966"/>
          </a:xfrm>
          <a:prstGeom prst="roundRect">
            <a:avLst>
              <a:gd name="adj" fmla="val 5517"/>
            </a:avLst>
          </a:prstGeom>
          <a:solidFill>
            <a:srgbClr val="F4F6FA"/>
          </a:solidFill>
          <a:ln w="12700">
            <a:solidFill>
              <a:srgbClr val="F4F6FA"/>
            </a:solidFill>
            <a:prstDash val="solid"/>
          </a:ln>
        </p:spPr>
      </p:sp>
      <p:sp>
        <p:nvSpPr>
          <p:cNvPr id="10" name="Text 6"/>
          <p:cNvSpPr txBox="1"/>
          <p:nvPr/>
        </p:nvSpPr>
        <p:spPr>
          <a:xfrm>
            <a:off x="7406640" y="775933"/>
            <a:ext cx="4233672" cy="729234"/>
          </a:xfrm>
          <a:prstGeom prst="rect">
            <a:avLst/>
          </a:prstGeom>
          <a:noFill/>
          <a:ln/>
        </p:spPr>
        <p:txBody>
          <a:bodyPr wrap="square" lIns="0" tIns="0" rIns="0" bIns="0" rtlCol="0" anchor="ctr"/>
          <a:lstStyle/>
          <a:p>
            <a:pPr marL="0" indent="0" algn="ctr">
              <a:buNone/>
            </a:pPr>
            <a:r>
              <a:rPr lang="en-US" sz="2500" b="1" dirty="0">
                <a:solidFill>
                  <a:srgbClr val="D9890A"/>
                </a:solidFill>
                <a:latin typeface="Times New Roman" panose="02020603050405020304" pitchFamily="18" charset="0"/>
                <a:ea typeface="Cambria" pitchFamily="34" charset="-122"/>
                <a:cs typeface="Times New Roman" panose="02020603050405020304" pitchFamily="18" charset="0"/>
              </a:rPr>
              <a:t>ARI = 0.9565</a:t>
            </a:r>
            <a:endParaRPr lang="en-US" sz="2500" dirty="0">
              <a:latin typeface="Times New Roman" panose="02020603050405020304" pitchFamily="18" charset="0"/>
              <a:cs typeface="Times New Roman" panose="02020603050405020304" pitchFamily="18" charset="0"/>
            </a:endParaRPr>
          </a:p>
        </p:txBody>
      </p:sp>
      <p:sp>
        <p:nvSpPr>
          <p:cNvPr id="11" name="Text 7"/>
          <p:cNvSpPr txBox="1"/>
          <p:nvPr/>
        </p:nvSpPr>
        <p:spPr>
          <a:xfrm>
            <a:off x="7498080" y="1450927"/>
            <a:ext cx="4050792" cy="450799"/>
          </a:xfrm>
          <a:prstGeom prst="rect">
            <a:avLst/>
          </a:prstGeom>
          <a:noFill/>
          <a:ln/>
        </p:spPr>
        <p:txBody>
          <a:bodyPr wrap="square" lIns="0" tIns="0" rIns="0" bIns="0" rtlCol="0" anchor="t"/>
          <a:lstStyle/>
          <a:p>
            <a:pPr marL="0" indent="0" algn="ctr">
              <a:buNone/>
            </a:pPr>
            <a:r>
              <a:rPr lang="en-US" sz="1600" dirty="0">
                <a:latin typeface="Times New Roman" panose="02020603050405020304" pitchFamily="18" charset="0"/>
                <a:ea typeface="Calibri" pitchFamily="34" charset="-122"/>
                <a:cs typeface="Times New Roman" panose="02020603050405020304" pitchFamily="18" charset="0"/>
              </a:rPr>
              <a:t>Adjusted Rand Index giữa 2 cách phân cụm</a:t>
            </a:r>
            <a:endParaRPr lang="en-US" sz="1600" dirty="0">
              <a:latin typeface="Times New Roman" panose="02020603050405020304" pitchFamily="18" charset="0"/>
              <a:cs typeface="Times New Roman" panose="02020603050405020304" pitchFamily="18" charset="0"/>
            </a:endParaRPr>
          </a:p>
        </p:txBody>
      </p:sp>
      <p:sp>
        <p:nvSpPr>
          <p:cNvPr id="12" name="Shape 8"/>
          <p:cNvSpPr/>
          <p:nvPr/>
        </p:nvSpPr>
        <p:spPr>
          <a:xfrm>
            <a:off x="7406640" y="1901726"/>
            <a:ext cx="4233672" cy="4124359"/>
          </a:xfrm>
          <a:prstGeom prst="roundRect">
            <a:avLst>
              <a:gd name="adj" fmla="val 2105"/>
            </a:avLst>
          </a:prstGeom>
          <a:solidFill>
            <a:srgbClr val="F4F6FA"/>
          </a:solidFill>
          <a:ln w="12700">
            <a:solidFill>
              <a:srgbClr val="F4F6FA"/>
            </a:solidFill>
            <a:prstDash val="solid"/>
          </a:ln>
        </p:spPr>
      </p:sp>
      <p:sp>
        <p:nvSpPr>
          <p:cNvPr id="13" name="Text 9"/>
          <p:cNvSpPr txBox="1"/>
          <p:nvPr/>
        </p:nvSpPr>
        <p:spPr>
          <a:xfrm>
            <a:off x="7635240" y="1967829"/>
            <a:ext cx="3776472"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Kết luận: dùng K-Means</a:t>
            </a:r>
            <a:endParaRPr lang="en-US" dirty="0">
              <a:latin typeface="Times New Roman" panose="02020603050405020304" pitchFamily="18" charset="0"/>
              <a:cs typeface="Times New Roman" panose="02020603050405020304" pitchFamily="18" charset="0"/>
            </a:endParaRPr>
          </a:p>
        </p:txBody>
      </p:sp>
      <p:sp>
        <p:nvSpPr>
          <p:cNvPr id="14" name="Text 10"/>
          <p:cNvSpPr txBox="1"/>
          <p:nvPr/>
        </p:nvSpPr>
        <p:spPr>
          <a:xfrm>
            <a:off x="7635240" y="2435291"/>
            <a:ext cx="3776472" cy="3480317"/>
          </a:xfrm>
          <a:prstGeom prst="rect">
            <a:avLst/>
          </a:prstGeom>
          <a:noFill/>
          <a:ln/>
        </p:spPr>
        <p:txBody>
          <a:bodyPr wrap="square" lIns="0" tIns="0" rIns="0" bIns="0" rtlCol="0" anchor="t"/>
          <a:lstStyle/>
          <a:p>
            <a:pPr marL="203200" indent="-203200">
              <a:spcAft>
                <a:spcPts val="800"/>
              </a:spcAft>
              <a:buSzPct val="100000"/>
              <a:buChar char="•"/>
            </a:pP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Chênh lệch </a:t>
            </a:r>
            <a:r>
              <a:rPr lang="vi-VN" sz="1600" i="1" dirty="0">
                <a:solidFill>
                  <a:srgbClr val="1F2937"/>
                </a:solidFill>
                <a:latin typeface="Times New Roman" panose="02020603050405020304" pitchFamily="18" charset="0"/>
                <a:ea typeface="Calibri" pitchFamily="34" charset="-122"/>
                <a:cs typeface="Times New Roman" panose="02020603050405020304" pitchFamily="18" charset="0"/>
              </a:rPr>
              <a:t>Silhouette</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 chỉ 0.0005 → Chất lượng tương đương ARI = 0.9565. </a:t>
            </a:r>
          </a:p>
          <a:p>
            <a:pPr marL="203200" indent="-203200">
              <a:spcAft>
                <a:spcPts val="800"/>
              </a:spcAft>
              <a:buSzPct val="100000"/>
              <a:buChar char="•"/>
            </a:pP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Hai cách phân cụm rất tương đồng K-Medoids diễn giải dễ hơn: tâm cụm là khách hàng thật có Customer ID</a:t>
            </a:r>
          </a:p>
          <a:p>
            <a:pPr marL="203200" indent="-203200">
              <a:spcAft>
                <a:spcPts val="8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K-Means không cần ma trận khoảng cách toàn cặp →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M</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ở rộng tốt hơn.</a:t>
            </a:r>
            <a:endParaRPr lang="en-US" sz="1600" dirty="0">
              <a:latin typeface="Times New Roman" panose="02020603050405020304" pitchFamily="18" charset="0"/>
              <a:cs typeface="Times New Roman" panose="02020603050405020304" pitchFamily="18" charset="0"/>
            </a:endParaRPr>
          </a:p>
          <a:p>
            <a:pPr marL="203200" indent="-203200">
              <a:spcAft>
                <a:spcPts val="8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ARI cao: hai phương pháp thấy cùng cấu trúc.</a:t>
            </a:r>
            <a:endParaRPr lang="en-US" sz="1600" dirty="0">
              <a:latin typeface="Times New Roman" panose="02020603050405020304" pitchFamily="18" charset="0"/>
              <a:cs typeface="Times New Roman" panose="02020603050405020304" pitchFamily="18" charset="0"/>
            </a:endParaRPr>
          </a:p>
          <a:p>
            <a:pPr marL="203200" indent="-203200">
              <a:spcAft>
                <a:spcPts val="8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Ưu điểm PAM: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M</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edoid</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là khách thật, Marketing xem hồ sơ Customer ID cụ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thể</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5" name="Text 0">
            <a:extLst>
              <a:ext uri="{FF2B5EF4-FFF2-40B4-BE49-F238E27FC236}">
                <a16:creationId xmlns:a16="http://schemas.microsoft.com/office/drawing/2014/main" id="{CE751091-40ED-F21C-29AA-30B0F76C8C15}"/>
              </a:ext>
            </a:extLst>
          </p:cNvPr>
          <p:cNvSpPr txBox="1"/>
          <p:nvPr/>
        </p:nvSpPr>
        <p:spPr>
          <a:xfrm>
            <a:off x="557971" y="114764"/>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RFM Clustering:</a:t>
            </a:r>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 K-Means vs K-Medoids (PAM)</a:t>
            </a:r>
            <a:endParaRPr lang="en-US" sz="3000" dirty="0">
              <a:latin typeface="Times New Roman" panose="02020603050405020304" pitchFamily="18" charset="0"/>
              <a:cs typeface="Times New Roman" panose="02020603050405020304" pitchFamily="18" charset="0"/>
            </a:endParaRPr>
          </a:p>
        </p:txBody>
      </p:sp>
      <p:sp>
        <p:nvSpPr>
          <p:cNvPr id="18" name="Text 2">
            <a:extLst>
              <a:ext uri="{FF2B5EF4-FFF2-40B4-BE49-F238E27FC236}">
                <a16:creationId xmlns:a16="http://schemas.microsoft.com/office/drawing/2014/main" id="{7BEBAFD6-7D3B-EFE5-10BA-644FC347F66C}"/>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A328BE20-F57A-B1BD-1F0F-26581A6C38B0}"/>
              </a:ext>
            </a:extLst>
          </p:cNvPr>
          <p:cNvPicPr>
            <a:picLocks noChangeAspect="1"/>
          </p:cNvPicPr>
          <p:nvPr/>
        </p:nvPicPr>
        <p:blipFill>
          <a:blip r:embed="rId3"/>
          <a:stretch>
            <a:fillRect/>
          </a:stretch>
        </p:blipFill>
        <p:spPr>
          <a:xfrm>
            <a:off x="177286" y="775919"/>
            <a:ext cx="7132320" cy="303860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57971" y="4055076"/>
            <a:ext cx="3566160" cy="2336393"/>
          </a:xfrm>
          <a:prstGeom prst="roundRect">
            <a:avLst>
              <a:gd name="adj" fmla="val 2712"/>
            </a:avLst>
          </a:prstGeom>
          <a:solidFill>
            <a:srgbClr val="F4F6FA"/>
          </a:solidFill>
          <a:ln w="12700">
            <a:solidFill>
              <a:srgbClr val="F4F6FA"/>
            </a:solidFill>
            <a:prstDash val="solid"/>
          </a:ln>
        </p:spPr>
      </p:sp>
      <p:sp>
        <p:nvSpPr>
          <p:cNvPr id="8" name="Shape 5"/>
          <p:cNvSpPr/>
          <p:nvPr/>
        </p:nvSpPr>
        <p:spPr>
          <a:xfrm>
            <a:off x="749808" y="4197845"/>
            <a:ext cx="201168" cy="201168"/>
          </a:xfrm>
          <a:prstGeom prst="ellipse">
            <a:avLst/>
          </a:prstGeom>
          <a:solidFill>
            <a:srgbClr val="2E9E6B"/>
          </a:solidFill>
          <a:ln w="12700">
            <a:solidFill>
              <a:srgbClr val="2E9E6B"/>
            </a:solidFill>
            <a:prstDash val="solid"/>
          </a:ln>
        </p:spPr>
      </p:sp>
      <p:sp>
        <p:nvSpPr>
          <p:cNvPr id="9" name="Text 6"/>
          <p:cNvSpPr txBox="1"/>
          <p:nvPr/>
        </p:nvSpPr>
        <p:spPr>
          <a:xfrm>
            <a:off x="1051560" y="4124693"/>
            <a:ext cx="2880360" cy="347472"/>
          </a:xfrm>
          <a:prstGeom prst="rect">
            <a:avLst/>
          </a:prstGeom>
          <a:noFill/>
          <a:ln/>
        </p:spPr>
        <p:txBody>
          <a:bodyPr wrap="square" lIns="0" tIns="0" rIns="0" bIns="0" rtlCol="0" anchor="ctr"/>
          <a:lstStyle/>
          <a:p>
            <a:pPr marL="0" indent="0">
              <a:buNone/>
            </a:pPr>
            <a:r>
              <a:rPr lang="en-US" sz="1600" b="1" dirty="0">
                <a:solidFill>
                  <a:srgbClr val="14213D"/>
                </a:solidFill>
                <a:latin typeface="Times New Roman" panose="02020603050405020304" pitchFamily="18" charset="0"/>
                <a:ea typeface="Cambria" pitchFamily="34" charset="-122"/>
                <a:cs typeface="Times New Roman" panose="02020603050405020304" pitchFamily="18" charset="0"/>
              </a:rPr>
              <a:t>Khách VIP</a:t>
            </a:r>
            <a:endParaRPr lang="en-US" sz="1600" dirty="0">
              <a:latin typeface="Times New Roman" panose="02020603050405020304" pitchFamily="18" charset="0"/>
              <a:cs typeface="Times New Roman" panose="02020603050405020304" pitchFamily="18" charset="0"/>
            </a:endParaRPr>
          </a:p>
        </p:txBody>
      </p:sp>
      <p:sp>
        <p:nvSpPr>
          <p:cNvPr id="10" name="Text 7"/>
          <p:cNvSpPr txBox="1"/>
          <p:nvPr/>
        </p:nvSpPr>
        <p:spPr>
          <a:xfrm>
            <a:off x="749808" y="4517885"/>
            <a:ext cx="3163824" cy="256032"/>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1,675 (28.6%) khách</a:t>
            </a:r>
            <a:endParaRPr lang="en-US" sz="1600" dirty="0">
              <a:latin typeface="Times New Roman" panose="02020603050405020304" pitchFamily="18" charset="0"/>
              <a:cs typeface="Times New Roman" panose="02020603050405020304" pitchFamily="18" charset="0"/>
            </a:endParaRPr>
          </a:p>
        </p:txBody>
      </p:sp>
      <p:sp>
        <p:nvSpPr>
          <p:cNvPr id="11" name="Text 8"/>
          <p:cNvSpPr txBox="1"/>
          <p:nvPr/>
        </p:nvSpPr>
        <p:spPr>
          <a:xfrm>
            <a:off x="749808" y="4819637"/>
            <a:ext cx="3163824" cy="320040"/>
          </a:xfrm>
          <a:prstGeom prst="rect">
            <a:avLst/>
          </a:prstGeom>
          <a:noFill/>
          <a:ln/>
        </p:spPr>
        <p:txBody>
          <a:bodyPr wrap="square" lIns="0" tIns="0" rIns="0" bIns="0" rtlCol="0" anchor="ctr"/>
          <a:lstStyle/>
          <a:p>
            <a:pPr marL="0" indent="0">
              <a:buNone/>
            </a:pP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R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57 ngày   </a:t>
            </a: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F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15.8   </a:t>
            </a: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M </a:t>
            </a:r>
            <a:r>
              <a:rPr lang="en-US" sz="1600" b="1" dirty="0">
                <a:solidFill>
                  <a:srgbClr val="2E9E6B"/>
                </a:solidFill>
                <a:latin typeface="Times New Roman" panose="02020603050405020304" pitchFamily="18" charset="0"/>
                <a:ea typeface="Calibri" pitchFamily="34" charset="-122"/>
                <a:cs typeface="Times New Roman" panose="02020603050405020304" pitchFamily="18" charset="0"/>
              </a:rPr>
              <a:t>£8,420</a:t>
            </a:r>
            <a:endParaRPr lang="en-US" sz="1600" dirty="0">
              <a:latin typeface="Times New Roman" panose="02020603050405020304" pitchFamily="18" charset="0"/>
              <a:cs typeface="Times New Roman" panose="02020603050405020304" pitchFamily="18" charset="0"/>
            </a:endParaRPr>
          </a:p>
        </p:txBody>
      </p:sp>
      <p:sp>
        <p:nvSpPr>
          <p:cNvPr id="12" name="Text 9"/>
          <p:cNvSpPr txBox="1"/>
          <p:nvPr/>
        </p:nvSpPr>
        <p:spPr>
          <a:xfrm>
            <a:off x="557971" y="5194354"/>
            <a:ext cx="3566159" cy="1197115"/>
          </a:xfrm>
          <a:prstGeom prst="rect">
            <a:avLst/>
          </a:prstGeom>
          <a:noFill/>
          <a:ln/>
        </p:spPr>
        <p:txBody>
          <a:bodyPr wrap="square" lIns="0" tIns="0" rIns="0" bIns="0" rtlCol="0" anchor="t"/>
          <a:lstStyle/>
          <a:p>
            <a:pPr marL="285750" indent="-285750">
              <a:lnSpc>
                <a:spcPct val="150000"/>
              </a:lnSpc>
              <a:buFont typeface="Arial" panose="020B0604020202020204" pitchFamily="34" charset="0"/>
              <a:buChar char="•"/>
            </a:pP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Chương</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trình thân thiết, ưu đãi độc quyền, sản phẩm cao cấp, bán chéo. </a:t>
            </a:r>
            <a:endParaRPr lang="vi-VN" sz="1500" dirty="0">
              <a:solidFill>
                <a:srgbClr val="1F2937"/>
              </a:solidFill>
              <a:latin typeface="Times New Roman" panose="02020603050405020304" pitchFamily="18" charset="0"/>
              <a:ea typeface="Calibri"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Đóng</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góp ≈79% tổng Monetary.</a:t>
            </a:r>
            <a:endParaRPr lang="en-US" sz="1500" dirty="0">
              <a:latin typeface="Times New Roman" panose="02020603050405020304" pitchFamily="18" charset="0"/>
              <a:cs typeface="Times New Roman" panose="02020603050405020304" pitchFamily="18" charset="0"/>
            </a:endParaRPr>
          </a:p>
        </p:txBody>
      </p:sp>
      <p:sp>
        <p:nvSpPr>
          <p:cNvPr id="13" name="Shape 10"/>
          <p:cNvSpPr/>
          <p:nvPr/>
        </p:nvSpPr>
        <p:spPr>
          <a:xfrm>
            <a:off x="4315968" y="4055076"/>
            <a:ext cx="3566160" cy="2336393"/>
          </a:xfrm>
          <a:prstGeom prst="roundRect">
            <a:avLst>
              <a:gd name="adj" fmla="val 2712"/>
            </a:avLst>
          </a:prstGeom>
          <a:solidFill>
            <a:srgbClr val="F4F6FA"/>
          </a:solidFill>
          <a:ln w="12700">
            <a:solidFill>
              <a:srgbClr val="F4F6FA"/>
            </a:solidFill>
            <a:prstDash val="solid"/>
          </a:ln>
        </p:spPr>
      </p:sp>
      <p:sp>
        <p:nvSpPr>
          <p:cNvPr id="14" name="Shape 11"/>
          <p:cNvSpPr/>
          <p:nvPr/>
        </p:nvSpPr>
        <p:spPr>
          <a:xfrm>
            <a:off x="4517136" y="4197845"/>
            <a:ext cx="201168" cy="201168"/>
          </a:xfrm>
          <a:prstGeom prst="ellipse">
            <a:avLst/>
          </a:prstGeom>
          <a:solidFill>
            <a:srgbClr val="14213D"/>
          </a:solidFill>
          <a:ln w="12700">
            <a:solidFill>
              <a:srgbClr val="14213D"/>
            </a:solidFill>
            <a:prstDash val="solid"/>
          </a:ln>
        </p:spPr>
      </p:sp>
      <p:sp>
        <p:nvSpPr>
          <p:cNvPr id="15" name="Text 12"/>
          <p:cNvSpPr txBox="1"/>
          <p:nvPr/>
        </p:nvSpPr>
        <p:spPr>
          <a:xfrm>
            <a:off x="4818888" y="4124693"/>
            <a:ext cx="2880360" cy="347472"/>
          </a:xfrm>
          <a:prstGeom prst="rect">
            <a:avLst/>
          </a:prstGeom>
          <a:noFill/>
          <a:ln/>
        </p:spPr>
        <p:txBody>
          <a:bodyPr wrap="square" lIns="0" tIns="0" rIns="0" bIns="0" rtlCol="0" anchor="ctr"/>
          <a:lstStyle/>
          <a:p>
            <a:pPr marL="0" indent="0">
              <a:buNone/>
            </a:pPr>
            <a:r>
              <a:rPr lang="en-US" sz="1600" b="1" dirty="0">
                <a:solidFill>
                  <a:srgbClr val="14213D"/>
                </a:solidFill>
                <a:latin typeface="Times New Roman" panose="02020603050405020304" pitchFamily="18" charset="0"/>
                <a:ea typeface="Cambria" pitchFamily="34" charset="-122"/>
                <a:cs typeface="Times New Roman" panose="02020603050405020304" pitchFamily="18" charset="0"/>
              </a:rPr>
              <a:t>Khách trung thành</a:t>
            </a:r>
            <a:endParaRPr lang="en-US" sz="1600" dirty="0">
              <a:latin typeface="Times New Roman" panose="02020603050405020304" pitchFamily="18" charset="0"/>
              <a:cs typeface="Times New Roman" panose="02020603050405020304" pitchFamily="18" charset="0"/>
            </a:endParaRPr>
          </a:p>
        </p:txBody>
      </p:sp>
      <p:sp>
        <p:nvSpPr>
          <p:cNvPr id="16" name="Text 13"/>
          <p:cNvSpPr txBox="1"/>
          <p:nvPr/>
        </p:nvSpPr>
        <p:spPr>
          <a:xfrm>
            <a:off x="4517136" y="4517885"/>
            <a:ext cx="3163824" cy="256032"/>
          </a:xfrm>
          <a:prstGeom prst="rect">
            <a:avLst/>
          </a:prstGeom>
          <a:noFill/>
          <a:ln/>
        </p:spPr>
        <p:txBody>
          <a:bodyPr wrap="square" lIns="0" tIns="0" rIns="0" bIns="0" rtlCol="0" anchor="ctr"/>
          <a:lstStyle/>
          <a:p>
            <a:pPr marL="0" indent="0">
              <a:buNone/>
            </a:pPr>
            <a:r>
              <a:rPr lang="en-US" sz="1600" dirty="0">
                <a:solidFill>
                  <a:srgbClr val="6B7280"/>
                </a:solidFill>
                <a:latin typeface="Times New Roman" panose="02020603050405020304" pitchFamily="18" charset="0"/>
                <a:ea typeface="Calibri" pitchFamily="34" charset="-122"/>
                <a:cs typeface="Times New Roman" panose="02020603050405020304" pitchFamily="18" charset="0"/>
              </a:rPr>
              <a:t>2,354 (40.2%) khách</a:t>
            </a:r>
            <a:endParaRPr lang="en-US" sz="1600" dirty="0">
              <a:latin typeface="Times New Roman" panose="02020603050405020304" pitchFamily="18" charset="0"/>
              <a:cs typeface="Times New Roman" panose="02020603050405020304" pitchFamily="18" charset="0"/>
            </a:endParaRPr>
          </a:p>
        </p:txBody>
      </p:sp>
      <p:sp>
        <p:nvSpPr>
          <p:cNvPr id="17" name="Text 14"/>
          <p:cNvSpPr txBox="1"/>
          <p:nvPr/>
        </p:nvSpPr>
        <p:spPr>
          <a:xfrm>
            <a:off x="4517136" y="4819637"/>
            <a:ext cx="3163824" cy="320040"/>
          </a:xfrm>
          <a:prstGeom prst="rect">
            <a:avLst/>
          </a:prstGeom>
          <a:noFill/>
          <a:ln/>
        </p:spPr>
        <p:txBody>
          <a:bodyPr wrap="square" lIns="0" tIns="0" rIns="0" bIns="0" rtlCol="0" anchor="ctr"/>
          <a:lstStyle/>
          <a:p>
            <a:pPr marL="0" indent="0">
              <a:buNone/>
            </a:pP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R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90 ngày   </a:t>
            </a: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F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2.9   </a:t>
            </a: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M </a:t>
            </a:r>
            <a:r>
              <a:rPr lang="en-US" sz="1600" b="1" dirty="0">
                <a:solidFill>
                  <a:srgbClr val="14213D"/>
                </a:solidFill>
                <a:latin typeface="Times New Roman" panose="02020603050405020304" pitchFamily="18" charset="0"/>
                <a:ea typeface="Calibri" pitchFamily="34" charset="-122"/>
                <a:cs typeface="Times New Roman" panose="02020603050405020304" pitchFamily="18" charset="0"/>
              </a:rPr>
              <a:t>£840</a:t>
            </a:r>
            <a:endParaRPr lang="en-US" sz="1600" dirty="0">
              <a:latin typeface="Times New Roman" panose="02020603050405020304" pitchFamily="18" charset="0"/>
              <a:cs typeface="Times New Roman" panose="02020603050405020304" pitchFamily="18" charset="0"/>
            </a:endParaRPr>
          </a:p>
        </p:txBody>
      </p:sp>
      <p:sp>
        <p:nvSpPr>
          <p:cNvPr id="18" name="Text 15"/>
          <p:cNvSpPr txBox="1"/>
          <p:nvPr/>
        </p:nvSpPr>
        <p:spPr>
          <a:xfrm>
            <a:off x="4315968" y="5194354"/>
            <a:ext cx="3566160" cy="1197115"/>
          </a:xfrm>
          <a:prstGeom prst="rect">
            <a:avLst/>
          </a:prstGeom>
          <a:noFill/>
          <a:ln/>
        </p:spPr>
        <p:txBody>
          <a:bodyPr wrap="square" lIns="0" tIns="0" rIns="0" bIns="0" rtlCol="0" anchor="t"/>
          <a:lstStyle/>
          <a:p>
            <a:pPr marL="285750" indent="-285750">
              <a:lnSpc>
                <a:spcPct val="150000"/>
              </a:lnSpc>
              <a:buFont typeface="Arial" panose="020B0604020202020204" pitchFamily="34" charset="0"/>
              <a:buChar char="•"/>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Cross-sell /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U</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p-sell dựa trên luật MBA Lift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cao.</a:t>
            </a:r>
          </a:p>
          <a:p>
            <a:pPr marL="285750" indent="-285750">
              <a:lnSpc>
                <a:spcPct val="150000"/>
              </a:lnSpc>
              <a:buFont typeface="Arial" panose="020B0604020202020204" pitchFamily="34" charset="0"/>
              <a:buChar char="•"/>
            </a:pP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K</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huyến</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khích mua theo bộ.</a:t>
            </a:r>
            <a:endParaRPr lang="en-US" sz="1500" dirty="0">
              <a:latin typeface="Times New Roman" panose="02020603050405020304" pitchFamily="18" charset="0"/>
              <a:cs typeface="Times New Roman" panose="02020603050405020304" pitchFamily="18" charset="0"/>
            </a:endParaRPr>
          </a:p>
        </p:txBody>
      </p:sp>
      <p:sp>
        <p:nvSpPr>
          <p:cNvPr id="19" name="Shape 16"/>
          <p:cNvSpPr/>
          <p:nvPr/>
        </p:nvSpPr>
        <p:spPr>
          <a:xfrm>
            <a:off x="8083296" y="4055076"/>
            <a:ext cx="3566160" cy="2336393"/>
          </a:xfrm>
          <a:prstGeom prst="roundRect">
            <a:avLst>
              <a:gd name="adj" fmla="val 2712"/>
            </a:avLst>
          </a:prstGeom>
          <a:solidFill>
            <a:srgbClr val="F4F6FA"/>
          </a:solidFill>
          <a:ln w="12700">
            <a:solidFill>
              <a:srgbClr val="F4F6FA"/>
            </a:solidFill>
            <a:prstDash val="solid"/>
          </a:ln>
        </p:spPr>
      </p:sp>
      <p:sp>
        <p:nvSpPr>
          <p:cNvPr id="20" name="Shape 17"/>
          <p:cNvSpPr/>
          <p:nvPr/>
        </p:nvSpPr>
        <p:spPr>
          <a:xfrm>
            <a:off x="8284464" y="4197845"/>
            <a:ext cx="201168" cy="201168"/>
          </a:xfrm>
          <a:prstGeom prst="ellipse">
            <a:avLst/>
          </a:prstGeom>
          <a:solidFill>
            <a:srgbClr val="D64545"/>
          </a:solidFill>
          <a:ln w="12700">
            <a:solidFill>
              <a:srgbClr val="D64545"/>
            </a:solidFill>
            <a:prstDash val="solid"/>
          </a:ln>
        </p:spPr>
      </p:sp>
      <p:sp>
        <p:nvSpPr>
          <p:cNvPr id="21" name="Text 18"/>
          <p:cNvSpPr txBox="1"/>
          <p:nvPr/>
        </p:nvSpPr>
        <p:spPr>
          <a:xfrm>
            <a:off x="8586216" y="4124693"/>
            <a:ext cx="2880360" cy="347472"/>
          </a:xfrm>
          <a:prstGeom prst="rect">
            <a:avLst/>
          </a:prstGeom>
          <a:noFill/>
          <a:ln/>
        </p:spPr>
        <p:txBody>
          <a:bodyPr wrap="square" lIns="0" tIns="0" rIns="0" bIns="0" rtlCol="0" anchor="ctr"/>
          <a:lstStyle/>
          <a:p>
            <a:pPr marL="0" indent="0">
              <a:buNone/>
            </a:pPr>
            <a:r>
              <a:rPr lang="en-US" sz="1600" b="1" dirty="0">
                <a:solidFill>
                  <a:srgbClr val="14213D"/>
                </a:solidFill>
                <a:latin typeface="Times New Roman" panose="02020603050405020304" pitchFamily="18" charset="0"/>
                <a:ea typeface="Cambria" pitchFamily="34" charset="-122"/>
                <a:cs typeface="Times New Roman" panose="02020603050405020304" pitchFamily="18" charset="0"/>
              </a:rPr>
              <a:t>Khách có nguy cơ rời bỏ</a:t>
            </a:r>
            <a:endParaRPr lang="en-US" sz="1600" dirty="0">
              <a:latin typeface="Times New Roman" panose="02020603050405020304" pitchFamily="18" charset="0"/>
              <a:cs typeface="Times New Roman" panose="02020603050405020304" pitchFamily="18" charset="0"/>
            </a:endParaRPr>
          </a:p>
        </p:txBody>
      </p:sp>
      <p:sp>
        <p:nvSpPr>
          <p:cNvPr id="22" name="Text 19"/>
          <p:cNvSpPr txBox="1"/>
          <p:nvPr/>
        </p:nvSpPr>
        <p:spPr>
          <a:xfrm>
            <a:off x="8284464" y="4517885"/>
            <a:ext cx="3163824" cy="256032"/>
          </a:xfrm>
          <a:prstGeom prst="rect">
            <a:avLst/>
          </a:prstGeom>
          <a:noFill/>
          <a:ln/>
        </p:spPr>
        <p:txBody>
          <a:bodyPr wrap="square" lIns="0" tIns="0" rIns="0" bIns="0" rtlCol="0" anchor="ctr"/>
          <a:lstStyle/>
          <a:p>
            <a:pPr marL="0" indent="0">
              <a:buNone/>
            </a:pPr>
            <a:r>
              <a:rPr lang="en-US" sz="1600" dirty="0">
                <a:solidFill>
                  <a:srgbClr val="6B7280"/>
                </a:solidFill>
                <a:latin typeface="Times New Roman" panose="02020603050405020304" pitchFamily="18" charset="0"/>
                <a:ea typeface="Calibri" pitchFamily="34" charset="-122"/>
                <a:cs typeface="Times New Roman" panose="02020603050405020304" pitchFamily="18" charset="0"/>
              </a:rPr>
              <a:t>1,824 (31.2%) khách</a:t>
            </a:r>
            <a:endParaRPr lang="en-US" sz="1600" dirty="0">
              <a:latin typeface="Times New Roman" panose="02020603050405020304" pitchFamily="18" charset="0"/>
              <a:cs typeface="Times New Roman" panose="02020603050405020304" pitchFamily="18" charset="0"/>
            </a:endParaRPr>
          </a:p>
        </p:txBody>
      </p:sp>
      <p:sp>
        <p:nvSpPr>
          <p:cNvPr id="23" name="Text 20"/>
          <p:cNvSpPr txBox="1"/>
          <p:nvPr/>
        </p:nvSpPr>
        <p:spPr>
          <a:xfrm>
            <a:off x="8284464" y="4819637"/>
            <a:ext cx="3163824" cy="320040"/>
          </a:xfrm>
          <a:prstGeom prst="rect">
            <a:avLst/>
          </a:prstGeom>
          <a:noFill/>
          <a:ln/>
        </p:spPr>
        <p:txBody>
          <a:bodyPr wrap="square" lIns="0" tIns="0" rIns="0" bIns="0" rtlCol="0" anchor="ctr"/>
          <a:lstStyle/>
          <a:p>
            <a:pPr marL="0" indent="0">
              <a:buNone/>
            </a:pP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R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470 ngày   </a:t>
            </a: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F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1.8   </a:t>
            </a:r>
            <a:r>
              <a:rPr lang="en-US" sz="1600" b="1" dirty="0">
                <a:solidFill>
                  <a:srgbClr val="6B7280"/>
                </a:solidFill>
                <a:latin typeface="Times New Roman" panose="02020603050405020304" pitchFamily="18" charset="0"/>
                <a:ea typeface="Calibri" pitchFamily="34" charset="-122"/>
                <a:cs typeface="Times New Roman" panose="02020603050405020304" pitchFamily="18" charset="0"/>
              </a:rPr>
              <a:t>M </a:t>
            </a:r>
            <a:r>
              <a:rPr lang="en-US" sz="1600" b="1" dirty="0">
                <a:solidFill>
                  <a:srgbClr val="D64545"/>
                </a:solidFill>
                <a:latin typeface="Times New Roman" panose="02020603050405020304" pitchFamily="18" charset="0"/>
                <a:ea typeface="Calibri" pitchFamily="34" charset="-122"/>
                <a:cs typeface="Times New Roman" panose="02020603050405020304" pitchFamily="18" charset="0"/>
              </a:rPr>
              <a:t>£542</a:t>
            </a:r>
            <a:endParaRPr lang="en-US" sz="1600" dirty="0">
              <a:latin typeface="Times New Roman" panose="02020603050405020304" pitchFamily="18" charset="0"/>
              <a:cs typeface="Times New Roman" panose="02020603050405020304" pitchFamily="18" charset="0"/>
            </a:endParaRPr>
          </a:p>
        </p:txBody>
      </p:sp>
      <p:sp>
        <p:nvSpPr>
          <p:cNvPr id="24" name="Text 21"/>
          <p:cNvSpPr txBox="1"/>
          <p:nvPr/>
        </p:nvSpPr>
        <p:spPr>
          <a:xfrm>
            <a:off x="8083296" y="5194354"/>
            <a:ext cx="3557016" cy="1197115"/>
          </a:xfrm>
          <a:prstGeom prst="rect">
            <a:avLst/>
          </a:prstGeom>
          <a:noFill/>
          <a:ln/>
        </p:spPr>
        <p:txBody>
          <a:bodyPr wrap="square" lIns="0" tIns="0" rIns="0" bIns="0" rtlCol="0" anchor="t"/>
          <a:lstStyle/>
          <a:p>
            <a:pPr marL="285750" indent="-285750">
              <a:lnSpc>
                <a:spcPct val="150000"/>
              </a:lnSpc>
              <a:buFont typeface="Arial" panose="020B0604020202020204" pitchFamily="34" charset="0"/>
              <a:buChar char="•"/>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Chiến dịch tái kích hoạt: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E</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mail nhắc lại, ưu đãi có </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thời</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hạn.</a:t>
            </a:r>
          </a:p>
          <a:p>
            <a:pPr marL="285750" indent="-285750">
              <a:lnSpc>
                <a:spcPct val="150000"/>
              </a:lnSpc>
              <a:buFont typeface="Arial" panose="020B0604020202020204" pitchFamily="34" charset="0"/>
              <a:buChar char="•"/>
            </a:pPr>
            <a:r>
              <a:rPr lang="vi-VN" sz="1500" dirty="0">
                <a:solidFill>
                  <a:srgbClr val="1F2937"/>
                </a:solidFill>
                <a:latin typeface="Times New Roman" panose="02020603050405020304" pitchFamily="18" charset="0"/>
                <a:ea typeface="Calibri" pitchFamily="34" charset="-122"/>
                <a:cs typeface="Times New Roman" panose="02020603050405020304" pitchFamily="18" charset="0"/>
              </a:rPr>
              <a:t>K</a:t>
            </a:r>
            <a:r>
              <a:rPr lang="en-US" sz="1500" dirty="0" err="1">
                <a:solidFill>
                  <a:srgbClr val="1F2937"/>
                </a:solidFill>
                <a:latin typeface="Times New Roman" panose="02020603050405020304" pitchFamily="18" charset="0"/>
                <a:ea typeface="Calibri" pitchFamily="34" charset="-122"/>
                <a:cs typeface="Times New Roman" panose="02020603050405020304" pitchFamily="18" charset="0"/>
              </a:rPr>
              <a:t>iểm</a:t>
            </a: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 tra phản hồi trước khi tăng chi phí.</a:t>
            </a:r>
            <a:endParaRPr lang="en-US" sz="1500" dirty="0">
              <a:latin typeface="Times New Roman" panose="02020603050405020304" pitchFamily="18" charset="0"/>
              <a:cs typeface="Times New Roman" panose="02020603050405020304" pitchFamily="18" charset="0"/>
            </a:endParaRPr>
          </a:p>
        </p:txBody>
      </p:sp>
      <p:sp>
        <p:nvSpPr>
          <p:cNvPr id="26" name="Text 0">
            <a:extLst>
              <a:ext uri="{FF2B5EF4-FFF2-40B4-BE49-F238E27FC236}">
                <a16:creationId xmlns:a16="http://schemas.microsoft.com/office/drawing/2014/main" id="{301B6D06-465F-70CE-6C1B-3CC30DEC013D}"/>
              </a:ext>
            </a:extLst>
          </p:cNvPr>
          <p:cNvSpPr txBox="1"/>
          <p:nvPr/>
        </p:nvSpPr>
        <p:spPr>
          <a:xfrm>
            <a:off x="557971" y="114764"/>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anose="02020603050405020304" pitchFamily="18" charset="0"/>
                <a:ea typeface="Times New Roman" pitchFamily="34" charset="-122"/>
                <a:cs typeface="Times New Roman" panose="02020603050405020304" pitchFamily="18" charset="0"/>
              </a:rPr>
              <a:t>RFM Clustering:</a:t>
            </a:r>
            <a:r>
              <a:rPr lang="vi-VN" sz="3000" b="1" dirty="0">
                <a:solidFill>
                  <a:srgbClr val="0B2A5B"/>
                </a:solidFill>
                <a:latin typeface="Times New Roman" panose="02020603050405020304" pitchFamily="18" charset="0"/>
                <a:ea typeface="Times New Roman" pitchFamily="34" charset="-122"/>
                <a:cs typeface="Times New Roman" panose="02020603050405020304" pitchFamily="18" charset="0"/>
              </a:rPr>
              <a:t> 3 Phân khúc và hành động đề xuất</a:t>
            </a:r>
            <a:endParaRPr lang="en-US" sz="3000" dirty="0">
              <a:latin typeface="Times New Roman" panose="02020603050405020304" pitchFamily="18" charset="0"/>
              <a:cs typeface="Times New Roman" panose="02020603050405020304" pitchFamily="18" charset="0"/>
            </a:endParaRPr>
          </a:p>
        </p:txBody>
      </p:sp>
      <p:sp>
        <p:nvSpPr>
          <p:cNvPr id="28" name="Text 2">
            <a:extLst>
              <a:ext uri="{FF2B5EF4-FFF2-40B4-BE49-F238E27FC236}">
                <a16:creationId xmlns:a16="http://schemas.microsoft.com/office/drawing/2014/main" id="{E845EB79-CDBE-B8F2-9A6C-48D249DB415E}"/>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pic>
        <p:nvPicPr>
          <p:cNvPr id="30" name="Picture 29">
            <a:extLst>
              <a:ext uri="{FF2B5EF4-FFF2-40B4-BE49-F238E27FC236}">
                <a16:creationId xmlns:a16="http://schemas.microsoft.com/office/drawing/2014/main" id="{2B445800-F3EC-A2A2-1A1D-77FA569E4F41}"/>
              </a:ext>
            </a:extLst>
          </p:cNvPr>
          <p:cNvPicPr>
            <a:picLocks noChangeAspect="1"/>
          </p:cNvPicPr>
          <p:nvPr/>
        </p:nvPicPr>
        <p:blipFill>
          <a:blip r:embed="rId3"/>
          <a:stretch>
            <a:fillRect/>
          </a:stretch>
        </p:blipFill>
        <p:spPr>
          <a:xfrm>
            <a:off x="1405189" y="759742"/>
            <a:ext cx="9492965" cy="2979747"/>
          </a:xfrm>
          <a:prstGeom prst="rect">
            <a:avLst/>
          </a:prstGeom>
        </p:spPr>
      </p:pic>
      <p:sp>
        <p:nvSpPr>
          <p:cNvPr id="32" name="Text 4">
            <a:extLst>
              <a:ext uri="{FF2B5EF4-FFF2-40B4-BE49-F238E27FC236}">
                <a16:creationId xmlns:a16="http://schemas.microsoft.com/office/drawing/2014/main" id="{F33EF19F-6665-93A0-CB33-FC3AA4F4FFF0}"/>
              </a:ext>
            </a:extLst>
          </p:cNvPr>
          <p:cNvSpPr txBox="1"/>
          <p:nvPr/>
        </p:nvSpPr>
        <p:spPr>
          <a:xfrm>
            <a:off x="2825309" y="3771425"/>
            <a:ext cx="6583680" cy="274320"/>
          </a:xfrm>
          <a:prstGeom prst="rect">
            <a:avLst/>
          </a:prstGeom>
          <a:noFill/>
          <a:ln/>
        </p:spPr>
        <p:txBody>
          <a:bodyPr wrap="square" lIns="0" tIns="0" rIns="0" bIns="0" rtlCol="0" anchor="ctr"/>
          <a:lstStyle/>
          <a:p>
            <a:pPr algn="ctr"/>
            <a:r>
              <a:rPr lang="en-US" sz="1500" i="1" dirty="0" err="1">
                <a:latin typeface="Times New Roman" panose="02020603050405020304" pitchFamily="18" charset="0"/>
                <a:ea typeface="Times New Roman" pitchFamily="34" charset="-122"/>
                <a:cs typeface="Times New Roman" panose="02020603050405020304" pitchFamily="18" charset="0"/>
              </a:rPr>
              <a:t>Hình</a:t>
            </a:r>
            <a:r>
              <a:rPr lang="en-US" sz="1500" i="1" dirty="0">
                <a:latin typeface="Times New Roman" panose="02020603050405020304" pitchFamily="18" charset="0"/>
                <a:ea typeface="Times New Roman" pitchFamily="34" charset="-122"/>
                <a:cs typeface="Times New Roman" panose="02020603050405020304" pitchFamily="18" charset="0"/>
              </a:rPr>
              <a:t> </a:t>
            </a:r>
            <a:r>
              <a:rPr lang="vi-VN" sz="1500" i="1" dirty="0">
                <a:latin typeface="Times New Roman" panose="02020603050405020304" pitchFamily="18" charset="0"/>
                <a:ea typeface="Times New Roman" pitchFamily="34" charset="-122"/>
                <a:cs typeface="Times New Roman" panose="02020603050405020304" pitchFamily="18" charset="0"/>
              </a:rPr>
              <a:t>9</a:t>
            </a:r>
            <a:r>
              <a:rPr lang="en-US" sz="1500" i="1" dirty="0">
                <a:latin typeface="Times New Roman" panose="02020603050405020304" pitchFamily="18" charset="0"/>
                <a:ea typeface="Times New Roman" pitchFamily="34" charset="-122"/>
                <a:cs typeface="Times New Roman" panose="02020603050405020304" pitchFamily="18" charset="0"/>
              </a:rPr>
              <a:t>. </a:t>
            </a:r>
            <a:r>
              <a:rPr lang="vi-VN" sz="1500" i="1" dirty="0">
                <a:latin typeface="Times New Roman" panose="02020603050405020304" pitchFamily="18" charset="0"/>
                <a:ea typeface="Times New Roman" pitchFamily="34" charset="-122"/>
                <a:cs typeface="Times New Roman" panose="02020603050405020304" pitchFamily="18" charset="0"/>
              </a:rPr>
              <a:t>Đặc điểm RFM của từng phân khúc khách hàng</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Calibri" pitchFamily="34" charset="0"/>
                <a:ea typeface="Calibri" pitchFamily="34" charset="-122"/>
                <a:cs typeface="Calibri" pitchFamily="34" charset="-120"/>
              </a:rPr>
              <a:t>25</a:t>
            </a:r>
            <a:endParaRPr lang="en-US" sz="1000" dirty="0"/>
          </a:p>
        </p:txBody>
      </p:sp>
      <p:sp>
        <p:nvSpPr>
          <p:cNvPr id="7" name="Text 4"/>
          <p:cNvSpPr txBox="1"/>
          <p:nvPr/>
        </p:nvSpPr>
        <p:spPr>
          <a:xfrm>
            <a:off x="548640" y="3657600"/>
            <a:ext cx="6949440" cy="274320"/>
          </a:xfrm>
          <a:prstGeom prst="rect">
            <a:avLst/>
          </a:prstGeom>
          <a:noFill/>
          <a:ln/>
        </p:spPr>
        <p:txBody>
          <a:bodyPr wrap="square" lIns="0" tIns="0" rIns="0" bIns="0" rtlCol="0" anchor="ctr"/>
          <a:lstStyle/>
          <a:p>
            <a:pPr marL="0" indent="0" algn="ctr">
              <a:buNone/>
            </a:pPr>
            <a:r>
              <a:rPr lang="en-US" sz="1500" i="1" dirty="0" err="1">
                <a:latin typeface="Times New Roman" panose="02020603050405020304" pitchFamily="18" charset="0"/>
                <a:ea typeface="Calibri" pitchFamily="34" charset="-122"/>
                <a:cs typeface="Times New Roman" panose="02020603050405020304" pitchFamily="18" charset="0"/>
              </a:rPr>
              <a:t>Hình</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10</a:t>
            </a:r>
            <a:r>
              <a:rPr lang="en-US" sz="1500" i="1" dirty="0">
                <a:latin typeface="Times New Roman" panose="02020603050405020304" pitchFamily="18" charset="0"/>
                <a:ea typeface="Calibri" pitchFamily="34" charset="-122"/>
                <a:cs typeface="Times New Roman" panose="02020603050405020304" pitchFamily="18" charset="0"/>
              </a:rPr>
              <a:t>. Phân phối inter-purchase gap (đến P95) và hàm CDF</a:t>
            </a:r>
            <a:endParaRPr lang="en-US" sz="1500" dirty="0">
              <a:latin typeface="Times New Roman" panose="02020603050405020304" pitchFamily="18" charset="0"/>
              <a:cs typeface="Times New Roman" panose="02020603050405020304" pitchFamily="18" charset="0"/>
            </a:endParaRPr>
          </a:p>
        </p:txBody>
      </p:sp>
      <p:graphicFrame>
        <p:nvGraphicFramePr>
          <p:cNvPr id="19" name="Table 0"/>
          <p:cNvGraphicFramePr>
            <a:graphicFrameLocks noGrp="1"/>
          </p:cNvGraphicFramePr>
          <p:nvPr>
            <p:extLst>
              <p:ext uri="{D42A27DB-BD31-4B8C-83A1-F6EECF244321}">
                <p14:modId xmlns:p14="http://schemas.microsoft.com/office/powerpoint/2010/main" val="900834825"/>
              </p:ext>
            </p:extLst>
          </p:nvPr>
        </p:nvGraphicFramePr>
        <p:xfrm>
          <a:off x="548639" y="4078410"/>
          <a:ext cx="6682585" cy="2093790"/>
        </p:xfrm>
        <a:graphic>
          <a:graphicData uri="http://schemas.openxmlformats.org/drawingml/2006/table">
            <a:tbl>
              <a:tblPr/>
              <a:tblGrid>
                <a:gridCol w="1294598">
                  <a:extLst>
                    <a:ext uri="{9D8B030D-6E8A-4147-A177-3AD203B41FA5}">
                      <a16:colId xmlns:a16="http://schemas.microsoft.com/office/drawing/2014/main" val="20000"/>
                    </a:ext>
                  </a:extLst>
                </a:gridCol>
                <a:gridCol w="1387069">
                  <a:extLst>
                    <a:ext uri="{9D8B030D-6E8A-4147-A177-3AD203B41FA5}">
                      <a16:colId xmlns:a16="http://schemas.microsoft.com/office/drawing/2014/main" val="20001"/>
                    </a:ext>
                  </a:extLst>
                </a:gridCol>
                <a:gridCol w="4000918">
                  <a:extLst>
                    <a:ext uri="{9D8B030D-6E8A-4147-A177-3AD203B41FA5}">
                      <a16:colId xmlns:a16="http://schemas.microsoft.com/office/drawing/2014/main" val="20002"/>
                    </a:ext>
                  </a:extLst>
                </a:gridCol>
              </a:tblGrid>
              <a:tr h="418758">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Percentile</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Gap (ngày)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Ý nghĩa</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8758">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P50</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50% lần mua cách nhau ≤ 32 ngày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18758">
                <a:tc>
                  <a:txBody>
                    <a:bodyPr/>
                    <a:lstStyle/>
                    <a:p>
                      <a:pPr marL="0" indent="0" algn="ctr">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P75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4DD"/>
                    </a:solidFill>
                  </a:tcPr>
                </a:tc>
                <a:tc>
                  <a:txBody>
                    <a:bodyPr/>
                    <a:lstStyle/>
                    <a:p>
                      <a:pPr marL="0" indent="0" algn="ctr">
                        <a:buNone/>
                      </a:pPr>
                      <a:r>
                        <a:rPr lang="en-US" sz="1500" b="1" dirty="0">
                          <a:solidFill>
                            <a:srgbClr val="D9890A"/>
                          </a:solidFill>
                          <a:latin typeface="Times New Roman" panose="02020603050405020304" pitchFamily="18" charset="0"/>
                          <a:ea typeface="Calibri" pitchFamily="34" charset="-122"/>
                          <a:cs typeface="Times New Roman" panose="02020603050405020304" pitchFamily="18" charset="0"/>
                        </a:rPr>
                        <a:t>70</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4DD"/>
                    </a:solidFill>
                  </a:tcPr>
                </a:tc>
                <a:tc>
                  <a:txBody>
                    <a:bodyPr/>
                    <a:lstStyle/>
                    <a:p>
                      <a:pPr marL="0" indent="0" algn="ctr">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75% lần mua cách nhau ≤ 70 </a:t>
                      </a:r>
                      <a:r>
                        <a:rPr lang="en-US" sz="1500" b="1" dirty="0" err="1">
                          <a:solidFill>
                            <a:srgbClr val="1F2937"/>
                          </a:solidFill>
                          <a:latin typeface="Times New Roman" panose="02020603050405020304" pitchFamily="18" charset="0"/>
                          <a:ea typeface="Calibri" pitchFamily="34" charset="-122"/>
                          <a:cs typeface="Times New Roman" panose="02020603050405020304" pitchFamily="18" charset="0"/>
                        </a:rPr>
                        <a:t>ngày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4DD"/>
                    </a:solidFill>
                  </a:tcPr>
                </a:tc>
                <a:extLst>
                  <a:ext uri="{0D108BD9-81ED-4DB2-BD59-A6C34878D82A}">
                    <a16:rowId xmlns:a16="http://schemas.microsoft.com/office/drawing/2014/main" val="10002"/>
                  </a:ext>
                </a:extLst>
              </a:tr>
              <a:tr h="418758">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P90</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148</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90% lần mua cách nhau ≤ 148 ngày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18758">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P95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221</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95% lần mua cách nhau ≤ 221 ngày</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hape 6"/>
          <p:cNvSpPr/>
          <p:nvPr/>
        </p:nvSpPr>
        <p:spPr>
          <a:xfrm>
            <a:off x="7772400" y="1188720"/>
            <a:ext cx="3867912" cy="1874520"/>
          </a:xfrm>
          <a:prstGeom prst="roundRect">
            <a:avLst>
              <a:gd name="adj" fmla="val 3902"/>
            </a:avLst>
          </a:prstGeom>
          <a:solidFill>
            <a:schemeClr val="accent5">
              <a:lumMod val="20000"/>
              <a:lumOff val="80000"/>
            </a:schemeClr>
          </a:solidFill>
          <a:ln w="12700">
            <a:solidFill>
              <a:srgbClr val="14213D"/>
            </a:solidFill>
            <a:prstDash val="solid"/>
          </a:ln>
        </p:spPr>
      </p:sp>
      <p:sp>
        <p:nvSpPr>
          <p:cNvPr id="11" name="Text 7"/>
          <p:cNvSpPr txBox="1"/>
          <p:nvPr/>
        </p:nvSpPr>
        <p:spPr>
          <a:xfrm>
            <a:off x="8001000" y="1261872"/>
            <a:ext cx="3410712" cy="36576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mbria" pitchFamily="34" charset="-122"/>
                <a:cs typeface="Times New Roman" panose="02020603050405020304" pitchFamily="18" charset="0"/>
              </a:rPr>
              <a:t>Churn = 1</a:t>
            </a:r>
            <a:endParaRPr lang="en-US" dirty="0">
              <a:latin typeface="Times New Roman" panose="02020603050405020304" pitchFamily="18" charset="0"/>
              <a:cs typeface="Times New Roman" panose="02020603050405020304" pitchFamily="18" charset="0"/>
            </a:endParaRPr>
          </a:p>
        </p:txBody>
      </p:sp>
      <p:sp>
        <p:nvSpPr>
          <p:cNvPr id="12" name="Text 8"/>
          <p:cNvSpPr txBox="1"/>
          <p:nvPr/>
        </p:nvSpPr>
        <p:spPr>
          <a:xfrm>
            <a:off x="8001000" y="1645920"/>
            <a:ext cx="3410712" cy="1325880"/>
          </a:xfrm>
          <a:prstGeom prst="rect">
            <a:avLst/>
          </a:prstGeom>
          <a:noFill/>
          <a:ln/>
        </p:spPr>
        <p:txBody>
          <a:bodyPr wrap="square" lIns="0" tIns="0" rIns="0" bIns="0" rtlCol="0" anchor="t"/>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Khách không quay lại mua trong 70 ngày sau </a:t>
            </a:r>
            <a:r>
              <a:rPr lang="en-US" sz="1600" dirty="0" err="1">
                <a:latin typeface="Times New Roman" panose="02020603050405020304" pitchFamily="18" charset="0"/>
                <a:ea typeface="Calibri" pitchFamily="34" charset="-122"/>
                <a:cs typeface="Times New Roman" panose="02020603050405020304" pitchFamily="18" charset="0"/>
              </a:rPr>
              <a:t>mốc</a:t>
            </a:r>
            <a:r>
              <a:rPr lang="en-US" sz="1600" dirty="0">
                <a:latin typeface="Times New Roman" panose="02020603050405020304" pitchFamily="18" charset="0"/>
                <a:ea typeface="Calibri" pitchFamily="34" charset="-122"/>
                <a:cs typeface="Times New Roman" panose="02020603050405020304" pitchFamily="18" charset="0"/>
              </a:rPr>
              <a:t> </a:t>
            </a:r>
            <a:r>
              <a:rPr lang="vi-VN" sz="1600" dirty="0">
                <a:latin typeface="Times New Roman" panose="02020603050405020304" pitchFamily="18" charset="0"/>
                <a:ea typeface="Calibri" pitchFamily="34" charset="-122"/>
                <a:cs typeface="Times New Roman" panose="02020603050405020304" pitchFamily="18" charset="0"/>
              </a:rPr>
              <a:t>S</a:t>
            </a:r>
            <a:r>
              <a:rPr lang="en-US" sz="1600" dirty="0" err="1">
                <a:latin typeface="Times New Roman" panose="02020603050405020304" pitchFamily="18" charset="0"/>
                <a:ea typeface="Calibri" pitchFamily="34" charset="-122"/>
                <a:cs typeface="Times New Roman" panose="02020603050405020304" pitchFamily="18" charset="0"/>
              </a:rPr>
              <a:t>napshot</a:t>
            </a:r>
            <a:r>
              <a:rPr lang="en-US" sz="1600" dirty="0">
                <a:latin typeface="Times New Roman" panose="02020603050405020304" pitchFamily="18" charset="0"/>
                <a:ea typeface="Calibri" pitchFamily="34" charset="-122"/>
                <a:cs typeface="Times New Roman" panose="02020603050405020304" pitchFamily="18" charset="0"/>
              </a:rPr>
              <a:t> (cửa sổ = P75 của inter-purchase gap).</a:t>
            </a:r>
            <a:endParaRPr lang="en-US" sz="1600" dirty="0">
              <a:latin typeface="Times New Roman" panose="02020603050405020304" pitchFamily="18" charset="0"/>
              <a:cs typeface="Times New Roman" panose="02020603050405020304" pitchFamily="18" charset="0"/>
            </a:endParaRPr>
          </a:p>
        </p:txBody>
      </p:sp>
      <p:sp>
        <p:nvSpPr>
          <p:cNvPr id="13" name="Shape 9"/>
          <p:cNvSpPr/>
          <p:nvPr/>
        </p:nvSpPr>
        <p:spPr>
          <a:xfrm>
            <a:off x="7772400" y="3246120"/>
            <a:ext cx="3867912" cy="2926080"/>
          </a:xfrm>
          <a:prstGeom prst="roundRect">
            <a:avLst>
              <a:gd name="adj" fmla="val 2500"/>
            </a:avLst>
          </a:prstGeom>
          <a:solidFill>
            <a:schemeClr val="accent5">
              <a:lumMod val="20000"/>
              <a:lumOff val="80000"/>
            </a:schemeClr>
          </a:solidFill>
          <a:ln w="12700">
            <a:solidFill>
              <a:srgbClr val="F4F6FA"/>
            </a:solidFill>
            <a:prstDash val="solid"/>
          </a:ln>
        </p:spPr>
      </p:sp>
      <p:sp>
        <p:nvSpPr>
          <p:cNvPr id="14" name="Text 10"/>
          <p:cNvSpPr txBox="1"/>
          <p:nvPr/>
        </p:nvSpPr>
        <p:spPr>
          <a:xfrm>
            <a:off x="8001000" y="3319272"/>
            <a:ext cx="3410712" cy="365760"/>
          </a:xfrm>
          <a:prstGeom prst="rect">
            <a:avLst/>
          </a:prstGeom>
          <a:noFill/>
          <a:ln/>
        </p:spPr>
        <p:txBody>
          <a:bodyPr wrap="square" lIns="0" tIns="0" rIns="0" bIns="0" rtlCol="0" anchor="ctr"/>
          <a:lstStyle/>
          <a:p>
            <a:pPr marL="0" indent="0">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Lý do chọn</a:t>
            </a: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 P75</a:t>
            </a:r>
            <a:endParaRPr lang="en-US" dirty="0">
              <a:latin typeface="Times New Roman" panose="02020603050405020304" pitchFamily="18" charset="0"/>
              <a:cs typeface="Times New Roman" panose="02020603050405020304" pitchFamily="18" charset="0"/>
            </a:endParaRPr>
          </a:p>
        </p:txBody>
      </p:sp>
      <p:sp>
        <p:nvSpPr>
          <p:cNvPr id="15" name="Text 11"/>
          <p:cNvSpPr txBox="1"/>
          <p:nvPr/>
        </p:nvSpPr>
        <p:spPr>
          <a:xfrm>
            <a:off x="8001000" y="3730752"/>
            <a:ext cx="3410712" cy="229682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Không quá ngắn (P50 = 32 ngày → dễ gán nhầm khách chu kỳ dài).</a:t>
            </a:r>
            <a:endParaRPr lang="en-US" sz="1600" dirty="0">
              <a:latin typeface="Times New Roman" panose="02020603050405020304" pitchFamily="18" charset="0"/>
              <a:cs typeface="Times New Roman" panose="02020603050405020304" pitchFamily="18" charset="0"/>
            </a:endParaRPr>
          </a:p>
          <a:p>
            <a:pPr marL="203200" indent="-203200">
              <a:spcAft>
                <a:spcPts val="8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Không quá dài (P90/P95 làm chậm hành động giữ chân).</a:t>
            </a:r>
            <a:endParaRPr lang="en-US" sz="1600" dirty="0">
              <a:latin typeface="Times New Roman" panose="02020603050405020304" pitchFamily="18" charset="0"/>
              <a:cs typeface="Times New Roman" panose="02020603050405020304" pitchFamily="18" charset="0"/>
            </a:endParaRPr>
          </a:p>
          <a:p>
            <a:pPr marL="203200" indent="-203200">
              <a:spcAft>
                <a:spcPts val="800"/>
              </a:spcAft>
              <a:buSzPct val="100000"/>
              <a:buChar char="•"/>
            </a:pP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Hạn</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chế</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N</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gưỡng</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chung cho mọi khách; P75 tính từ toàn bộ dữ liệu. </a:t>
            </a:r>
            <a:endParaRPr lang="vi-VN" sz="1600" dirty="0">
              <a:solidFill>
                <a:srgbClr val="1F2937"/>
              </a:solidFill>
              <a:latin typeface="Times New Roman" panose="02020603050405020304" pitchFamily="18" charset="0"/>
              <a:ea typeface="Calibri" pitchFamily="34" charset="-122"/>
              <a:cs typeface="Times New Roman" panose="02020603050405020304" pitchFamily="18" charset="0"/>
            </a:endParaRPr>
          </a:p>
          <a:p>
            <a:pPr marL="203200" indent="-203200">
              <a:spcAft>
                <a:spcPts val="800"/>
              </a:spcAft>
              <a:buSzPct val="100000"/>
              <a:buChar char="•"/>
            </a:pP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Hướng</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cải tiến: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N</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gưỡng</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cá nhân hoá theo AvgGapDays.</a:t>
            </a:r>
            <a:endParaRPr lang="en-US" sz="16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D198B7D7-3990-F478-BAC8-9831F3875B9B}"/>
              </a:ext>
            </a:extLst>
          </p:cNvPr>
          <p:cNvPicPr>
            <a:picLocks noChangeAspect="1"/>
          </p:cNvPicPr>
          <p:nvPr/>
        </p:nvPicPr>
        <p:blipFill>
          <a:blip r:embed="rId3"/>
          <a:stretch>
            <a:fillRect/>
          </a:stretch>
        </p:blipFill>
        <p:spPr>
          <a:xfrm>
            <a:off x="149286" y="960119"/>
            <a:ext cx="7511147" cy="2627461"/>
          </a:xfrm>
          <a:prstGeom prst="rect">
            <a:avLst/>
          </a:prstGeom>
        </p:spPr>
      </p:pic>
      <p:sp>
        <p:nvSpPr>
          <p:cNvPr id="21" name="Text 0">
            <a:extLst>
              <a:ext uri="{FF2B5EF4-FFF2-40B4-BE49-F238E27FC236}">
                <a16:creationId xmlns:a16="http://schemas.microsoft.com/office/drawing/2014/main" id="{59892EB4-112D-FBDE-9D35-12553240BE01}"/>
              </a:ext>
            </a:extLst>
          </p:cNvPr>
          <p:cNvSpPr txBox="1"/>
          <p:nvPr/>
        </p:nvSpPr>
        <p:spPr>
          <a:xfrm>
            <a:off x="548639" y="86773"/>
            <a:ext cx="11357221" cy="685800"/>
          </a:xfrm>
          <a:prstGeom prst="rect">
            <a:avLst/>
          </a:prstGeom>
          <a:noFill/>
          <a:ln/>
        </p:spPr>
        <p:txBody>
          <a:bodyPr wrap="square" lIns="0" tIns="0" rIns="0" bIns="0" rtlCol="0" anchor="ctr"/>
          <a:lstStyle/>
          <a:p>
            <a:r>
              <a:rPr lang="en-US" sz="3000" b="1" dirty="0">
                <a:solidFill>
                  <a:srgbClr val="0B2A5B"/>
                </a:solidFill>
                <a:latin typeface="Times New Roman" pitchFamily="34" charset="0"/>
                <a:ea typeface="Times New Roman" pitchFamily="34" charset="-122"/>
                <a:cs typeface="Times New Roman" pitchFamily="34" charset="-120"/>
              </a:rPr>
              <a:t>Churn Classification :</a:t>
            </a:r>
            <a:r>
              <a:rPr lang="vi-VN" sz="3000" b="1" dirty="0">
                <a:solidFill>
                  <a:srgbClr val="0B2A5B"/>
                </a:solidFill>
                <a:latin typeface="Times New Roman" pitchFamily="34" charset="0"/>
                <a:ea typeface="Times New Roman" pitchFamily="34" charset="-122"/>
                <a:cs typeface="Times New Roman" pitchFamily="34" charset="-120"/>
              </a:rPr>
              <a:t> Định nghĩa nhãn (inter-purchase gap)</a:t>
            </a:r>
            <a:endParaRPr lang="en-US" sz="3000" dirty="0"/>
          </a:p>
        </p:txBody>
      </p:sp>
      <p:sp>
        <p:nvSpPr>
          <p:cNvPr id="23" name="Text 2">
            <a:extLst>
              <a:ext uri="{FF2B5EF4-FFF2-40B4-BE49-F238E27FC236}">
                <a16:creationId xmlns:a16="http://schemas.microsoft.com/office/drawing/2014/main" id="{01ED411D-8864-796E-C79A-2F108BD69253}"/>
              </a:ext>
            </a:extLst>
          </p:cNvPr>
          <p:cNvSpPr txBox="1"/>
          <p:nvPr/>
        </p:nvSpPr>
        <p:spPr>
          <a:xfrm>
            <a:off x="552771" y="6319935"/>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A79A0-20AC-E7AA-A2E7-64121CEB8D05}"/>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9D0C8456-EA2D-40DE-3B73-C1BCDE160BDB}"/>
              </a:ext>
            </a:extLst>
          </p:cNvPr>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Calibri" pitchFamily="34" charset="0"/>
                <a:ea typeface="Calibri" pitchFamily="34" charset="-122"/>
                <a:cs typeface="Calibri" pitchFamily="34" charset="-120"/>
              </a:rPr>
              <a:t>26</a:t>
            </a:r>
            <a:endParaRPr lang="en-US" sz="1000" dirty="0"/>
          </a:p>
        </p:txBody>
      </p:sp>
      <p:sp>
        <p:nvSpPr>
          <p:cNvPr id="19" name="Text 16">
            <a:extLst>
              <a:ext uri="{FF2B5EF4-FFF2-40B4-BE49-F238E27FC236}">
                <a16:creationId xmlns:a16="http://schemas.microsoft.com/office/drawing/2014/main" id="{EF8BC5D7-2561-E4E1-3C46-A10924DD2481}"/>
              </a:ext>
            </a:extLst>
          </p:cNvPr>
          <p:cNvSpPr txBox="1"/>
          <p:nvPr/>
        </p:nvSpPr>
        <p:spPr>
          <a:xfrm>
            <a:off x="707257" y="5317509"/>
            <a:ext cx="4023360" cy="274320"/>
          </a:xfrm>
          <a:prstGeom prst="rect">
            <a:avLst/>
          </a:prstGeom>
          <a:noFill/>
          <a:ln/>
        </p:spPr>
        <p:txBody>
          <a:bodyPr wrap="square" lIns="0" tIns="0" rIns="0" bIns="0" rtlCol="0" anchor="ctr"/>
          <a:lstStyle/>
          <a:p>
            <a:pPr marL="0" indent="0" algn="ctr">
              <a:buNone/>
            </a:pPr>
            <a:r>
              <a:rPr lang="en-US" sz="1500" i="1" dirty="0" err="1">
                <a:latin typeface="Times New Roman" panose="02020603050405020304" pitchFamily="18" charset="0"/>
                <a:ea typeface="Calibri" pitchFamily="34" charset="-122"/>
                <a:cs typeface="Times New Roman" panose="02020603050405020304" pitchFamily="18" charset="0"/>
              </a:rPr>
              <a:t>Hình</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11</a:t>
            </a:r>
            <a:r>
              <a:rPr lang="en-US" sz="1500" i="1" dirty="0">
                <a:latin typeface="Times New Roman" panose="02020603050405020304" pitchFamily="18" charset="0"/>
                <a:ea typeface="Calibri" pitchFamily="34" charset="-122"/>
                <a:cs typeface="Times New Roman" panose="02020603050405020304" pitchFamily="18" charset="0"/>
              </a:rPr>
              <a:t>. Phân bố lớp Train &amp; Test</a:t>
            </a:r>
            <a:endParaRPr lang="en-US" sz="1500" dirty="0">
              <a:latin typeface="Times New Roman" panose="02020603050405020304" pitchFamily="18" charset="0"/>
              <a:cs typeface="Times New Roman" panose="02020603050405020304" pitchFamily="18" charset="0"/>
            </a:endParaRPr>
          </a:p>
        </p:txBody>
      </p:sp>
      <p:graphicFrame>
        <p:nvGraphicFramePr>
          <p:cNvPr id="20" name="Table 0">
            <a:extLst>
              <a:ext uri="{FF2B5EF4-FFF2-40B4-BE49-F238E27FC236}">
                <a16:creationId xmlns:a16="http://schemas.microsoft.com/office/drawing/2014/main" id="{3D3ACC02-9D9D-9DB1-6547-3D85653958F7}"/>
              </a:ext>
            </a:extLst>
          </p:cNvPr>
          <p:cNvGraphicFramePr>
            <a:graphicFrameLocks noGrp="1"/>
          </p:cNvGraphicFramePr>
          <p:nvPr>
            <p:extLst>
              <p:ext uri="{D42A27DB-BD31-4B8C-83A1-F6EECF244321}">
                <p14:modId xmlns:p14="http://schemas.microsoft.com/office/powerpoint/2010/main" val="414683493"/>
              </p:ext>
            </p:extLst>
          </p:nvPr>
        </p:nvGraphicFramePr>
        <p:xfrm>
          <a:off x="5275526" y="888260"/>
          <a:ext cx="6723641" cy="1192458"/>
        </p:xfrm>
        <a:graphic>
          <a:graphicData uri="http://schemas.openxmlformats.org/drawingml/2006/table">
            <a:tbl>
              <a:tblPr/>
              <a:tblGrid>
                <a:gridCol w="845356">
                  <a:extLst>
                    <a:ext uri="{9D8B030D-6E8A-4147-A177-3AD203B41FA5}">
                      <a16:colId xmlns:a16="http://schemas.microsoft.com/office/drawing/2014/main" val="20000"/>
                    </a:ext>
                  </a:extLst>
                </a:gridCol>
                <a:gridCol w="1436914">
                  <a:extLst>
                    <a:ext uri="{9D8B030D-6E8A-4147-A177-3AD203B41FA5}">
                      <a16:colId xmlns:a16="http://schemas.microsoft.com/office/drawing/2014/main" val="20001"/>
                    </a:ext>
                  </a:extLst>
                </a:gridCol>
                <a:gridCol w="1604865">
                  <a:extLst>
                    <a:ext uri="{9D8B030D-6E8A-4147-A177-3AD203B41FA5}">
                      <a16:colId xmlns:a16="http://schemas.microsoft.com/office/drawing/2014/main" val="20002"/>
                    </a:ext>
                  </a:extLst>
                </a:gridCol>
                <a:gridCol w="1819470">
                  <a:extLst>
                    <a:ext uri="{9D8B030D-6E8A-4147-A177-3AD203B41FA5}">
                      <a16:colId xmlns:a16="http://schemas.microsoft.com/office/drawing/2014/main" val="20003"/>
                    </a:ext>
                  </a:extLst>
                </a:gridCol>
                <a:gridCol w="1017036">
                  <a:extLst>
                    <a:ext uri="{9D8B030D-6E8A-4147-A177-3AD203B41FA5}">
                      <a16:colId xmlns:a16="http://schemas.microsoft.com/office/drawing/2014/main" val="20004"/>
                    </a:ext>
                  </a:extLst>
                </a:gridCol>
              </a:tblGrid>
              <a:tr h="397486">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Tập</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Số k</a:t>
                      </a:r>
                      <a:r>
                        <a:rPr lang="en-US" sz="1500" b="1" dirty="0" err="1">
                          <a:solidFill>
                            <a:schemeClr val="tx1"/>
                          </a:solidFill>
                          <a:latin typeface="Times New Roman" panose="02020603050405020304" pitchFamily="18" charset="0"/>
                          <a:ea typeface="Calibri" pitchFamily="34" charset="-122"/>
                          <a:cs typeface="Times New Roman" panose="02020603050405020304" pitchFamily="18" charset="0"/>
                        </a:rPr>
                        <a:t>hách</a:t>
                      </a: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 hàng</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Churn</a:t>
                      </a: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 </a:t>
                      </a: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a:t>
                      </a: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 </a:t>
                      </a: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0</a:t>
                      </a: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 (Ở lại)</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Churn</a:t>
                      </a: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 </a:t>
                      </a: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a:t>
                      </a: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 </a:t>
                      </a: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1</a:t>
                      </a: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 (Rời bỏ)</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 Churn</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397486">
                <a:tc>
                  <a:txBody>
                    <a:bodyPr/>
                    <a:lstStyle/>
                    <a:p>
                      <a:pPr marL="0" indent="0" algn="ctr">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TRAIN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5,081</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1,559</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3,522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D64545"/>
                          </a:solidFill>
                          <a:latin typeface="Times New Roman" panose="02020603050405020304" pitchFamily="18" charset="0"/>
                          <a:ea typeface="Calibri" pitchFamily="34" charset="-122"/>
                          <a:cs typeface="Times New Roman" panose="02020603050405020304" pitchFamily="18" charset="0"/>
                        </a:rPr>
                        <a:t>69.3%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97486">
                <a:tc>
                  <a:txBody>
                    <a:bodyPr/>
                    <a:lstStyle/>
                    <a:p>
                      <a:pPr marL="0" indent="0" algn="ctr">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TEST</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5,404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2,128</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3,276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D64545"/>
                          </a:solidFill>
                          <a:latin typeface="Times New Roman" panose="02020603050405020304" pitchFamily="18" charset="0"/>
                          <a:ea typeface="Calibri" pitchFamily="34" charset="-122"/>
                          <a:cs typeface="Times New Roman" panose="02020603050405020304" pitchFamily="18" charset="0"/>
                        </a:rPr>
                        <a:t>60.6%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5" name="Text 0">
            <a:extLst>
              <a:ext uri="{FF2B5EF4-FFF2-40B4-BE49-F238E27FC236}">
                <a16:creationId xmlns:a16="http://schemas.microsoft.com/office/drawing/2014/main" id="{6DCF2FFC-8D1F-E1BD-FE99-9C3E544859B7}"/>
              </a:ext>
            </a:extLst>
          </p:cNvPr>
          <p:cNvSpPr txBox="1"/>
          <p:nvPr/>
        </p:nvSpPr>
        <p:spPr>
          <a:xfrm>
            <a:off x="548639" y="86773"/>
            <a:ext cx="11357221" cy="685800"/>
          </a:xfrm>
          <a:prstGeom prst="rect">
            <a:avLst/>
          </a:prstGeom>
          <a:noFill/>
          <a:ln/>
        </p:spPr>
        <p:txBody>
          <a:bodyPr wrap="square" lIns="0" tIns="0" rIns="0" bIns="0" rtlCol="0" anchor="ctr"/>
          <a:lstStyle/>
          <a:p>
            <a:r>
              <a:rPr lang="en-US" sz="3000" b="1" dirty="0">
                <a:solidFill>
                  <a:srgbClr val="0B2A5B"/>
                </a:solidFill>
                <a:latin typeface="Times New Roman" pitchFamily="34" charset="0"/>
                <a:ea typeface="Times New Roman" pitchFamily="34" charset="-122"/>
                <a:cs typeface="Times New Roman" pitchFamily="34" charset="-120"/>
              </a:rPr>
              <a:t>Churn Classification :</a:t>
            </a:r>
            <a:r>
              <a:rPr lang="vi-VN" sz="3000" b="1" dirty="0">
                <a:solidFill>
                  <a:srgbClr val="0B2A5B"/>
                </a:solidFill>
                <a:latin typeface="Times New Roman" pitchFamily="34" charset="0"/>
                <a:ea typeface="Times New Roman" pitchFamily="34" charset="-122"/>
                <a:cs typeface="Times New Roman" pitchFamily="34" charset="-120"/>
              </a:rPr>
              <a:t> Chia theo thời gian và mất cân bằng lớp</a:t>
            </a:r>
            <a:endParaRPr lang="en-US" sz="3000" dirty="0"/>
          </a:p>
        </p:txBody>
      </p:sp>
      <p:sp>
        <p:nvSpPr>
          <p:cNvPr id="141" name="Text 2">
            <a:extLst>
              <a:ext uri="{FF2B5EF4-FFF2-40B4-BE49-F238E27FC236}">
                <a16:creationId xmlns:a16="http://schemas.microsoft.com/office/drawing/2014/main" id="{A60D0A65-8C37-A6F6-F675-AE6AE7A3A33B}"/>
              </a:ext>
            </a:extLst>
          </p:cNvPr>
          <p:cNvSpPr txBox="1"/>
          <p:nvPr/>
        </p:nvSpPr>
        <p:spPr>
          <a:xfrm>
            <a:off x="552771" y="6347928"/>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pic>
        <p:nvPicPr>
          <p:cNvPr id="143" name="Picture 142">
            <a:extLst>
              <a:ext uri="{FF2B5EF4-FFF2-40B4-BE49-F238E27FC236}">
                <a16:creationId xmlns:a16="http://schemas.microsoft.com/office/drawing/2014/main" id="{51531ECE-8C11-2F2E-8356-62D7E682FB4E}"/>
              </a:ext>
            </a:extLst>
          </p:cNvPr>
          <p:cNvPicPr>
            <a:picLocks noChangeAspect="1"/>
          </p:cNvPicPr>
          <p:nvPr/>
        </p:nvPicPr>
        <p:blipFill>
          <a:blip r:embed="rId3"/>
          <a:stretch>
            <a:fillRect/>
          </a:stretch>
        </p:blipFill>
        <p:spPr>
          <a:xfrm>
            <a:off x="195828" y="1819470"/>
            <a:ext cx="4902416" cy="3461087"/>
          </a:xfrm>
          <a:prstGeom prst="rect">
            <a:avLst/>
          </a:prstGeom>
        </p:spPr>
      </p:pic>
      <p:sp>
        <p:nvSpPr>
          <p:cNvPr id="3" name="Shape 6">
            <a:extLst>
              <a:ext uri="{FF2B5EF4-FFF2-40B4-BE49-F238E27FC236}">
                <a16:creationId xmlns:a16="http://schemas.microsoft.com/office/drawing/2014/main" id="{B93637F9-A424-08FA-A753-703355E93B41}"/>
              </a:ext>
            </a:extLst>
          </p:cNvPr>
          <p:cNvSpPr/>
          <p:nvPr/>
        </p:nvSpPr>
        <p:spPr>
          <a:xfrm>
            <a:off x="5271799" y="2149764"/>
            <a:ext cx="6727367" cy="2551365"/>
          </a:xfrm>
          <a:prstGeom prst="rect">
            <a:avLst/>
          </a:prstGeom>
          <a:solidFill>
            <a:srgbClr val="EAF2FF"/>
          </a:solidFill>
          <a:ln w="9525">
            <a:solidFill>
              <a:srgbClr val="C9DAF2"/>
            </a:solidFill>
            <a:prstDash val="solid"/>
          </a:ln>
        </p:spPr>
      </p:sp>
      <p:sp>
        <p:nvSpPr>
          <p:cNvPr id="6" name="Text 7">
            <a:extLst>
              <a:ext uri="{FF2B5EF4-FFF2-40B4-BE49-F238E27FC236}">
                <a16:creationId xmlns:a16="http://schemas.microsoft.com/office/drawing/2014/main" id="{36224D38-361A-FB11-9033-7CD997D5FED1}"/>
              </a:ext>
            </a:extLst>
          </p:cNvPr>
          <p:cNvSpPr txBox="1"/>
          <p:nvPr/>
        </p:nvSpPr>
        <p:spPr>
          <a:xfrm>
            <a:off x="5454680" y="2222917"/>
            <a:ext cx="6400800" cy="320040"/>
          </a:xfrm>
          <a:prstGeom prst="rect">
            <a:avLst/>
          </a:prstGeom>
          <a:noFill/>
          <a:ln/>
        </p:spPr>
        <p:txBody>
          <a:bodyPr wrap="square" lIns="0" tIns="0" rIns="0" bIns="0" rtlCol="0" anchor="ctr"/>
          <a:lstStyle/>
          <a:p>
            <a:pPr marL="0" indent="0">
              <a:buNone/>
            </a:pPr>
            <a:r>
              <a:rPr lang="en-US" b="1" dirty="0">
                <a:solidFill>
                  <a:srgbClr val="0B2A5B"/>
                </a:solidFill>
                <a:latin typeface="Times New Roman" pitchFamily="34" charset="0"/>
                <a:ea typeface="Times New Roman" pitchFamily="34" charset="-122"/>
                <a:cs typeface="Times New Roman" pitchFamily="34" charset="-120"/>
              </a:rPr>
              <a:t>Hệ quả và cách xử lý</a:t>
            </a:r>
            <a:endParaRPr lang="en-US" dirty="0"/>
          </a:p>
        </p:txBody>
      </p:sp>
      <p:sp>
        <p:nvSpPr>
          <p:cNvPr id="8" name="Text 8">
            <a:extLst>
              <a:ext uri="{FF2B5EF4-FFF2-40B4-BE49-F238E27FC236}">
                <a16:creationId xmlns:a16="http://schemas.microsoft.com/office/drawing/2014/main" id="{0102B3FA-F0A9-473B-BA1F-238EE0DE0239}"/>
              </a:ext>
            </a:extLst>
          </p:cNvPr>
          <p:cNvSpPr txBox="1"/>
          <p:nvPr/>
        </p:nvSpPr>
        <p:spPr>
          <a:xfrm>
            <a:off x="5454680" y="2588677"/>
            <a:ext cx="6451180" cy="2112453"/>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0B2A5B"/>
                </a:solidFill>
                <a:latin typeface="Times New Roman" panose="02020603050405020304" pitchFamily="18" charset="0"/>
                <a:ea typeface="Times New Roman" pitchFamily="34" charset="-122"/>
                <a:cs typeface="Times New Roman" panose="02020603050405020304" pitchFamily="18" charset="0"/>
              </a:rPr>
              <a:t>Nguyên </a:t>
            </a:r>
            <a:r>
              <a:rPr lang="en-US" sz="1500" dirty="0" err="1">
                <a:solidFill>
                  <a:srgbClr val="0B2A5B"/>
                </a:solidFill>
                <a:latin typeface="Times New Roman" panose="02020603050405020304" pitchFamily="18" charset="0"/>
                <a:ea typeface="Times New Roman" pitchFamily="34" charset="-122"/>
                <a:cs typeface="Times New Roman" panose="02020603050405020304" pitchFamily="18" charset="0"/>
              </a:rPr>
              <a:t>nhân</a:t>
            </a:r>
            <a:r>
              <a:rPr lang="en-US" sz="1500" dirty="0">
                <a:solidFill>
                  <a:srgbClr val="0B2A5B"/>
                </a:solidFill>
                <a:latin typeface="Times New Roman" panose="02020603050405020304" pitchFamily="18" charset="0"/>
                <a:ea typeface="Times New Roman" pitchFamily="34" charset="-122"/>
                <a:cs typeface="Times New Roman" panose="02020603050405020304" pitchFamily="18" charset="0"/>
              </a:rPr>
              <a:t> chú ý: </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28.6% khách chỉ mua đúng 1 lần (1,674 / 5,853) — không tạo inter-purchase gap.</a:t>
            </a:r>
            <a:endParaRPr lang="en-US" sz="15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500" dirty="0">
                <a:solidFill>
                  <a:srgbClr val="0B2A5B"/>
                </a:solidFill>
                <a:latin typeface="Times New Roman" panose="02020603050405020304" pitchFamily="18" charset="0"/>
                <a:ea typeface="Times New Roman" pitchFamily="34" charset="-122"/>
                <a:cs typeface="Times New Roman" panose="02020603050405020304" pitchFamily="18" charset="0"/>
              </a:rPr>
              <a:t>Accuracy dễ gây ảo tưởng: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Đ</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oán</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toàn bộ là Churn đã được 60.6% →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N</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hóm</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đã </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đưa</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Naive Baseline vào làm mốc tham chiếu.</a:t>
            </a:r>
            <a:endParaRPr lang="en-US" sz="15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500" dirty="0">
                <a:solidFill>
                  <a:srgbClr val="0B2A5B"/>
                </a:solidFill>
                <a:latin typeface="Times New Roman" panose="02020603050405020304" pitchFamily="18" charset="0"/>
                <a:ea typeface="Times New Roman" pitchFamily="34" charset="-122"/>
                <a:cs typeface="Times New Roman" panose="02020603050405020304" pitchFamily="18" charset="0"/>
              </a:rPr>
              <a:t>Báo cáo đồng thời: </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Precision, Recall, F1, AUC —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K</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hông</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dùng Accuracy làm thước đo duy nhất.</a:t>
            </a:r>
            <a:endParaRPr lang="en-US" sz="1500" dirty="0">
              <a:latin typeface="Times New Roman" panose="02020603050405020304" pitchFamily="18" charset="0"/>
              <a:cs typeface="Times New Roman" panose="02020603050405020304" pitchFamily="18" charset="0"/>
            </a:endParaRPr>
          </a:p>
          <a:p>
            <a:pPr marL="203200" indent="-203200">
              <a:spcAft>
                <a:spcPts val="400"/>
              </a:spcAft>
              <a:buSzPct val="100000"/>
              <a:buChar char="•"/>
            </a:pPr>
            <a:r>
              <a:rPr lang="en-US" sz="1500" dirty="0">
                <a:solidFill>
                  <a:srgbClr val="0B2A5B"/>
                </a:solidFill>
                <a:latin typeface="Times New Roman" panose="02020603050405020304" pitchFamily="18" charset="0"/>
                <a:ea typeface="Times New Roman" pitchFamily="34" charset="-122"/>
                <a:cs typeface="Times New Roman" panose="02020603050405020304" pitchFamily="18" charset="0"/>
              </a:rPr>
              <a:t>SMOTE chỉ </a:t>
            </a:r>
            <a:r>
              <a:rPr lang="en-US" sz="1500" dirty="0" err="1">
                <a:solidFill>
                  <a:srgbClr val="0B2A5B"/>
                </a:solidFill>
                <a:latin typeface="Times New Roman" panose="02020603050405020304" pitchFamily="18" charset="0"/>
                <a:ea typeface="Times New Roman" pitchFamily="34" charset="-122"/>
                <a:cs typeface="Times New Roman" panose="02020603050405020304" pitchFamily="18" charset="0"/>
              </a:rPr>
              <a:t>trên</a:t>
            </a:r>
            <a:r>
              <a:rPr lang="en-US" sz="1500"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0B2A5B"/>
                </a:solidFill>
                <a:latin typeface="Times New Roman" panose="02020603050405020304" pitchFamily="18" charset="0"/>
                <a:ea typeface="Times New Roman" pitchFamily="34" charset="-122"/>
                <a:cs typeface="Times New Roman" panose="02020603050405020304" pitchFamily="18" charset="0"/>
              </a:rPr>
              <a:t>TRAIN</a:t>
            </a:r>
            <a:r>
              <a:rPr lang="en-US" sz="1500" dirty="0">
                <a:solidFill>
                  <a:srgbClr val="0B2A5B"/>
                </a:solidFill>
                <a:latin typeface="Times New Roman" panose="02020603050405020304" pitchFamily="18" charset="0"/>
                <a:ea typeface="Times New Roman" pitchFamily="34" charset="-122"/>
                <a:cs typeface="Times New Roman" panose="02020603050405020304" pitchFamily="18" charset="0"/>
              </a:rPr>
              <a:t>: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C</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ân</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bằng 1,559 / 3,522 → 3,522 / 3,522 (sinh thêm 1,963 mẫu).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TEST</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giữ nguyên.</a:t>
            </a:r>
            <a:endParaRPr lang="en-US" sz="15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27702A7-CEED-81AD-2A12-BD1A2BA50735}"/>
              </a:ext>
            </a:extLst>
          </p:cNvPr>
          <p:cNvPicPr>
            <a:picLocks noChangeAspect="1"/>
          </p:cNvPicPr>
          <p:nvPr/>
        </p:nvPicPr>
        <p:blipFill>
          <a:blip r:embed="rId4"/>
          <a:stretch>
            <a:fillRect/>
          </a:stretch>
        </p:blipFill>
        <p:spPr>
          <a:xfrm>
            <a:off x="5277648" y="4730619"/>
            <a:ext cx="6071159" cy="2080726"/>
          </a:xfrm>
          <a:prstGeom prst="rect">
            <a:avLst/>
          </a:prstGeom>
        </p:spPr>
      </p:pic>
    </p:spTree>
    <p:extLst>
      <p:ext uri="{BB962C8B-B14F-4D97-AF65-F5344CB8AC3E}">
        <p14:creationId xmlns:p14="http://schemas.microsoft.com/office/powerpoint/2010/main" val="1072396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Calibri" pitchFamily="34" charset="0"/>
                <a:ea typeface="Calibri" pitchFamily="34" charset="-122"/>
                <a:cs typeface="Calibri" pitchFamily="34" charset="-120"/>
              </a:rPr>
              <a:t>27</a:t>
            </a:r>
            <a:endParaRPr lang="en-US" sz="1000" dirty="0"/>
          </a:p>
        </p:txBody>
      </p:sp>
      <p:sp>
        <p:nvSpPr>
          <p:cNvPr id="7" name="Text 4"/>
          <p:cNvSpPr txBox="1"/>
          <p:nvPr/>
        </p:nvSpPr>
        <p:spPr>
          <a:xfrm>
            <a:off x="548640" y="4316342"/>
            <a:ext cx="5669280" cy="274320"/>
          </a:xfrm>
          <a:prstGeom prst="rect">
            <a:avLst/>
          </a:prstGeom>
          <a:noFill/>
          <a:ln/>
        </p:spPr>
        <p:txBody>
          <a:bodyPr wrap="square" lIns="0" tIns="0" rIns="0" bIns="0" rtlCol="0" anchor="ctr"/>
          <a:lstStyle/>
          <a:p>
            <a:pPr marL="0" indent="0" algn="ctr">
              <a:buNone/>
            </a:pPr>
            <a:r>
              <a:rPr lang="en-US" sz="1500" i="1">
                <a:latin typeface="Times New Roman" panose="02020603050405020304" pitchFamily="18" charset="0"/>
                <a:ea typeface="Calibri" pitchFamily="34" charset="-122"/>
                <a:cs typeface="Times New Roman" panose="02020603050405020304" pitchFamily="18" charset="0"/>
              </a:rPr>
              <a:t>Hình</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12</a:t>
            </a:r>
            <a:r>
              <a:rPr lang="en-US" sz="1500" i="1" dirty="0">
                <a:latin typeface="Times New Roman" panose="02020603050405020304" pitchFamily="18" charset="0"/>
                <a:ea typeface="Calibri" pitchFamily="34" charset="-122"/>
                <a:cs typeface="Times New Roman" panose="02020603050405020304" pitchFamily="18" charset="0"/>
              </a:rPr>
              <a:t>. Precision · Recall · F1 · AUC của 3 mô hình</a:t>
            </a:r>
            <a:endParaRPr lang="en-US" sz="1500" dirty="0">
              <a:latin typeface="Times New Roman" panose="02020603050405020304" pitchFamily="18" charset="0"/>
              <a:cs typeface="Times New Roman" panose="02020603050405020304" pitchFamily="18" charset="0"/>
            </a:endParaRPr>
          </a:p>
        </p:txBody>
      </p:sp>
      <p:graphicFrame>
        <p:nvGraphicFramePr>
          <p:cNvPr id="21" name="Table 0"/>
          <p:cNvGraphicFramePr>
            <a:graphicFrameLocks noGrp="1"/>
          </p:cNvGraphicFramePr>
          <p:nvPr>
            <p:extLst>
              <p:ext uri="{D42A27DB-BD31-4B8C-83A1-F6EECF244321}">
                <p14:modId xmlns:p14="http://schemas.microsoft.com/office/powerpoint/2010/main" val="1466675428"/>
              </p:ext>
            </p:extLst>
          </p:nvPr>
        </p:nvGraphicFramePr>
        <p:xfrm>
          <a:off x="270588" y="4663440"/>
          <a:ext cx="6039739" cy="1600200"/>
        </p:xfrm>
        <a:graphic>
          <a:graphicData uri="http://schemas.openxmlformats.org/drawingml/2006/table">
            <a:tbl>
              <a:tblPr/>
              <a:tblGrid>
                <a:gridCol w="1427583">
                  <a:extLst>
                    <a:ext uri="{9D8B030D-6E8A-4147-A177-3AD203B41FA5}">
                      <a16:colId xmlns:a16="http://schemas.microsoft.com/office/drawing/2014/main" val="20000"/>
                    </a:ext>
                  </a:extLst>
                </a:gridCol>
                <a:gridCol w="942392">
                  <a:extLst>
                    <a:ext uri="{9D8B030D-6E8A-4147-A177-3AD203B41FA5}">
                      <a16:colId xmlns:a16="http://schemas.microsoft.com/office/drawing/2014/main" val="20001"/>
                    </a:ext>
                  </a:extLst>
                </a:gridCol>
                <a:gridCol w="923731">
                  <a:extLst>
                    <a:ext uri="{9D8B030D-6E8A-4147-A177-3AD203B41FA5}">
                      <a16:colId xmlns:a16="http://schemas.microsoft.com/office/drawing/2014/main" val="20002"/>
                    </a:ext>
                  </a:extLst>
                </a:gridCol>
                <a:gridCol w="793102">
                  <a:extLst>
                    <a:ext uri="{9D8B030D-6E8A-4147-A177-3AD203B41FA5}">
                      <a16:colId xmlns:a16="http://schemas.microsoft.com/office/drawing/2014/main" val="20003"/>
                    </a:ext>
                  </a:extLst>
                </a:gridCol>
                <a:gridCol w="979714">
                  <a:extLst>
                    <a:ext uri="{9D8B030D-6E8A-4147-A177-3AD203B41FA5}">
                      <a16:colId xmlns:a16="http://schemas.microsoft.com/office/drawing/2014/main" val="20004"/>
                    </a:ext>
                  </a:extLst>
                </a:gridCol>
                <a:gridCol w="973217">
                  <a:extLst>
                    <a:ext uri="{9D8B030D-6E8A-4147-A177-3AD203B41FA5}">
                      <a16:colId xmlns:a16="http://schemas.microsoft.com/office/drawing/2014/main" val="20005"/>
                    </a:ext>
                  </a:extLst>
                </a:gridCol>
              </a:tblGrid>
              <a:tr h="301752">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Mô hình</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vi-VN" sz="1500" b="1" dirty="0">
                          <a:solidFill>
                            <a:schemeClr val="tx1"/>
                          </a:solidFill>
                          <a:latin typeface="Times New Roman" panose="02020603050405020304" pitchFamily="18" charset="0"/>
                          <a:ea typeface="Calibri" pitchFamily="34" charset="-122"/>
                          <a:cs typeface="Times New Roman" panose="02020603050405020304" pitchFamily="18" charset="0"/>
                        </a:rPr>
                        <a:t>Precision</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Recall</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F1</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AUC</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1" dirty="0">
                          <a:solidFill>
                            <a:schemeClr val="tx1"/>
                          </a:solidFill>
                          <a:latin typeface="Times New Roman" panose="02020603050405020304" pitchFamily="18" charset="0"/>
                          <a:ea typeface="Calibri" charset="0"/>
                          <a:cs typeface="Times New Roman" panose="02020603050405020304" pitchFamily="18" charset="0"/>
                        </a:rPr>
                        <a:t>Accuracy</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301752">
                <a:tc>
                  <a:txBody>
                    <a:bodyPr/>
                    <a:lstStyle/>
                    <a:p>
                      <a:pPr marL="0" indent="0" algn="l">
                        <a:buNone/>
                      </a:pP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Decision Tree</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0.7639</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0.7930</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0.7782</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0.7665</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0.7259</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lgn="l">
                        <a:buNone/>
                      </a:pP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Random Forest</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2E9E6B"/>
                          </a:solidFill>
                          <a:latin typeface="Times New Roman" panose="02020603050405020304" pitchFamily="18" charset="0"/>
                          <a:ea typeface="Calibri" pitchFamily="34" charset="-122"/>
                          <a:cs typeface="Times New Roman" panose="02020603050405020304" pitchFamily="18" charset="0"/>
                        </a:rPr>
                        <a:t>0.7652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0.8129</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0.7883</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2E9E6B"/>
                          </a:solidFill>
                          <a:latin typeface="Times New Roman" panose="02020603050405020304" pitchFamily="18" charset="0"/>
                          <a:ea typeface="Calibri" pitchFamily="34" charset="-122"/>
                          <a:cs typeface="Times New Roman" panose="02020603050405020304" pitchFamily="18" charset="0"/>
                        </a:rPr>
                        <a:t>0.7872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2E9E6B"/>
                          </a:solidFill>
                          <a:latin typeface="Times New Roman" panose="02020603050405020304" pitchFamily="18" charset="0"/>
                          <a:ea typeface="Calibri" pitchFamily="34" charset="-122"/>
                          <a:cs typeface="Times New Roman" panose="02020603050405020304" pitchFamily="18" charset="0"/>
                        </a:rPr>
                        <a:t>0.7354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lgn="l">
                        <a:buNone/>
                      </a:pP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Naive Bayes</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0.7057</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2E9E6B"/>
                          </a:solidFill>
                          <a:latin typeface="Times New Roman" panose="02020603050405020304" pitchFamily="18" charset="0"/>
                          <a:ea typeface="Calibri" pitchFamily="34" charset="-122"/>
                          <a:cs typeface="Times New Roman" panose="02020603050405020304" pitchFamily="18" charset="0"/>
                        </a:rPr>
                        <a:t>0.9164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b="1" dirty="0">
                          <a:solidFill>
                            <a:srgbClr val="2E9E6B"/>
                          </a:solidFill>
                          <a:latin typeface="Times New Roman" panose="02020603050405020304" pitchFamily="18" charset="0"/>
                          <a:ea typeface="Calibri" pitchFamily="34" charset="-122"/>
                          <a:cs typeface="Times New Roman" panose="02020603050405020304" pitchFamily="18" charset="0"/>
                        </a:rPr>
                        <a:t>0.7973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0.7847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0.7176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lgn="l">
                        <a:buNone/>
                      </a:pP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Naive Baseline</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0.5</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500" dirty="0">
                          <a:solidFill>
                            <a:schemeClr val="tx1"/>
                          </a:solidFill>
                          <a:latin typeface="Times New Roman" panose="02020603050405020304" pitchFamily="18" charset="0"/>
                          <a:ea typeface="Calibri" pitchFamily="34" charset="-122"/>
                          <a:cs typeface="Times New Roman" panose="02020603050405020304" pitchFamily="18" charset="0"/>
                        </a:rPr>
                        <a:t>0.6062</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5"/>
          <p:cNvSpPr/>
          <p:nvPr/>
        </p:nvSpPr>
        <p:spPr>
          <a:xfrm>
            <a:off x="6492240" y="1188720"/>
            <a:ext cx="5148072" cy="3793827"/>
          </a:xfrm>
          <a:prstGeom prst="roundRect">
            <a:avLst>
              <a:gd name="adj" fmla="val 1468"/>
            </a:avLst>
          </a:prstGeom>
          <a:solidFill>
            <a:srgbClr val="F4F6FA"/>
          </a:solidFill>
          <a:ln w="12700">
            <a:solidFill>
              <a:srgbClr val="F4F6FA"/>
            </a:solidFill>
            <a:prstDash val="solid"/>
          </a:ln>
        </p:spPr>
      </p:sp>
      <p:sp>
        <p:nvSpPr>
          <p:cNvPr id="10" name="Text 6"/>
          <p:cNvSpPr txBox="1"/>
          <p:nvPr/>
        </p:nvSpPr>
        <p:spPr>
          <a:xfrm>
            <a:off x="6720840" y="1280160"/>
            <a:ext cx="4690872" cy="365760"/>
          </a:xfrm>
          <a:prstGeom prst="rect">
            <a:avLst/>
          </a:prstGeom>
          <a:noFill/>
          <a:ln/>
        </p:spPr>
        <p:txBody>
          <a:bodyPr wrap="square" lIns="0" tIns="0" rIns="0" bIns="0" rtlCol="0" anchor="ctr"/>
          <a:lstStyle/>
          <a:p>
            <a:pPr marL="0" indent="0">
              <a:buNone/>
            </a:pPr>
            <a:r>
              <a:rPr lang="vi-VN" b="1" dirty="0">
                <a:solidFill>
                  <a:srgbClr val="14213D"/>
                </a:solidFill>
                <a:latin typeface="Times New Roman" panose="02020603050405020304" pitchFamily="18" charset="0"/>
                <a:ea typeface="Cambria" pitchFamily="34" charset="-122"/>
                <a:cs typeface="Times New Roman" panose="02020603050405020304" pitchFamily="18" charset="0"/>
              </a:rPr>
              <a:t>Nhận xét</a:t>
            </a:r>
            <a:endParaRPr lang="en-US" dirty="0">
              <a:latin typeface="Times New Roman" panose="02020603050405020304" pitchFamily="18" charset="0"/>
              <a:cs typeface="Times New Roman" panose="02020603050405020304" pitchFamily="18" charset="0"/>
            </a:endParaRPr>
          </a:p>
        </p:txBody>
      </p:sp>
      <p:sp>
        <p:nvSpPr>
          <p:cNvPr id="11" name="Text 7"/>
          <p:cNvSpPr txBox="1"/>
          <p:nvPr/>
        </p:nvSpPr>
        <p:spPr>
          <a:xfrm>
            <a:off x="6720840" y="1737359"/>
            <a:ext cx="4690872" cy="3123889"/>
          </a:xfrm>
          <a:prstGeom prst="rect">
            <a:avLst/>
          </a:prstGeom>
          <a:noFill/>
          <a:ln/>
        </p:spPr>
        <p:txBody>
          <a:bodyPr wrap="square" lIns="0" tIns="0" rIns="0" bIns="0" rtlCol="0" anchor="t"/>
          <a:lstStyle/>
          <a:p>
            <a:pPr marL="203200" indent="-203200">
              <a:spcAft>
                <a:spcPts val="1000"/>
              </a:spcAft>
              <a:buSzPct val="100000"/>
              <a:buChar char="•"/>
            </a:pPr>
            <a:r>
              <a:rPr lang="vi-VN" sz="1600" b="1" dirty="0">
                <a:solidFill>
                  <a:srgbClr val="1F2937"/>
                </a:solidFill>
                <a:latin typeface="Times New Roman" panose="02020603050405020304" pitchFamily="18" charset="0"/>
                <a:ea typeface="Calibri" pitchFamily="34" charset="-122"/>
                <a:cs typeface="Times New Roman" panose="02020603050405020304" pitchFamily="18" charset="0"/>
              </a:rPr>
              <a:t>Có c</a:t>
            </a:r>
            <a:r>
              <a:rPr lang="en-US" sz="1600" b="1" dirty="0" err="1">
                <a:solidFill>
                  <a:srgbClr val="1F2937"/>
                </a:solidFill>
                <a:latin typeface="Times New Roman" panose="02020603050405020304" pitchFamily="18" charset="0"/>
                <a:ea typeface="Calibri" pitchFamily="34" charset="-122"/>
                <a:cs typeface="Times New Roman" panose="02020603050405020304" pitchFamily="18" charset="0"/>
              </a:rPr>
              <a:t>ải</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600" b="1" dirty="0" err="1">
                <a:solidFill>
                  <a:srgbClr val="1F2937"/>
                </a:solidFill>
                <a:latin typeface="Times New Roman" panose="02020603050405020304" pitchFamily="18" charset="0"/>
                <a:ea typeface="Calibri" pitchFamily="34" charset="-122"/>
                <a:cs typeface="Times New Roman" panose="02020603050405020304" pitchFamily="18" charset="0"/>
              </a:rPr>
              <a:t>thiện</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600" b="1" dirty="0" err="1">
                <a:solidFill>
                  <a:srgbClr val="1F2937"/>
                </a:solidFill>
                <a:latin typeface="Times New Roman" panose="02020603050405020304" pitchFamily="18" charset="0"/>
                <a:ea typeface="Calibri" pitchFamily="34" charset="-122"/>
                <a:cs typeface="Times New Roman" panose="02020603050405020304" pitchFamily="18" charset="0"/>
              </a:rPr>
              <a:t>nhưng</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b="1" dirty="0">
                <a:solidFill>
                  <a:srgbClr val="1F2937"/>
                </a:solidFill>
                <a:latin typeface="Times New Roman" panose="02020603050405020304" pitchFamily="18" charset="0"/>
                <a:ea typeface="Calibri" pitchFamily="34" charset="-122"/>
                <a:cs typeface="Times New Roman" panose="02020603050405020304" pitchFamily="18" charset="0"/>
              </a:rPr>
              <a:t>không quá lớn</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V</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ượt</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Baseline +11.1 → +12.9 điểm %.</a:t>
            </a:r>
            <a:endParaRPr lang="en-US" sz="1600" dirty="0">
              <a:latin typeface="Times New Roman" panose="02020603050405020304" pitchFamily="18" charset="0"/>
              <a:cs typeface="Times New Roman" panose="02020603050405020304" pitchFamily="18" charset="0"/>
            </a:endParaRPr>
          </a:p>
          <a:p>
            <a:pPr marL="203200" indent="-203200">
              <a:spcAft>
                <a:spcPts val="10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Kết quả ngược kỳ vọng: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Naive Bayes đạt F1 cao nhất (0.7973) dù giả định độc lập bị vi phạm (AvgOrderValue = Monetary / Frequency).</a:t>
            </a:r>
            <a:endParaRPr lang="en-US" sz="1600" dirty="0">
              <a:latin typeface="Times New Roman" panose="02020603050405020304" pitchFamily="18" charset="0"/>
              <a:cs typeface="Times New Roman" panose="02020603050405020304" pitchFamily="18" charset="0"/>
            </a:endParaRPr>
          </a:p>
          <a:p>
            <a:pPr marL="203200" indent="-203200">
              <a:spcAft>
                <a:spcPts val="10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Đánh </a:t>
            </a:r>
            <a:r>
              <a:rPr lang="en-US" sz="1600" b="1" dirty="0" err="1">
                <a:solidFill>
                  <a:srgbClr val="1F2937"/>
                </a:solidFill>
                <a:latin typeface="Times New Roman" panose="02020603050405020304" pitchFamily="18" charset="0"/>
                <a:ea typeface="Calibri" pitchFamily="34" charset="-122"/>
                <a:cs typeface="Times New Roman" panose="02020603050405020304" pitchFamily="18" charset="0"/>
              </a:rPr>
              <a:t>đổi</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 Precision</a:t>
            </a:r>
            <a:r>
              <a:rPr lang="vi-VN" sz="16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a:t>
            </a:r>
            <a:r>
              <a:rPr lang="vi-VN" sz="1600" b="1" dirty="0">
                <a:solidFill>
                  <a:srgbClr val="1F2937"/>
                </a:solidFill>
                <a:latin typeface="Times New Roman" panose="02020603050405020304" pitchFamily="18" charset="0"/>
                <a:ea typeface="Calibri" pitchFamily="34" charset="-122"/>
                <a:cs typeface="Times New Roman" panose="02020603050405020304" pitchFamily="18" charset="0"/>
              </a:rPr>
              <a:t> </a:t>
            </a: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Recall: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Navie Bayes</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Recall 0.9164 nhưng Precision 0.7057 (nhiều cảnh báo nhầm);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Random Forest</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cân bằng hơn.</a:t>
            </a:r>
            <a:endParaRPr lang="en-US" sz="1600" dirty="0">
              <a:latin typeface="Times New Roman" panose="02020603050405020304" pitchFamily="18" charset="0"/>
              <a:cs typeface="Times New Roman" panose="02020603050405020304" pitchFamily="18" charset="0"/>
            </a:endParaRPr>
          </a:p>
          <a:p>
            <a:pPr marL="203200" indent="-203200">
              <a:spcAft>
                <a:spcPts val="10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AUC: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Random Forest</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0.7872 vs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Navie Bayes</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0.7847 —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C</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hênh</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0.0025, chưa đủ khẳng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định</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Random Forest</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vượt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trội</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2" name="Text 0">
            <a:extLst>
              <a:ext uri="{FF2B5EF4-FFF2-40B4-BE49-F238E27FC236}">
                <a16:creationId xmlns:a16="http://schemas.microsoft.com/office/drawing/2014/main" id="{84966099-CE9C-FE9D-D940-4CEBA7D313D1}"/>
              </a:ext>
            </a:extLst>
          </p:cNvPr>
          <p:cNvSpPr txBox="1"/>
          <p:nvPr/>
        </p:nvSpPr>
        <p:spPr>
          <a:xfrm>
            <a:off x="548639" y="86773"/>
            <a:ext cx="11357221" cy="685800"/>
          </a:xfrm>
          <a:prstGeom prst="rect">
            <a:avLst/>
          </a:prstGeom>
          <a:noFill/>
          <a:ln/>
        </p:spPr>
        <p:txBody>
          <a:bodyPr wrap="square" lIns="0" tIns="0" rIns="0" bIns="0" rtlCol="0" anchor="ctr"/>
          <a:lstStyle/>
          <a:p>
            <a:r>
              <a:rPr lang="en-US" sz="3000" b="1" dirty="0">
                <a:solidFill>
                  <a:srgbClr val="0B2A5B"/>
                </a:solidFill>
                <a:latin typeface="Times New Roman" pitchFamily="34" charset="0"/>
                <a:ea typeface="Times New Roman" pitchFamily="34" charset="-122"/>
                <a:cs typeface="Times New Roman" pitchFamily="34" charset="-120"/>
              </a:rPr>
              <a:t>Churn Classification:</a:t>
            </a:r>
            <a:r>
              <a:rPr lang="vi-VN" sz="3000" b="1" dirty="0">
                <a:solidFill>
                  <a:srgbClr val="0B2A5B"/>
                </a:solidFill>
                <a:latin typeface="Times New Roman" pitchFamily="34" charset="0"/>
                <a:ea typeface="Times New Roman" pitchFamily="34" charset="-122"/>
                <a:cs typeface="Times New Roman" pitchFamily="34" charset="-120"/>
              </a:rPr>
              <a:t> So sánh 3 thuật toán trên tập TEST</a:t>
            </a:r>
            <a:endParaRPr lang="en-US" sz="3000" dirty="0"/>
          </a:p>
        </p:txBody>
      </p:sp>
      <p:sp>
        <p:nvSpPr>
          <p:cNvPr id="14" name="Text 1">
            <a:extLst>
              <a:ext uri="{FF2B5EF4-FFF2-40B4-BE49-F238E27FC236}">
                <a16:creationId xmlns:a16="http://schemas.microsoft.com/office/drawing/2014/main" id="{124D0863-CC8F-E41C-47AF-28166BAE9DD3}"/>
              </a:ext>
            </a:extLst>
          </p:cNvPr>
          <p:cNvSpPr txBox="1"/>
          <p:nvPr/>
        </p:nvSpPr>
        <p:spPr>
          <a:xfrm>
            <a:off x="580644" y="772573"/>
            <a:ext cx="11091672" cy="365760"/>
          </a:xfrm>
          <a:prstGeom prst="rect">
            <a:avLst/>
          </a:prstGeom>
          <a:noFill/>
          <a:ln/>
        </p:spPr>
        <p:txBody>
          <a:bodyPr wrap="square" lIns="0" tIns="0" rIns="0" bIns="0" rtlCol="0" anchor="t"/>
          <a:lstStyle/>
          <a:p>
            <a:pPr marL="0" indent="0">
              <a:buNone/>
            </a:pPr>
            <a:r>
              <a:rPr lang="en-US" i="1" dirty="0">
                <a:latin typeface="Times New Roman" pitchFamily="34" charset="0"/>
                <a:ea typeface="Times New Roman" pitchFamily="34" charset="-122"/>
                <a:cs typeface="Times New Roman" pitchFamily="34" charset="-120"/>
              </a:rPr>
              <a:t>Naive Bayes đạt F1 cao nhất — khác với kỳ vọng ban đầu</a:t>
            </a:r>
            <a:endParaRPr lang="en-US" dirty="0"/>
          </a:p>
        </p:txBody>
      </p:sp>
      <p:pic>
        <p:nvPicPr>
          <p:cNvPr id="18" name="Picture 17">
            <a:extLst>
              <a:ext uri="{FF2B5EF4-FFF2-40B4-BE49-F238E27FC236}">
                <a16:creationId xmlns:a16="http://schemas.microsoft.com/office/drawing/2014/main" id="{90EF4E4A-EC9B-EE1E-1F44-9115A5B5F416}"/>
              </a:ext>
            </a:extLst>
          </p:cNvPr>
          <p:cNvPicPr>
            <a:picLocks noChangeAspect="1"/>
          </p:cNvPicPr>
          <p:nvPr/>
        </p:nvPicPr>
        <p:blipFill>
          <a:blip r:embed="rId3"/>
          <a:stretch>
            <a:fillRect/>
          </a:stretch>
        </p:blipFill>
        <p:spPr>
          <a:xfrm>
            <a:off x="442033" y="1114073"/>
            <a:ext cx="5868293" cy="3183608"/>
          </a:xfrm>
          <a:prstGeom prst="rect">
            <a:avLst/>
          </a:prstGeom>
        </p:spPr>
      </p:pic>
      <p:sp>
        <p:nvSpPr>
          <p:cNvPr id="20" name="Text 2">
            <a:extLst>
              <a:ext uri="{FF2B5EF4-FFF2-40B4-BE49-F238E27FC236}">
                <a16:creationId xmlns:a16="http://schemas.microsoft.com/office/drawing/2014/main" id="{90CC7CDE-CE28-8ED7-A5B2-0F7D803FF3EA}"/>
              </a:ext>
            </a:extLst>
          </p:cNvPr>
          <p:cNvSpPr txBox="1"/>
          <p:nvPr/>
        </p:nvSpPr>
        <p:spPr>
          <a:xfrm>
            <a:off x="552771" y="6347928"/>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
        <p:nvSpPr>
          <p:cNvPr id="23" name="Shape 9">
            <a:extLst>
              <a:ext uri="{FF2B5EF4-FFF2-40B4-BE49-F238E27FC236}">
                <a16:creationId xmlns:a16="http://schemas.microsoft.com/office/drawing/2014/main" id="{E06F7A79-CF1B-46E0-47B0-2A7D18797E81}"/>
              </a:ext>
            </a:extLst>
          </p:cNvPr>
          <p:cNvSpPr/>
          <p:nvPr/>
        </p:nvSpPr>
        <p:spPr>
          <a:xfrm>
            <a:off x="6501564" y="5059992"/>
            <a:ext cx="5170752" cy="1188720"/>
          </a:xfrm>
          <a:prstGeom prst="rect">
            <a:avLst/>
          </a:prstGeom>
          <a:solidFill>
            <a:schemeClr val="accent5">
              <a:lumMod val="40000"/>
              <a:lumOff val="60000"/>
            </a:schemeClr>
          </a:solidFill>
          <a:ln w="9525">
            <a:solidFill>
              <a:srgbClr val="C9DAF2"/>
            </a:solidFill>
            <a:prstDash val="solid"/>
          </a:ln>
        </p:spPr>
      </p:sp>
      <p:sp>
        <p:nvSpPr>
          <p:cNvPr id="25" name="Text 10">
            <a:extLst>
              <a:ext uri="{FF2B5EF4-FFF2-40B4-BE49-F238E27FC236}">
                <a16:creationId xmlns:a16="http://schemas.microsoft.com/office/drawing/2014/main" id="{EA3DE15E-81AA-EF51-3BB5-45415661A943}"/>
              </a:ext>
            </a:extLst>
          </p:cNvPr>
          <p:cNvSpPr txBox="1"/>
          <p:nvPr/>
        </p:nvSpPr>
        <p:spPr>
          <a:xfrm>
            <a:off x="6720840" y="5059992"/>
            <a:ext cx="4690872" cy="1188720"/>
          </a:xfrm>
          <a:prstGeom prst="rect">
            <a:avLst/>
          </a:prstGeom>
          <a:noFill/>
          <a:ln/>
        </p:spPr>
        <p:txBody>
          <a:bodyPr wrap="square" lIns="0" tIns="0" rIns="0" bIns="0" rtlCol="0" anchor="ctr"/>
          <a:lstStyle/>
          <a:p>
            <a:pPr marL="0" indent="0">
              <a:buNone/>
            </a:pPr>
            <a:r>
              <a:rPr lang="en-US" sz="1600" b="1" dirty="0">
                <a:latin typeface="Times New Roman" pitchFamily="34" charset="0"/>
                <a:ea typeface="Times New Roman" pitchFamily="34" charset="-122"/>
                <a:cs typeface="Times New Roman" pitchFamily="34" charset="-120"/>
              </a:rPr>
              <a:t>Lựa chọn </a:t>
            </a:r>
            <a:r>
              <a:rPr lang="en-US" sz="1600" b="1" dirty="0" err="1">
                <a:latin typeface="Times New Roman" pitchFamily="34" charset="0"/>
                <a:ea typeface="Times New Roman" pitchFamily="34" charset="-122"/>
                <a:cs typeface="Times New Roman" pitchFamily="34" charset="-120"/>
              </a:rPr>
              <a:t>mô</a:t>
            </a:r>
            <a:r>
              <a:rPr lang="en-US" sz="1600" b="1" dirty="0">
                <a:latin typeface="Times New Roman" pitchFamily="34" charset="0"/>
                <a:ea typeface="Times New Roman" pitchFamily="34" charset="-122"/>
                <a:cs typeface="Times New Roman" pitchFamily="34" charset="-120"/>
              </a:rPr>
              <a:t> </a:t>
            </a:r>
            <a:r>
              <a:rPr lang="en-US" sz="1600" b="1" dirty="0" err="1">
                <a:latin typeface="Times New Roman" pitchFamily="34" charset="0"/>
                <a:ea typeface="Times New Roman" pitchFamily="34" charset="-122"/>
                <a:cs typeface="Times New Roman" pitchFamily="34" charset="-120"/>
              </a:rPr>
              <a:t>hình</a:t>
            </a:r>
            <a:r>
              <a:rPr lang="en-US" sz="1600" b="1" dirty="0">
                <a:latin typeface="Times New Roman" pitchFamily="34" charset="0"/>
                <a:ea typeface="Times New Roman" pitchFamily="34" charset="-122"/>
                <a:cs typeface="Times New Roman" pitchFamily="34" charset="-120"/>
              </a:rPr>
              <a:t>: </a:t>
            </a:r>
            <a:r>
              <a:rPr lang="vi-VN" sz="1600" dirty="0">
                <a:latin typeface="Times New Roman" pitchFamily="34" charset="0"/>
                <a:ea typeface="Times New Roman" pitchFamily="34" charset="-122"/>
                <a:cs typeface="Times New Roman" pitchFamily="34" charset="-120"/>
              </a:rPr>
              <a:t>Ưu</a:t>
            </a:r>
            <a:r>
              <a:rPr lang="en-US" sz="1600" dirty="0">
                <a:latin typeface="Times New Roman" pitchFamily="34" charset="0"/>
                <a:ea typeface="Times New Roman" pitchFamily="34" charset="-122"/>
                <a:cs typeface="Times New Roman" pitchFamily="34" charset="-120"/>
              </a:rPr>
              <a:t> tiên phát hiện tối đa → Naive Bayes (Recall). Ngân </a:t>
            </a:r>
            <a:r>
              <a:rPr lang="en-US" sz="1600" dirty="0" err="1">
                <a:latin typeface="Times New Roman" pitchFamily="34" charset="0"/>
                <a:ea typeface="Times New Roman" pitchFamily="34" charset="-122"/>
                <a:cs typeface="Times New Roman" pitchFamily="34" charset="-120"/>
              </a:rPr>
              <a:t>sách</a:t>
            </a:r>
            <a:r>
              <a:rPr lang="en-US" sz="1600" dirty="0">
                <a:latin typeface="Times New Roman" pitchFamily="34" charset="0"/>
                <a:ea typeface="Times New Roman" pitchFamily="34" charset="-122"/>
                <a:cs typeface="Times New Roman" pitchFamily="34" charset="-120"/>
              </a:rPr>
              <a:t> </a:t>
            </a:r>
            <a:r>
              <a:rPr lang="vi-VN" sz="1600" dirty="0">
                <a:latin typeface="Times New Roman" pitchFamily="34" charset="0"/>
                <a:ea typeface="Times New Roman" pitchFamily="34" charset="-122"/>
                <a:cs typeface="Times New Roman" pitchFamily="34" charset="-120"/>
              </a:rPr>
              <a:t>M</a:t>
            </a:r>
            <a:r>
              <a:rPr lang="en-US" sz="1600" dirty="0" err="1">
                <a:latin typeface="Times New Roman" pitchFamily="34" charset="0"/>
                <a:ea typeface="Times New Roman" pitchFamily="34" charset="-122"/>
                <a:cs typeface="Times New Roman" pitchFamily="34" charset="-120"/>
              </a:rPr>
              <a:t>arketing</a:t>
            </a:r>
            <a:r>
              <a:rPr lang="en-US" sz="1600" dirty="0">
                <a:latin typeface="Times New Roman" pitchFamily="34" charset="0"/>
                <a:ea typeface="Times New Roman" pitchFamily="34" charset="-122"/>
                <a:cs typeface="Times New Roman" pitchFamily="34" charset="-120"/>
              </a:rPr>
              <a:t> hạn chế, cần Precision → Random Forest.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Calibri" pitchFamily="34" charset="0"/>
                <a:ea typeface="Calibri" pitchFamily="34" charset="-122"/>
                <a:cs typeface="Calibri" pitchFamily="34" charset="-120"/>
              </a:rPr>
              <a:t>28</a:t>
            </a:r>
            <a:endParaRPr lang="en-US" sz="1000" dirty="0"/>
          </a:p>
        </p:txBody>
      </p:sp>
      <p:sp>
        <p:nvSpPr>
          <p:cNvPr id="7" name="Text 4"/>
          <p:cNvSpPr txBox="1"/>
          <p:nvPr/>
        </p:nvSpPr>
        <p:spPr>
          <a:xfrm>
            <a:off x="539309" y="3154680"/>
            <a:ext cx="7040880" cy="274320"/>
          </a:xfrm>
          <a:prstGeom prst="rect">
            <a:avLst/>
          </a:prstGeom>
          <a:noFill/>
          <a:ln/>
        </p:spPr>
        <p:txBody>
          <a:bodyPr wrap="square" lIns="0" tIns="0" rIns="0" bIns="0" rtlCol="0" anchor="ctr"/>
          <a:lstStyle/>
          <a:p>
            <a:pPr marL="0" indent="0" algn="ctr">
              <a:buNone/>
            </a:pPr>
            <a:r>
              <a:rPr lang="en-US" sz="1500" i="1" dirty="0" err="1">
                <a:latin typeface="Times New Roman" panose="02020603050405020304" pitchFamily="18" charset="0"/>
                <a:ea typeface="Calibri" pitchFamily="34" charset="-122"/>
                <a:cs typeface="Times New Roman" panose="02020603050405020304" pitchFamily="18" charset="0"/>
              </a:rPr>
              <a:t>Hình</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13</a:t>
            </a:r>
            <a:r>
              <a:rPr lang="en-US" sz="1500" i="1" dirty="0">
                <a:latin typeface="Times New Roman" panose="02020603050405020304" pitchFamily="18" charset="0"/>
                <a:ea typeface="Calibri" pitchFamily="34" charset="-122"/>
                <a:cs typeface="Times New Roman" panose="02020603050405020304" pitchFamily="18" charset="0"/>
              </a:rPr>
              <a:t>. Confusion matrix của 3 mô hình (tập Test, n = 5,404)</a:t>
            </a:r>
            <a:endParaRPr lang="en-US" sz="1500" dirty="0">
              <a:latin typeface="Times New Roman" panose="02020603050405020304" pitchFamily="18" charset="0"/>
              <a:cs typeface="Times New Roman" panose="02020603050405020304" pitchFamily="18" charset="0"/>
            </a:endParaRPr>
          </a:p>
        </p:txBody>
      </p:sp>
      <p:sp>
        <p:nvSpPr>
          <p:cNvPr id="10" name="Text 5"/>
          <p:cNvSpPr txBox="1"/>
          <p:nvPr/>
        </p:nvSpPr>
        <p:spPr>
          <a:xfrm>
            <a:off x="548640" y="6139173"/>
            <a:ext cx="3108960" cy="274320"/>
          </a:xfrm>
          <a:prstGeom prst="rect">
            <a:avLst/>
          </a:prstGeom>
          <a:noFill/>
          <a:ln/>
        </p:spPr>
        <p:txBody>
          <a:bodyPr wrap="square" lIns="0" tIns="0" rIns="0" bIns="0" rtlCol="0" anchor="ctr"/>
          <a:lstStyle/>
          <a:p>
            <a:pPr marL="0" indent="0" algn="ctr">
              <a:buNone/>
            </a:pPr>
            <a:r>
              <a:rPr lang="en-US" sz="1500" i="1" dirty="0" err="1">
                <a:latin typeface="Times New Roman" panose="02020603050405020304" pitchFamily="18" charset="0"/>
                <a:ea typeface="Calibri" pitchFamily="34" charset="-122"/>
                <a:cs typeface="Times New Roman" panose="02020603050405020304" pitchFamily="18" charset="0"/>
              </a:rPr>
              <a:t>Hình</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14</a:t>
            </a:r>
            <a:r>
              <a:rPr lang="en-US" sz="1500" i="1" dirty="0">
                <a:latin typeface="Times New Roman" panose="02020603050405020304" pitchFamily="18" charset="0"/>
                <a:ea typeface="Calibri" pitchFamily="34" charset="-122"/>
                <a:cs typeface="Times New Roman" panose="02020603050405020304" pitchFamily="18" charset="0"/>
              </a:rPr>
              <a:t>. Đường cong ROC</a:t>
            </a:r>
            <a:endParaRPr lang="en-US" sz="1500" dirty="0">
              <a:latin typeface="Times New Roman" panose="02020603050405020304" pitchFamily="18" charset="0"/>
              <a:cs typeface="Times New Roman" panose="02020603050405020304" pitchFamily="18" charset="0"/>
            </a:endParaRPr>
          </a:p>
        </p:txBody>
      </p:sp>
      <p:sp>
        <p:nvSpPr>
          <p:cNvPr id="11" name="Text 6"/>
          <p:cNvSpPr txBox="1"/>
          <p:nvPr/>
        </p:nvSpPr>
        <p:spPr>
          <a:xfrm>
            <a:off x="3968308" y="6089156"/>
            <a:ext cx="3720115" cy="347472"/>
          </a:xfrm>
          <a:prstGeom prst="rect">
            <a:avLst/>
          </a:prstGeom>
          <a:noFill/>
          <a:ln/>
        </p:spPr>
        <p:txBody>
          <a:bodyPr wrap="square" lIns="0" tIns="0" rIns="0" bIns="0" rtlCol="0" anchor="ctr"/>
          <a:lstStyle/>
          <a:p>
            <a:pPr marL="0" indent="0" algn="ctr">
              <a:buNone/>
            </a:pPr>
            <a:r>
              <a:rPr lang="en-US" sz="1500" i="1" dirty="0" err="1">
                <a:latin typeface="Times New Roman" panose="02020603050405020304" pitchFamily="18" charset="0"/>
                <a:ea typeface="Calibri" pitchFamily="34" charset="-122"/>
                <a:cs typeface="Times New Roman" panose="02020603050405020304" pitchFamily="18" charset="0"/>
              </a:rPr>
              <a:t>Hình</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15</a:t>
            </a:r>
            <a:r>
              <a:rPr lang="en-US" sz="1500" i="1" dirty="0">
                <a:latin typeface="Times New Roman" panose="02020603050405020304" pitchFamily="18" charset="0"/>
                <a:ea typeface="Calibri" pitchFamily="34" charset="-122"/>
                <a:cs typeface="Times New Roman" panose="02020603050405020304" pitchFamily="18" charset="0"/>
              </a:rPr>
              <a:t>. Feature importance — Random Forest</a:t>
            </a:r>
            <a:endParaRPr lang="en-US" sz="1500" dirty="0">
              <a:latin typeface="Times New Roman" panose="02020603050405020304" pitchFamily="18" charset="0"/>
              <a:cs typeface="Times New Roman" panose="02020603050405020304" pitchFamily="18" charset="0"/>
            </a:endParaRPr>
          </a:p>
        </p:txBody>
      </p:sp>
      <p:sp>
        <p:nvSpPr>
          <p:cNvPr id="12" name="Shape 7"/>
          <p:cNvSpPr/>
          <p:nvPr/>
        </p:nvSpPr>
        <p:spPr>
          <a:xfrm>
            <a:off x="8041123" y="843486"/>
            <a:ext cx="3776472" cy="2514600"/>
          </a:xfrm>
          <a:prstGeom prst="roundRect">
            <a:avLst>
              <a:gd name="adj" fmla="val 2909"/>
            </a:avLst>
          </a:prstGeom>
          <a:solidFill>
            <a:srgbClr val="F4F6FA"/>
          </a:solidFill>
          <a:ln w="12700">
            <a:solidFill>
              <a:srgbClr val="F4F6FA"/>
            </a:solidFill>
            <a:prstDash val="solid"/>
          </a:ln>
        </p:spPr>
      </p:sp>
      <p:sp>
        <p:nvSpPr>
          <p:cNvPr id="13" name="Text 8"/>
          <p:cNvSpPr txBox="1"/>
          <p:nvPr/>
        </p:nvSpPr>
        <p:spPr>
          <a:xfrm>
            <a:off x="8224003" y="916638"/>
            <a:ext cx="3410712" cy="32004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Số liệu Confusion matrix</a:t>
            </a:r>
            <a:endParaRPr lang="en-US" dirty="0">
              <a:latin typeface="Times New Roman" panose="02020603050405020304" pitchFamily="18" charset="0"/>
              <a:cs typeface="Times New Roman" panose="02020603050405020304" pitchFamily="18" charset="0"/>
            </a:endParaRPr>
          </a:p>
        </p:txBody>
      </p:sp>
      <p:graphicFrame>
        <p:nvGraphicFramePr>
          <p:cNvPr id="22" name="Table 0"/>
          <p:cNvGraphicFramePr>
            <a:graphicFrameLocks noGrp="1"/>
          </p:cNvGraphicFramePr>
          <p:nvPr>
            <p:extLst>
              <p:ext uri="{D42A27DB-BD31-4B8C-83A1-F6EECF244321}">
                <p14:modId xmlns:p14="http://schemas.microsoft.com/office/powerpoint/2010/main" val="1540582918"/>
              </p:ext>
            </p:extLst>
          </p:nvPr>
        </p:nvGraphicFramePr>
        <p:xfrm>
          <a:off x="8224002" y="1300686"/>
          <a:ext cx="3401379" cy="1316736"/>
        </p:xfrm>
        <a:graphic>
          <a:graphicData uri="http://schemas.openxmlformats.org/drawingml/2006/table">
            <a:tbl>
              <a:tblPr/>
              <a:tblGrid>
                <a:gridCol w="586445">
                  <a:extLst>
                    <a:ext uri="{9D8B030D-6E8A-4147-A177-3AD203B41FA5}">
                      <a16:colId xmlns:a16="http://schemas.microsoft.com/office/drawing/2014/main" val="20000"/>
                    </a:ext>
                  </a:extLst>
                </a:gridCol>
                <a:gridCol w="746384">
                  <a:extLst>
                    <a:ext uri="{9D8B030D-6E8A-4147-A177-3AD203B41FA5}">
                      <a16:colId xmlns:a16="http://schemas.microsoft.com/office/drawing/2014/main" val="20001"/>
                    </a:ext>
                  </a:extLst>
                </a:gridCol>
                <a:gridCol w="661083">
                  <a:extLst>
                    <a:ext uri="{9D8B030D-6E8A-4147-A177-3AD203B41FA5}">
                      <a16:colId xmlns:a16="http://schemas.microsoft.com/office/drawing/2014/main" val="20002"/>
                    </a:ext>
                  </a:extLst>
                </a:gridCol>
                <a:gridCol w="661083">
                  <a:extLst>
                    <a:ext uri="{9D8B030D-6E8A-4147-A177-3AD203B41FA5}">
                      <a16:colId xmlns:a16="http://schemas.microsoft.com/office/drawing/2014/main" val="20003"/>
                    </a:ext>
                  </a:extLst>
                </a:gridCol>
                <a:gridCol w="746384">
                  <a:extLst>
                    <a:ext uri="{9D8B030D-6E8A-4147-A177-3AD203B41FA5}">
                      <a16:colId xmlns:a16="http://schemas.microsoft.com/office/drawing/2014/main" val="20004"/>
                    </a:ext>
                  </a:extLst>
                </a:gridCol>
              </a:tblGrid>
              <a:tr h="329184">
                <a:tc>
                  <a:txBody>
                    <a:bodyPr/>
                    <a:lstStyle/>
                    <a:p>
                      <a:pPr marL="0" indent="0" algn="l">
                        <a:buNone/>
                      </a:pP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TN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FP</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FN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tc>
                  <a:txBody>
                    <a:bodyPr/>
                    <a:lstStyle/>
                    <a:p>
                      <a:pPr marL="0" indent="0" algn="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TP</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29184">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DT</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1,325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803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678</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2,598</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RF</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1,311</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817</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613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2,663</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NB</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876</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b="1" dirty="0">
                          <a:solidFill>
                            <a:srgbClr val="D64545"/>
                          </a:solidFill>
                          <a:latin typeface="Times New Roman" panose="02020603050405020304" pitchFamily="18" charset="0"/>
                          <a:ea typeface="Calibri" pitchFamily="34" charset="-122"/>
                          <a:cs typeface="Times New Roman" panose="02020603050405020304" pitchFamily="18" charset="0"/>
                        </a:rPr>
                        <a:t>1,252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b="1" dirty="0">
                          <a:solidFill>
                            <a:srgbClr val="2E9E6B"/>
                          </a:solidFill>
                          <a:latin typeface="Times New Roman" panose="02020603050405020304" pitchFamily="18" charset="0"/>
                          <a:ea typeface="Calibri" pitchFamily="34" charset="-122"/>
                          <a:cs typeface="Times New Roman" panose="02020603050405020304" pitchFamily="18" charset="0"/>
                        </a:rPr>
                        <a:t>274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3,002</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Text 9"/>
          <p:cNvSpPr txBox="1"/>
          <p:nvPr/>
        </p:nvSpPr>
        <p:spPr>
          <a:xfrm>
            <a:off x="8224002" y="2728272"/>
            <a:ext cx="3584259" cy="594360"/>
          </a:xfrm>
          <a:prstGeom prst="rect">
            <a:avLst/>
          </a:prstGeom>
          <a:noFill/>
          <a:ln/>
        </p:spPr>
        <p:txBody>
          <a:bodyPr wrap="square" lIns="0" tIns="0" rIns="0" bIns="0" rtlCol="0" anchor="t"/>
          <a:lstStyle/>
          <a:p>
            <a:pPr marL="0" indent="0">
              <a:buNone/>
            </a:pPr>
            <a:r>
              <a:rPr lang="vi-VN" sz="1500" i="1" dirty="0">
                <a:latin typeface="Times New Roman" panose="02020603050405020304" pitchFamily="18" charset="0"/>
                <a:ea typeface="Calibri" pitchFamily="34" charset="-122"/>
                <a:cs typeface="Times New Roman" panose="02020603050405020304" pitchFamily="18" charset="0"/>
              </a:rPr>
              <a:t>Navie Bayes</a:t>
            </a:r>
            <a:r>
              <a:rPr lang="en-US" sz="1500" i="1" dirty="0">
                <a:latin typeface="Times New Roman" panose="02020603050405020304" pitchFamily="18" charset="0"/>
                <a:ea typeface="Calibri" pitchFamily="34" charset="-122"/>
                <a:cs typeface="Times New Roman" panose="02020603050405020304" pitchFamily="18" charset="0"/>
              </a:rPr>
              <a:t> bỏ sót ít nhất (FN = 274) nhưng báo động nhầm nhiều nhất (FP = 1,252).</a:t>
            </a:r>
            <a:endParaRPr lang="en-US" sz="1500" dirty="0">
              <a:latin typeface="Times New Roman" panose="02020603050405020304" pitchFamily="18" charset="0"/>
              <a:cs typeface="Times New Roman" panose="02020603050405020304" pitchFamily="18" charset="0"/>
            </a:endParaRPr>
          </a:p>
        </p:txBody>
      </p:sp>
      <p:sp>
        <p:nvSpPr>
          <p:cNvPr id="16" name="Shape 10"/>
          <p:cNvSpPr/>
          <p:nvPr/>
        </p:nvSpPr>
        <p:spPr>
          <a:xfrm>
            <a:off x="8031790" y="3476580"/>
            <a:ext cx="3776472" cy="2871347"/>
          </a:xfrm>
          <a:prstGeom prst="roundRect">
            <a:avLst>
              <a:gd name="adj" fmla="val 3137"/>
            </a:avLst>
          </a:prstGeom>
          <a:solidFill>
            <a:srgbClr val="FFF4DD"/>
          </a:solidFill>
          <a:ln w="12700">
            <a:solidFill>
              <a:srgbClr val="FFF4DD"/>
            </a:solidFill>
            <a:prstDash val="solid"/>
          </a:ln>
        </p:spPr>
      </p:sp>
      <p:sp>
        <p:nvSpPr>
          <p:cNvPr id="17" name="Text 11"/>
          <p:cNvSpPr txBox="1"/>
          <p:nvPr/>
        </p:nvSpPr>
        <p:spPr>
          <a:xfrm>
            <a:off x="8214670" y="3540589"/>
            <a:ext cx="3410712" cy="320040"/>
          </a:xfrm>
          <a:prstGeom prst="rect">
            <a:avLst/>
          </a:prstGeom>
          <a:noFill/>
          <a:ln/>
        </p:spPr>
        <p:txBody>
          <a:bodyPr wrap="square" lIns="0" tIns="0" rIns="0" bIns="0" rtlCol="0" anchor="ctr"/>
          <a:lstStyle/>
          <a:p>
            <a:pPr marL="0" indent="0">
              <a:buNone/>
            </a:pPr>
            <a:r>
              <a:rPr lang="en-US" b="1" dirty="0">
                <a:solidFill>
                  <a:srgbClr val="D9890A"/>
                </a:solidFill>
                <a:latin typeface="Times New Roman" panose="02020603050405020304" pitchFamily="18" charset="0"/>
                <a:ea typeface="Cambria" pitchFamily="34" charset="-122"/>
                <a:cs typeface="Times New Roman" panose="02020603050405020304" pitchFamily="18" charset="0"/>
              </a:rPr>
              <a:t>Độ quan trọng (Random Forest)</a:t>
            </a:r>
            <a:endParaRPr lang="en-US" dirty="0">
              <a:latin typeface="Times New Roman" panose="02020603050405020304" pitchFamily="18" charset="0"/>
              <a:cs typeface="Times New Roman" panose="02020603050405020304" pitchFamily="18" charset="0"/>
            </a:endParaRPr>
          </a:p>
        </p:txBody>
      </p:sp>
      <p:sp>
        <p:nvSpPr>
          <p:cNvPr id="18" name="Text 12"/>
          <p:cNvSpPr txBox="1"/>
          <p:nvPr/>
        </p:nvSpPr>
        <p:spPr>
          <a:xfrm>
            <a:off x="8214669" y="3888061"/>
            <a:ext cx="3593591" cy="2251112"/>
          </a:xfrm>
          <a:prstGeom prst="rect">
            <a:avLst/>
          </a:prstGeom>
          <a:noFill/>
          <a:ln/>
        </p:spPr>
        <p:txBody>
          <a:bodyPr wrap="square" lIns="0" tIns="0" rIns="0" bIns="0" rtlCol="0" anchor="t"/>
          <a:lstStyle/>
          <a:p>
            <a:pPr marL="203200" indent="-203200">
              <a:lnSpc>
                <a:spcPct val="150000"/>
              </a:lnSpc>
              <a:spcAft>
                <a:spcPts val="300"/>
              </a:spcAft>
              <a:buSzPct val="100000"/>
              <a:buChar char="•"/>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Recency 0.</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3262</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 Monetary 0.</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2296</a:t>
            </a:r>
            <a:endParaRPr lang="en-US" sz="1600" dirty="0">
              <a:latin typeface="Times New Roman" panose="02020603050405020304" pitchFamily="18" charset="0"/>
              <a:cs typeface="Times New Roman" panose="02020603050405020304" pitchFamily="18" charset="0"/>
            </a:endParaRPr>
          </a:p>
          <a:p>
            <a:pPr marL="203200" indent="-203200">
              <a:lnSpc>
                <a:spcPct val="150000"/>
              </a:lnSpc>
              <a:spcAft>
                <a:spcPts val="300"/>
              </a:spcAft>
              <a:buSzPct val="100000"/>
              <a:buChar char="•"/>
            </a:pP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AvgGapDays</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0.</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1504</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 Frequency 0.</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1313</a:t>
            </a:r>
            <a:endParaRPr lang="en-US" sz="1600" dirty="0">
              <a:latin typeface="Times New Roman" panose="02020603050405020304" pitchFamily="18" charset="0"/>
              <a:cs typeface="Times New Roman" panose="02020603050405020304" pitchFamily="18" charset="0"/>
            </a:endParaRPr>
          </a:p>
          <a:p>
            <a:pPr marL="203200" indent="-203200">
              <a:lnSpc>
                <a:spcPct val="150000"/>
              </a:lnSpc>
              <a:spcAft>
                <a:spcPts val="300"/>
              </a:spcAft>
              <a:buSzPct val="100000"/>
              <a:buChar char="•"/>
            </a:pP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AvgOrderValue</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0.</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0831</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 Tenure 0.</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0795</a:t>
            </a:r>
            <a:endParaRPr lang="en-US" sz="1600" dirty="0">
              <a:latin typeface="Times New Roman" panose="02020603050405020304" pitchFamily="18" charset="0"/>
              <a:cs typeface="Times New Roman" panose="02020603050405020304" pitchFamily="18" charset="0"/>
            </a:endParaRPr>
          </a:p>
          <a:p>
            <a:pPr marL="203200" indent="-203200">
              <a:lnSpc>
                <a:spcPct val="150000"/>
              </a:lnSpc>
              <a:spcAft>
                <a:spcPts val="300"/>
              </a:spcAft>
              <a:buSzPct val="100000"/>
              <a:buChar char="•"/>
            </a:pP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Phản ánh đ</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óng</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góp vào mô hình, không chứng minh nhân quả.</a:t>
            </a:r>
            <a:endParaRPr lang="en-US" sz="16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9E39DC12-7394-6564-7678-AEC827140AFF}"/>
              </a:ext>
            </a:extLst>
          </p:cNvPr>
          <p:cNvPicPr>
            <a:picLocks noChangeAspect="1"/>
          </p:cNvPicPr>
          <p:nvPr/>
        </p:nvPicPr>
        <p:blipFill>
          <a:blip r:embed="rId3"/>
          <a:stretch>
            <a:fillRect/>
          </a:stretch>
        </p:blipFill>
        <p:spPr>
          <a:xfrm>
            <a:off x="68116" y="884583"/>
            <a:ext cx="7760270" cy="2230354"/>
          </a:xfrm>
          <a:prstGeom prst="rect">
            <a:avLst/>
          </a:prstGeom>
        </p:spPr>
      </p:pic>
      <p:sp>
        <p:nvSpPr>
          <p:cNvPr id="21" name="Text 0">
            <a:extLst>
              <a:ext uri="{FF2B5EF4-FFF2-40B4-BE49-F238E27FC236}">
                <a16:creationId xmlns:a16="http://schemas.microsoft.com/office/drawing/2014/main" id="{8211A16A-9328-24E7-EF9D-66EE7B16727A}"/>
              </a:ext>
            </a:extLst>
          </p:cNvPr>
          <p:cNvSpPr txBox="1"/>
          <p:nvPr/>
        </p:nvSpPr>
        <p:spPr>
          <a:xfrm>
            <a:off x="373224" y="86773"/>
            <a:ext cx="11644605" cy="685800"/>
          </a:xfrm>
          <a:prstGeom prst="rect">
            <a:avLst/>
          </a:prstGeom>
          <a:noFill/>
          <a:ln/>
        </p:spPr>
        <p:txBody>
          <a:bodyPr wrap="square" lIns="0" tIns="0" rIns="0" bIns="0" rtlCol="0" anchor="ctr"/>
          <a:lstStyle/>
          <a:p>
            <a:r>
              <a:rPr lang="en-US" sz="3000" b="1" dirty="0">
                <a:solidFill>
                  <a:srgbClr val="0B2A5B"/>
                </a:solidFill>
                <a:latin typeface="Times New Roman" pitchFamily="34" charset="0"/>
                <a:ea typeface="Times New Roman" pitchFamily="34" charset="-122"/>
                <a:cs typeface="Times New Roman" pitchFamily="34" charset="-120"/>
              </a:rPr>
              <a:t>Churn Classification:</a:t>
            </a:r>
            <a:r>
              <a:rPr lang="vi-VN" sz="3000" b="1" dirty="0">
                <a:solidFill>
                  <a:srgbClr val="0B2A5B"/>
                </a:solidFill>
                <a:latin typeface="Times New Roman" pitchFamily="34" charset="0"/>
                <a:ea typeface="Times New Roman" pitchFamily="34" charset="-122"/>
                <a:cs typeface="Times New Roman" pitchFamily="34" charset="-120"/>
              </a:rPr>
              <a:t> Confusion Matrix – ROC – Feature Importance</a:t>
            </a:r>
            <a:endParaRPr lang="en-US" sz="3000" dirty="0"/>
          </a:p>
        </p:txBody>
      </p:sp>
      <p:pic>
        <p:nvPicPr>
          <p:cNvPr id="24" name="Picture 23">
            <a:extLst>
              <a:ext uri="{FF2B5EF4-FFF2-40B4-BE49-F238E27FC236}">
                <a16:creationId xmlns:a16="http://schemas.microsoft.com/office/drawing/2014/main" id="{FA514E49-DA49-CC33-6776-CA9B2E07CA64}"/>
              </a:ext>
            </a:extLst>
          </p:cNvPr>
          <p:cNvPicPr>
            <a:picLocks noChangeAspect="1"/>
          </p:cNvPicPr>
          <p:nvPr/>
        </p:nvPicPr>
        <p:blipFill>
          <a:blip r:embed="rId4"/>
          <a:stretch>
            <a:fillRect/>
          </a:stretch>
        </p:blipFill>
        <p:spPr>
          <a:xfrm>
            <a:off x="471865" y="3450647"/>
            <a:ext cx="3324086" cy="2685163"/>
          </a:xfrm>
          <a:prstGeom prst="rect">
            <a:avLst/>
          </a:prstGeom>
        </p:spPr>
      </p:pic>
      <p:sp>
        <p:nvSpPr>
          <p:cNvPr id="26" name="Text 2">
            <a:extLst>
              <a:ext uri="{FF2B5EF4-FFF2-40B4-BE49-F238E27FC236}">
                <a16:creationId xmlns:a16="http://schemas.microsoft.com/office/drawing/2014/main" id="{F08ABB82-83BC-86CA-BA44-435B726633C2}"/>
              </a:ext>
            </a:extLst>
          </p:cNvPr>
          <p:cNvSpPr txBox="1"/>
          <p:nvPr/>
        </p:nvSpPr>
        <p:spPr>
          <a:xfrm>
            <a:off x="552771" y="6347928"/>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E88C063B-F877-BBC0-6D55-79FB02A32939}"/>
              </a:ext>
            </a:extLst>
          </p:cNvPr>
          <p:cNvPicPr>
            <a:picLocks noChangeAspect="1"/>
          </p:cNvPicPr>
          <p:nvPr/>
        </p:nvPicPr>
        <p:blipFill>
          <a:blip r:embed="rId5"/>
          <a:stretch>
            <a:fillRect/>
          </a:stretch>
        </p:blipFill>
        <p:spPr>
          <a:xfrm>
            <a:off x="3795952" y="3583886"/>
            <a:ext cx="4030388" cy="246696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Calibri" pitchFamily="34" charset="0"/>
                <a:ea typeface="Calibri" pitchFamily="34" charset="-122"/>
                <a:cs typeface="Calibri" pitchFamily="34" charset="-120"/>
              </a:rPr>
              <a:t>29</a:t>
            </a:r>
            <a:endParaRPr lang="en-US" sz="1000" dirty="0"/>
          </a:p>
        </p:txBody>
      </p:sp>
      <p:sp>
        <p:nvSpPr>
          <p:cNvPr id="7" name="Text 4"/>
          <p:cNvSpPr txBox="1"/>
          <p:nvPr/>
        </p:nvSpPr>
        <p:spPr>
          <a:xfrm>
            <a:off x="548640" y="4037355"/>
            <a:ext cx="4937760" cy="274320"/>
          </a:xfrm>
          <a:prstGeom prst="rect">
            <a:avLst/>
          </a:prstGeom>
          <a:noFill/>
          <a:ln/>
        </p:spPr>
        <p:txBody>
          <a:bodyPr wrap="square" lIns="0" tIns="0" rIns="0" bIns="0" rtlCol="0" anchor="ctr"/>
          <a:lstStyle/>
          <a:p>
            <a:pPr marL="0" indent="0" algn="ctr">
              <a:buNone/>
            </a:pPr>
            <a:r>
              <a:rPr lang="en-US" sz="1500" i="1" dirty="0" err="1">
                <a:latin typeface="Times New Roman" panose="02020603050405020304" pitchFamily="18" charset="0"/>
                <a:ea typeface="Calibri" pitchFamily="34" charset="-122"/>
                <a:cs typeface="Times New Roman" panose="02020603050405020304" pitchFamily="18" charset="0"/>
              </a:rPr>
              <a:t>Hình</a:t>
            </a:r>
            <a:r>
              <a:rPr lang="en-US" sz="1500" i="1" dirty="0">
                <a:latin typeface="Times New Roman" panose="02020603050405020304" pitchFamily="18" charset="0"/>
                <a:ea typeface="Calibri" pitchFamily="34" charset="-122"/>
                <a:cs typeface="Times New Roman" panose="02020603050405020304" pitchFamily="18" charset="0"/>
              </a:rPr>
              <a:t> </a:t>
            </a:r>
            <a:r>
              <a:rPr lang="vi-VN" sz="1500" i="1" dirty="0">
                <a:latin typeface="Times New Roman" panose="02020603050405020304" pitchFamily="18" charset="0"/>
                <a:ea typeface="Calibri" pitchFamily="34" charset="-122"/>
                <a:cs typeface="Times New Roman" panose="02020603050405020304" pitchFamily="18" charset="0"/>
              </a:rPr>
              <a:t>16</a:t>
            </a:r>
            <a:r>
              <a:rPr lang="en-US" sz="1500" i="1" dirty="0">
                <a:latin typeface="Times New Roman" panose="02020603050405020304" pitchFamily="18" charset="0"/>
                <a:ea typeface="Calibri" pitchFamily="34" charset="-122"/>
                <a:cs typeface="Times New Roman" panose="02020603050405020304" pitchFamily="18" charset="0"/>
              </a:rPr>
              <a:t>. Xác suất churn trung bình theo phân khúc RFM</a:t>
            </a:r>
            <a:endParaRPr lang="en-US" sz="1500" dirty="0">
              <a:latin typeface="Times New Roman" panose="02020603050405020304" pitchFamily="18" charset="0"/>
              <a:cs typeface="Times New Roman" panose="02020603050405020304" pitchFamily="18" charset="0"/>
            </a:endParaRPr>
          </a:p>
        </p:txBody>
      </p:sp>
      <p:graphicFrame>
        <p:nvGraphicFramePr>
          <p:cNvPr id="23" name="Table 0"/>
          <p:cNvGraphicFramePr>
            <a:graphicFrameLocks noGrp="1"/>
          </p:cNvGraphicFramePr>
          <p:nvPr>
            <p:extLst>
              <p:ext uri="{D42A27DB-BD31-4B8C-83A1-F6EECF244321}">
                <p14:modId xmlns:p14="http://schemas.microsoft.com/office/powerpoint/2010/main" val="3605987573"/>
              </p:ext>
            </p:extLst>
          </p:nvPr>
        </p:nvGraphicFramePr>
        <p:xfrm>
          <a:off x="226196" y="4439504"/>
          <a:ext cx="5381500" cy="1908425"/>
        </p:xfrm>
        <a:graphic>
          <a:graphicData uri="http://schemas.openxmlformats.org/drawingml/2006/table">
            <a:tbl>
              <a:tblPr/>
              <a:tblGrid>
                <a:gridCol w="1649257">
                  <a:extLst>
                    <a:ext uri="{9D8B030D-6E8A-4147-A177-3AD203B41FA5}">
                      <a16:colId xmlns:a16="http://schemas.microsoft.com/office/drawing/2014/main" val="20000"/>
                    </a:ext>
                  </a:extLst>
                </a:gridCol>
                <a:gridCol w="802433">
                  <a:extLst>
                    <a:ext uri="{9D8B030D-6E8A-4147-A177-3AD203B41FA5}">
                      <a16:colId xmlns:a16="http://schemas.microsoft.com/office/drawing/2014/main" val="20001"/>
                    </a:ext>
                  </a:extLst>
                </a:gridCol>
                <a:gridCol w="1150214">
                  <a:extLst>
                    <a:ext uri="{9D8B030D-6E8A-4147-A177-3AD203B41FA5}">
                      <a16:colId xmlns:a16="http://schemas.microsoft.com/office/drawing/2014/main" val="20002"/>
                    </a:ext>
                  </a:extLst>
                </a:gridCol>
                <a:gridCol w="1779596">
                  <a:extLst>
                    <a:ext uri="{9D8B030D-6E8A-4147-A177-3AD203B41FA5}">
                      <a16:colId xmlns:a16="http://schemas.microsoft.com/office/drawing/2014/main" val="20003"/>
                    </a:ext>
                  </a:extLst>
                </a:gridCol>
              </a:tblGrid>
              <a:tr h="669623">
                <a:tc>
                  <a:txBody>
                    <a:bodyPr/>
                    <a:lstStyle/>
                    <a:p>
                      <a:pPr marL="0" indent="0" algn="ctr">
                        <a:buNone/>
                      </a:pP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Phân khúc</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Khách</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Churn thực tế</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ctr">
                        <a:buNone/>
                      </a:pPr>
                      <a:r>
                        <a:rPr lang="vi-VN" sz="1500" b="0" dirty="0">
                          <a:solidFill>
                            <a:schemeClr val="tx1"/>
                          </a:solidFill>
                          <a:latin typeface="Times New Roman" panose="02020603050405020304" pitchFamily="18" charset="0"/>
                          <a:ea typeface="Calibri" pitchFamily="34" charset="-122"/>
                          <a:cs typeface="Times New Roman" panose="02020603050405020304" pitchFamily="18" charset="0"/>
                        </a:rPr>
                        <a:t>Xác suất</a:t>
                      </a: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 </a:t>
                      </a:r>
                      <a:r>
                        <a:rPr lang="vi-VN" sz="1500" b="0" dirty="0">
                          <a:solidFill>
                            <a:schemeClr val="tx1"/>
                          </a:solidFill>
                          <a:latin typeface="Times New Roman" panose="02020603050405020304" pitchFamily="18" charset="0"/>
                          <a:ea typeface="Calibri" pitchFamily="34" charset="-122"/>
                          <a:cs typeface="Times New Roman" panose="02020603050405020304" pitchFamily="18" charset="0"/>
                        </a:rPr>
                        <a:t>C</a:t>
                      </a:r>
                      <a:r>
                        <a:rPr lang="en-US" sz="1500" b="0" dirty="0" err="1">
                          <a:solidFill>
                            <a:schemeClr val="tx1"/>
                          </a:solidFill>
                          <a:latin typeface="Times New Roman" panose="02020603050405020304" pitchFamily="18" charset="0"/>
                          <a:ea typeface="Calibri" pitchFamily="34" charset="-122"/>
                          <a:cs typeface="Times New Roman" panose="02020603050405020304" pitchFamily="18" charset="0"/>
                        </a:rPr>
                        <a:t>hurn</a:t>
                      </a:r>
                      <a:r>
                        <a:rPr lang="en-US" sz="1500" b="0" dirty="0">
                          <a:solidFill>
                            <a:schemeClr val="tx1"/>
                          </a:solidFill>
                          <a:latin typeface="Times New Roman" panose="02020603050405020304" pitchFamily="18" charset="0"/>
                          <a:ea typeface="Calibri" pitchFamily="34" charset="-122"/>
                          <a:cs typeface="Times New Roman" panose="02020603050405020304" pitchFamily="18" charset="0"/>
                        </a:rPr>
                        <a:t> </a:t>
                      </a:r>
                      <a:r>
                        <a:rPr lang="vi-VN" sz="1500" b="0" dirty="0">
                          <a:solidFill>
                            <a:schemeClr val="tx1"/>
                          </a:solidFill>
                          <a:latin typeface="Times New Roman" panose="02020603050405020304" pitchFamily="18" charset="0"/>
                          <a:ea typeface="Calibri" pitchFamily="34" charset="-122"/>
                          <a:cs typeface="Times New Roman" panose="02020603050405020304" pitchFamily="18" charset="0"/>
                        </a:rPr>
                        <a:t>Trung bình</a:t>
                      </a:r>
                      <a:endParaRPr lang="en-US" sz="1500" b="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412934">
                <a:tc>
                  <a:txBody>
                    <a:bodyPr/>
                    <a:lstStyle/>
                    <a:p>
                      <a:pPr marL="0" indent="0" algn="l">
                        <a:buNone/>
                      </a:pPr>
                      <a:r>
                        <a:rPr lang="en-US" sz="1500" b="0" dirty="0">
                          <a:solidFill>
                            <a:srgbClr val="1F2937"/>
                          </a:solidFill>
                          <a:latin typeface="Times New Roman" panose="02020603050405020304" pitchFamily="18" charset="0"/>
                          <a:ea typeface="Calibri" pitchFamily="34" charset="-122"/>
                          <a:cs typeface="Times New Roman" panose="02020603050405020304" pitchFamily="18" charset="0"/>
                        </a:rPr>
                        <a:t>Có nguy cơ rời bỏ</a:t>
                      </a:r>
                      <a:endParaRPr lang="en-US" sz="1500" b="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1,824</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dirty="0">
                          <a:solidFill>
                            <a:srgbClr val="FF0000"/>
                          </a:solidFill>
                          <a:latin typeface="Times New Roman" panose="02020603050405020304" pitchFamily="18" charset="0"/>
                          <a:ea typeface="Calibri" pitchFamily="34" charset="-122"/>
                          <a:cs typeface="Times New Roman" panose="02020603050405020304" pitchFamily="18" charset="0"/>
                        </a:rPr>
                        <a:t>100%</a:t>
                      </a:r>
                      <a:endParaRPr lang="en-US" sz="1500" b="1" dirty="0">
                        <a:solidFill>
                          <a:srgbClr val="FF0000"/>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dirty="0">
                          <a:solidFill>
                            <a:srgbClr val="FF0000"/>
                          </a:solidFill>
                          <a:latin typeface="Times New Roman" panose="02020603050405020304" pitchFamily="18" charset="0"/>
                          <a:ea typeface="Calibri" pitchFamily="34" charset="-122"/>
                          <a:cs typeface="Times New Roman" panose="02020603050405020304" pitchFamily="18" charset="0"/>
                        </a:rPr>
                        <a:t>99.</a:t>
                      </a:r>
                      <a:r>
                        <a:rPr lang="vi-VN" sz="1500" b="1" dirty="0">
                          <a:solidFill>
                            <a:srgbClr val="FF0000"/>
                          </a:solidFill>
                          <a:latin typeface="Times New Roman" panose="02020603050405020304" pitchFamily="18" charset="0"/>
                          <a:ea typeface="Calibri" pitchFamily="34" charset="-122"/>
                          <a:cs typeface="Times New Roman" panose="02020603050405020304" pitchFamily="18" charset="0"/>
                        </a:rPr>
                        <a:t>1</a:t>
                      </a:r>
                      <a:r>
                        <a:rPr lang="en-US" sz="1500" b="1" dirty="0">
                          <a:solidFill>
                            <a:srgbClr val="FF0000"/>
                          </a:solidFill>
                          <a:latin typeface="Times New Roman" panose="02020603050405020304" pitchFamily="18" charset="0"/>
                          <a:ea typeface="Calibri" pitchFamily="34" charset="-122"/>
                          <a:cs typeface="Times New Roman" panose="02020603050405020304" pitchFamily="18" charset="0"/>
                        </a:rPr>
                        <a:t>%</a:t>
                      </a:r>
                      <a:endParaRPr lang="en-US" sz="1500" b="1" dirty="0">
                        <a:solidFill>
                          <a:srgbClr val="FF0000"/>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2934">
                <a:tc>
                  <a:txBody>
                    <a:bodyPr/>
                    <a:lstStyle/>
                    <a:p>
                      <a:pPr marL="0" indent="0" algn="l">
                        <a:buNone/>
                      </a:pPr>
                      <a:r>
                        <a:rPr lang="en-US" sz="1500" b="0" dirty="0">
                          <a:solidFill>
                            <a:srgbClr val="1F2937"/>
                          </a:solidFill>
                          <a:latin typeface="Times New Roman" panose="02020603050405020304" pitchFamily="18" charset="0"/>
                          <a:ea typeface="Calibri" pitchFamily="34" charset="-122"/>
                          <a:cs typeface="Times New Roman" panose="02020603050405020304" pitchFamily="18" charset="0"/>
                        </a:rPr>
                        <a:t>Trung thành</a:t>
                      </a:r>
                      <a:endParaRPr lang="en-US" sz="1500" b="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1,915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0" dirty="0">
                          <a:solidFill>
                            <a:srgbClr val="1F2937"/>
                          </a:solidFill>
                          <a:latin typeface="Times New Roman" panose="02020603050405020304" pitchFamily="18" charset="0"/>
                          <a:ea typeface="Calibri" pitchFamily="34" charset="-122"/>
                          <a:cs typeface="Times New Roman" panose="02020603050405020304" pitchFamily="18" charset="0"/>
                        </a:rPr>
                        <a:t>54.83%</a:t>
                      </a:r>
                      <a:endParaRPr lang="en-US" sz="1500" b="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dirty="0">
                          <a:solidFill>
                            <a:srgbClr val="FFC000"/>
                          </a:solidFill>
                          <a:latin typeface="Times New Roman" panose="02020603050405020304" pitchFamily="18" charset="0"/>
                          <a:ea typeface="Calibri" pitchFamily="34" charset="-122"/>
                          <a:cs typeface="Times New Roman" panose="02020603050405020304" pitchFamily="18" charset="0"/>
                        </a:rPr>
                        <a:t>81.0</a:t>
                      </a:r>
                      <a:r>
                        <a:rPr lang="en-US" sz="1500" b="0" dirty="0">
                          <a:solidFill>
                            <a:srgbClr val="FFC000"/>
                          </a:solidFill>
                          <a:latin typeface="Times New Roman" panose="02020603050405020304" pitchFamily="18" charset="0"/>
                          <a:ea typeface="Calibri" pitchFamily="34" charset="-122"/>
                          <a:cs typeface="Times New Roman" panose="02020603050405020304" pitchFamily="18" charset="0"/>
                        </a:rPr>
                        <a:t>%</a:t>
                      </a:r>
                      <a:endParaRPr lang="en-US" sz="1500" b="0" dirty="0">
                        <a:solidFill>
                          <a:srgbClr val="FFC000"/>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2934">
                <a:tc>
                  <a:txBody>
                    <a:bodyPr/>
                    <a:lstStyle/>
                    <a:p>
                      <a:pPr marL="0" indent="0" algn="l">
                        <a:buNone/>
                      </a:pPr>
                      <a:r>
                        <a:rPr lang="en-US" sz="1500" b="0" dirty="0">
                          <a:solidFill>
                            <a:srgbClr val="1F2937"/>
                          </a:solidFill>
                          <a:latin typeface="Times New Roman" panose="02020603050405020304" pitchFamily="18" charset="0"/>
                          <a:ea typeface="Calibri" pitchFamily="34" charset="-122"/>
                          <a:cs typeface="Times New Roman" panose="02020603050405020304" pitchFamily="18" charset="0"/>
                        </a:rPr>
                        <a:t>VIP</a:t>
                      </a:r>
                      <a:endParaRPr lang="en-US" sz="1500" b="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1,665</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dirty="0">
                          <a:solidFill>
                            <a:srgbClr val="00B050"/>
                          </a:solidFill>
                          <a:latin typeface="Times New Roman" panose="02020603050405020304" pitchFamily="18" charset="0"/>
                          <a:ea typeface="Calibri" pitchFamily="34" charset="-122"/>
                          <a:cs typeface="Times New Roman" panose="02020603050405020304" pitchFamily="18" charset="0"/>
                        </a:rPr>
                        <a:t>24.14%</a:t>
                      </a:r>
                      <a:endParaRPr lang="en-US" sz="1500" b="1" dirty="0">
                        <a:solidFill>
                          <a:srgbClr val="00B050"/>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dirty="0">
                          <a:solidFill>
                            <a:srgbClr val="00B050"/>
                          </a:solidFill>
                          <a:latin typeface="Times New Roman" panose="02020603050405020304" pitchFamily="18" charset="0"/>
                          <a:ea typeface="Calibri" pitchFamily="34" charset="-122"/>
                          <a:cs typeface="Times New Roman" panose="02020603050405020304" pitchFamily="18" charset="0"/>
                        </a:rPr>
                        <a:t>32.</a:t>
                      </a:r>
                      <a:r>
                        <a:rPr lang="vi-VN" sz="1500" b="1" dirty="0">
                          <a:solidFill>
                            <a:srgbClr val="00B050"/>
                          </a:solidFill>
                          <a:latin typeface="Times New Roman" panose="02020603050405020304" pitchFamily="18" charset="0"/>
                          <a:ea typeface="Calibri" pitchFamily="34" charset="-122"/>
                          <a:cs typeface="Times New Roman" panose="02020603050405020304" pitchFamily="18" charset="0"/>
                        </a:rPr>
                        <a:t>8</a:t>
                      </a:r>
                      <a:r>
                        <a:rPr lang="en-US" sz="1500" b="1" dirty="0">
                          <a:solidFill>
                            <a:srgbClr val="00B050"/>
                          </a:solidFill>
                          <a:latin typeface="Times New Roman" panose="02020603050405020304" pitchFamily="18" charset="0"/>
                          <a:ea typeface="Calibri" pitchFamily="34" charset="-122"/>
                          <a:cs typeface="Times New Roman" panose="02020603050405020304" pitchFamily="18" charset="0"/>
                        </a:rPr>
                        <a:t>%</a:t>
                      </a:r>
                      <a:endParaRPr lang="en-US" sz="1500" b="1" dirty="0">
                        <a:solidFill>
                          <a:srgbClr val="00B050"/>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5"/>
          <p:cNvSpPr/>
          <p:nvPr/>
        </p:nvSpPr>
        <p:spPr>
          <a:xfrm>
            <a:off x="5760720" y="890143"/>
            <a:ext cx="5879592" cy="4983480"/>
          </a:xfrm>
          <a:prstGeom prst="roundRect">
            <a:avLst>
              <a:gd name="adj" fmla="val 1468"/>
            </a:avLst>
          </a:prstGeom>
          <a:solidFill>
            <a:srgbClr val="F4F6FA"/>
          </a:solidFill>
          <a:ln w="12700">
            <a:solidFill>
              <a:srgbClr val="F4F6FA"/>
            </a:solidFill>
            <a:prstDash val="solid"/>
          </a:ln>
        </p:spPr>
      </p:sp>
      <p:sp>
        <p:nvSpPr>
          <p:cNvPr id="10" name="Text 6"/>
          <p:cNvSpPr txBox="1"/>
          <p:nvPr/>
        </p:nvSpPr>
        <p:spPr>
          <a:xfrm>
            <a:off x="5989320" y="1205514"/>
            <a:ext cx="5422392"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Nhận xét</a:t>
            </a:r>
            <a:endParaRPr lang="en-US" dirty="0">
              <a:latin typeface="Times New Roman" panose="02020603050405020304" pitchFamily="18" charset="0"/>
              <a:cs typeface="Times New Roman" panose="02020603050405020304" pitchFamily="18" charset="0"/>
            </a:endParaRPr>
          </a:p>
        </p:txBody>
      </p:sp>
      <p:sp>
        <p:nvSpPr>
          <p:cNvPr id="11" name="Text 7"/>
          <p:cNvSpPr txBox="1"/>
          <p:nvPr/>
        </p:nvSpPr>
        <p:spPr>
          <a:xfrm>
            <a:off x="5989320" y="1746691"/>
            <a:ext cx="5422392" cy="4389120"/>
          </a:xfrm>
          <a:prstGeom prst="rect">
            <a:avLst/>
          </a:prstGeom>
          <a:noFill/>
          <a:ln/>
        </p:spPr>
        <p:txBody>
          <a:bodyPr wrap="square" lIns="0" tIns="0" rIns="0" bIns="0" rtlCol="0" anchor="t"/>
          <a:lstStyle/>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Nhất quán ở hai cực: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VIP có rủi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ro</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C</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hurn</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thấp nhất; nhóm “nguy cơ rời bỏ” gần như chắc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chắn</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C</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hurn</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(100% thực tế). Hai phương pháp độc lập cho cùng xu hướng.</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Vùng cần xem xét — Khách trung thành: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M</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ô hình dự đoán 81.0% nhưng thực tế 54.8% →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M</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ô hình cảnh báo quá mức (Recall cao, Precision thấp).</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Bài học: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T</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ên</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phân khúc RFM ≠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R</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ủi</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ro churn thấp.</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Bảng đối chiếu </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khớp 5,404 / 5,853 khách (phần còn lại không thuộc </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tập</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TEST</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203200" indent="-203200">
              <a:spcAft>
                <a:spcPts val="1100"/>
              </a:spcAft>
              <a:buSzPct val="100000"/>
              <a:buChar char="•"/>
            </a:pPr>
            <a:r>
              <a:rPr lang="en-US" sz="1600" b="1" dirty="0">
                <a:solidFill>
                  <a:srgbClr val="1F2937"/>
                </a:solidFill>
                <a:latin typeface="Times New Roman" panose="02020603050405020304" pitchFamily="18" charset="0"/>
                <a:ea typeface="Calibri" pitchFamily="34" charset="-122"/>
                <a:cs typeface="Times New Roman" panose="02020603050405020304" pitchFamily="18" charset="0"/>
              </a:rPr>
              <a:t>Giới hạn: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L</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uật</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MBA chưa gắn Customer ID nên chưa xác định được luật hiệu quả theo từng phân khúc —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M</a:t>
            </a:r>
            <a:r>
              <a:rPr lang="en-US" sz="1600" dirty="0" err="1">
                <a:solidFill>
                  <a:srgbClr val="1F2937"/>
                </a:solidFill>
                <a:latin typeface="Times New Roman" panose="02020603050405020304" pitchFamily="18" charset="0"/>
                <a:ea typeface="Calibri" pitchFamily="34" charset="-122"/>
                <a:cs typeface="Times New Roman" panose="02020603050405020304" pitchFamily="18" charset="0"/>
              </a:rPr>
              <a:t>ới</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 ở mức gợi ý chiến lược.</a:t>
            </a:r>
            <a:endParaRPr lang="en-US" sz="1600" dirty="0">
              <a:latin typeface="Times New Roman" panose="02020603050405020304" pitchFamily="18" charset="0"/>
              <a:cs typeface="Times New Roman" panose="02020603050405020304" pitchFamily="18" charset="0"/>
            </a:endParaRPr>
          </a:p>
        </p:txBody>
      </p:sp>
      <p:sp>
        <p:nvSpPr>
          <p:cNvPr id="12" name="Text 0">
            <a:extLst>
              <a:ext uri="{FF2B5EF4-FFF2-40B4-BE49-F238E27FC236}">
                <a16:creationId xmlns:a16="http://schemas.microsoft.com/office/drawing/2014/main" id="{17FA476E-15F0-CC3B-6667-74402D07CD71}"/>
              </a:ext>
            </a:extLst>
          </p:cNvPr>
          <p:cNvSpPr txBox="1"/>
          <p:nvPr/>
        </p:nvSpPr>
        <p:spPr>
          <a:xfrm>
            <a:off x="548640" y="96102"/>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itchFamily="34" charset="0"/>
                <a:ea typeface="Times New Roman" pitchFamily="34" charset="-122"/>
                <a:cs typeface="Times New Roman" pitchFamily="34" charset="-120"/>
              </a:rPr>
              <a:t>Đối chiếu chéo: RFM Clustering × Churn Classification</a:t>
            </a:r>
            <a:endParaRPr lang="en-US" sz="3000" dirty="0"/>
          </a:p>
        </p:txBody>
      </p:sp>
      <p:sp>
        <p:nvSpPr>
          <p:cNvPr id="14" name="Text 2">
            <a:extLst>
              <a:ext uri="{FF2B5EF4-FFF2-40B4-BE49-F238E27FC236}">
                <a16:creationId xmlns:a16="http://schemas.microsoft.com/office/drawing/2014/main" id="{3C559327-EA65-9E49-631C-3F84FB93113B}"/>
              </a:ext>
            </a:extLst>
          </p:cNvPr>
          <p:cNvSpPr txBox="1"/>
          <p:nvPr/>
        </p:nvSpPr>
        <p:spPr>
          <a:xfrm>
            <a:off x="552771" y="6347928"/>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41845953-7245-17D4-49E2-0F322C6941F3}"/>
              </a:ext>
            </a:extLst>
          </p:cNvPr>
          <p:cNvPicPr>
            <a:picLocks noChangeAspect="1"/>
          </p:cNvPicPr>
          <p:nvPr/>
        </p:nvPicPr>
        <p:blipFill>
          <a:blip r:embed="rId3"/>
          <a:stretch>
            <a:fillRect/>
          </a:stretch>
        </p:blipFill>
        <p:spPr>
          <a:xfrm>
            <a:off x="196441" y="735248"/>
            <a:ext cx="5411255" cy="329557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0725912" y="6473952"/>
            <a:ext cx="914400" cy="274320"/>
          </a:xfrm>
          <a:prstGeom prst="rect">
            <a:avLst/>
          </a:prstGeom>
          <a:noFill/>
          <a:ln/>
        </p:spPr>
        <p:txBody>
          <a:bodyPr wrap="square" lIns="0" tIns="0" rIns="0" bIns="0" rtlCol="0" anchor="ctr"/>
          <a:lstStyle/>
          <a:p>
            <a:pPr marL="0" indent="0" algn="r">
              <a:buNone/>
            </a:pPr>
            <a:r>
              <a:rPr lang="vi-VN" sz="1000" dirty="0">
                <a:solidFill>
                  <a:srgbClr val="6B7280"/>
                </a:solidFill>
                <a:latin typeface="Calibri" pitchFamily="34" charset="0"/>
                <a:ea typeface="Calibri" pitchFamily="34" charset="-122"/>
                <a:cs typeface="Calibri" pitchFamily="34" charset="-120"/>
              </a:rPr>
              <a:t>30</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910205614"/>
              </p:ext>
            </p:extLst>
          </p:nvPr>
        </p:nvGraphicFramePr>
        <p:xfrm>
          <a:off x="548640" y="1243771"/>
          <a:ext cx="11091672" cy="1828800"/>
        </p:xfrm>
        <a:graphic>
          <a:graphicData uri="http://schemas.openxmlformats.org/drawingml/2006/table">
            <a:tbl>
              <a:tblPr/>
              <a:tblGrid>
                <a:gridCol w="21945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365760">
                <a:tc>
                  <a:txBody>
                    <a:bodyPr/>
                    <a:lstStyle/>
                    <a:p>
                      <a:pPr marL="0" indent="0" algn="l">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Kỹ thuật</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l">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Ưu điểm nổi bật</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l">
                        <a:buNone/>
                      </a:pPr>
                      <a:r>
                        <a:rPr lang="en-US" sz="1500" b="1" dirty="0">
                          <a:solidFill>
                            <a:schemeClr val="tx1"/>
                          </a:solidFill>
                          <a:latin typeface="Times New Roman" panose="02020603050405020304" pitchFamily="18" charset="0"/>
                          <a:ea typeface="Calibri" pitchFamily="34" charset="-122"/>
                          <a:cs typeface="Times New Roman" panose="02020603050405020304" pitchFamily="18" charset="0"/>
                        </a:rPr>
                        <a:t>Giới hạn</a:t>
                      </a:r>
                      <a:endParaRPr lang="en-US" sz="1500" dirty="0">
                        <a:solidFill>
                          <a:schemeClr val="tx1"/>
                        </a:solidFill>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457200">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Market Basket</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Diễn giải trực tiếp bằng ngôn ngữ nghiệp vụ; không cần nhãn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Chỉ đồng xuất hiện, không suy ra nhân quả</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RFM Clustering</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Không cần nhãn; dễ diễn giải bằng R/F/M trung bình</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Phải chọn trước số cụm; ranh giới tương đối</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500" b="1" dirty="0">
                          <a:solidFill>
                            <a:srgbClr val="1F2937"/>
                          </a:solidFill>
                          <a:latin typeface="Times New Roman" panose="02020603050405020304" pitchFamily="18" charset="0"/>
                          <a:ea typeface="Calibri" pitchFamily="34" charset="-122"/>
                          <a:cs typeface="Times New Roman" panose="02020603050405020304" pitchFamily="18" charset="0"/>
                        </a:rPr>
                        <a:t>Churn Classification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Dự đoán cho từng khách, có xác suất kèm theo</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dirty="0">
                          <a:solidFill>
                            <a:srgbClr val="1F2937"/>
                          </a:solidFill>
                          <a:latin typeface="Times New Roman" panose="02020603050405020304" pitchFamily="18" charset="0"/>
                          <a:ea typeface="Calibri" pitchFamily="34" charset="-122"/>
                          <a:cs typeface="Times New Roman" panose="02020603050405020304" pitchFamily="18" charset="0"/>
                        </a:rPr>
                        <a:t>Phải tự định nghĩa nhãn; nhạy với cửa sổ thời gian</a:t>
                      </a:r>
                      <a:endParaRPr lang="en-US" sz="1500" dirty="0">
                        <a:latin typeface="Times New Roman" panose="02020603050405020304" pitchFamily="18" charset="0"/>
                        <a:ea typeface="Calibri"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548640" y="3291840"/>
            <a:ext cx="3566160" cy="1802674"/>
          </a:xfrm>
          <a:prstGeom prst="roundRect">
            <a:avLst>
              <a:gd name="adj" fmla="val 3721"/>
            </a:avLst>
          </a:prstGeom>
          <a:solidFill>
            <a:srgbClr val="F4F6FA"/>
          </a:solidFill>
          <a:ln w="12700">
            <a:solidFill>
              <a:srgbClr val="F4F6FA"/>
            </a:solidFill>
            <a:prstDash val="solid"/>
          </a:ln>
        </p:spPr>
      </p:sp>
      <p:sp>
        <p:nvSpPr>
          <p:cNvPr id="8" name="Shape 5"/>
          <p:cNvSpPr/>
          <p:nvPr/>
        </p:nvSpPr>
        <p:spPr>
          <a:xfrm>
            <a:off x="777240" y="3493008"/>
            <a:ext cx="219456" cy="219456"/>
          </a:xfrm>
          <a:prstGeom prst="ellipse">
            <a:avLst/>
          </a:prstGeom>
          <a:solidFill>
            <a:srgbClr val="2E9E6B"/>
          </a:solidFill>
          <a:ln w="12700">
            <a:solidFill>
              <a:srgbClr val="2E9E6B"/>
            </a:solidFill>
            <a:prstDash val="solid"/>
          </a:ln>
        </p:spPr>
      </p:sp>
      <p:sp>
        <p:nvSpPr>
          <p:cNvPr id="9" name="Text 6"/>
          <p:cNvSpPr txBox="1"/>
          <p:nvPr/>
        </p:nvSpPr>
        <p:spPr>
          <a:xfrm>
            <a:off x="1115568" y="3419856"/>
            <a:ext cx="2788920"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Khách VIP</a:t>
            </a:r>
            <a:endParaRPr lang="en-US" dirty="0">
              <a:latin typeface="Times New Roman" panose="02020603050405020304" pitchFamily="18" charset="0"/>
              <a:cs typeface="Times New Roman" panose="02020603050405020304" pitchFamily="18" charset="0"/>
            </a:endParaRPr>
          </a:p>
        </p:txBody>
      </p:sp>
      <p:sp>
        <p:nvSpPr>
          <p:cNvPr id="10" name="Text 7"/>
          <p:cNvSpPr txBox="1"/>
          <p:nvPr/>
        </p:nvSpPr>
        <p:spPr>
          <a:xfrm>
            <a:off x="777240" y="3931920"/>
            <a:ext cx="3108960" cy="1069288"/>
          </a:xfrm>
          <a:prstGeom prst="rect">
            <a:avLst/>
          </a:prstGeom>
          <a:noFill/>
          <a:ln/>
        </p:spPr>
        <p:txBody>
          <a:bodyPr wrap="square" lIns="0" tIns="0" rIns="0" bIns="0" rtlCol="0" anchor="t"/>
          <a:lstStyle/>
          <a:p>
            <a:pPr marL="0" indent="0">
              <a:buNone/>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Giữ chân giá trị cao: chương trình thân thiết, ưu đãi độc quyền, cá nhân hoá trải nghiệm.</a:t>
            </a:r>
            <a:endParaRPr lang="en-US" sz="1600" dirty="0">
              <a:latin typeface="Times New Roman" panose="02020603050405020304" pitchFamily="18" charset="0"/>
              <a:cs typeface="Times New Roman" panose="02020603050405020304" pitchFamily="18" charset="0"/>
            </a:endParaRPr>
          </a:p>
        </p:txBody>
      </p:sp>
      <p:sp>
        <p:nvSpPr>
          <p:cNvPr id="11" name="Shape 8"/>
          <p:cNvSpPr/>
          <p:nvPr/>
        </p:nvSpPr>
        <p:spPr>
          <a:xfrm>
            <a:off x="4315968" y="3291840"/>
            <a:ext cx="3566160" cy="1802674"/>
          </a:xfrm>
          <a:prstGeom prst="roundRect">
            <a:avLst>
              <a:gd name="adj" fmla="val 3721"/>
            </a:avLst>
          </a:prstGeom>
          <a:solidFill>
            <a:srgbClr val="F4F6FA"/>
          </a:solidFill>
          <a:ln w="12700">
            <a:solidFill>
              <a:srgbClr val="F4F6FA"/>
            </a:solidFill>
            <a:prstDash val="solid"/>
          </a:ln>
        </p:spPr>
      </p:sp>
      <p:sp>
        <p:nvSpPr>
          <p:cNvPr id="12" name="Shape 9"/>
          <p:cNvSpPr/>
          <p:nvPr/>
        </p:nvSpPr>
        <p:spPr>
          <a:xfrm>
            <a:off x="4544568" y="3493008"/>
            <a:ext cx="219456" cy="219456"/>
          </a:xfrm>
          <a:prstGeom prst="ellipse">
            <a:avLst/>
          </a:prstGeom>
          <a:solidFill>
            <a:srgbClr val="14213D"/>
          </a:solidFill>
          <a:ln w="12700">
            <a:solidFill>
              <a:srgbClr val="14213D"/>
            </a:solidFill>
            <a:prstDash val="solid"/>
          </a:ln>
        </p:spPr>
      </p:sp>
      <p:sp>
        <p:nvSpPr>
          <p:cNvPr id="13" name="Text 10"/>
          <p:cNvSpPr txBox="1"/>
          <p:nvPr/>
        </p:nvSpPr>
        <p:spPr>
          <a:xfrm>
            <a:off x="4882896" y="3419856"/>
            <a:ext cx="2788920"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Khách trung thành</a:t>
            </a:r>
            <a:endParaRPr lang="en-US" dirty="0">
              <a:latin typeface="Times New Roman" panose="02020603050405020304" pitchFamily="18" charset="0"/>
              <a:cs typeface="Times New Roman" panose="02020603050405020304" pitchFamily="18" charset="0"/>
            </a:endParaRPr>
          </a:p>
        </p:txBody>
      </p:sp>
      <p:sp>
        <p:nvSpPr>
          <p:cNvPr id="14" name="Text 11"/>
          <p:cNvSpPr txBox="1"/>
          <p:nvPr/>
        </p:nvSpPr>
        <p:spPr>
          <a:xfrm>
            <a:off x="4544568" y="3931920"/>
            <a:ext cx="3108960" cy="1069288"/>
          </a:xfrm>
          <a:prstGeom prst="rect">
            <a:avLst/>
          </a:prstGeom>
          <a:noFill/>
          <a:ln/>
        </p:spPr>
        <p:txBody>
          <a:bodyPr wrap="square" lIns="0" tIns="0" rIns="0" bIns="0" rtlCol="0" anchor="t"/>
          <a:lstStyle/>
          <a:p>
            <a:pPr marL="0" indent="0">
              <a:buNone/>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Tăng giá trị đơn hàng: gợi ý mua kèm từ luật MBA Lift cao, khuyến khích mua theo bộ.</a:t>
            </a:r>
            <a:endParaRPr lang="en-US" sz="1600" dirty="0">
              <a:latin typeface="Times New Roman" panose="02020603050405020304" pitchFamily="18" charset="0"/>
              <a:cs typeface="Times New Roman" panose="02020603050405020304" pitchFamily="18" charset="0"/>
            </a:endParaRPr>
          </a:p>
        </p:txBody>
      </p:sp>
      <p:sp>
        <p:nvSpPr>
          <p:cNvPr id="15" name="Shape 12"/>
          <p:cNvSpPr/>
          <p:nvPr/>
        </p:nvSpPr>
        <p:spPr>
          <a:xfrm>
            <a:off x="8083296" y="3291840"/>
            <a:ext cx="3566160" cy="1802674"/>
          </a:xfrm>
          <a:prstGeom prst="roundRect">
            <a:avLst>
              <a:gd name="adj" fmla="val 3721"/>
            </a:avLst>
          </a:prstGeom>
          <a:solidFill>
            <a:srgbClr val="F4F6FA"/>
          </a:solidFill>
          <a:ln w="12700">
            <a:solidFill>
              <a:srgbClr val="F4F6FA"/>
            </a:solidFill>
            <a:prstDash val="solid"/>
          </a:ln>
        </p:spPr>
      </p:sp>
      <p:sp>
        <p:nvSpPr>
          <p:cNvPr id="16" name="Shape 13"/>
          <p:cNvSpPr/>
          <p:nvPr/>
        </p:nvSpPr>
        <p:spPr>
          <a:xfrm>
            <a:off x="8311896" y="3493008"/>
            <a:ext cx="219456" cy="219456"/>
          </a:xfrm>
          <a:prstGeom prst="ellipse">
            <a:avLst/>
          </a:prstGeom>
          <a:solidFill>
            <a:srgbClr val="D64545"/>
          </a:solidFill>
          <a:ln w="12700">
            <a:solidFill>
              <a:srgbClr val="D64545"/>
            </a:solidFill>
            <a:prstDash val="solid"/>
          </a:ln>
        </p:spPr>
      </p:sp>
      <p:sp>
        <p:nvSpPr>
          <p:cNvPr id="17" name="Text 14"/>
          <p:cNvSpPr txBox="1"/>
          <p:nvPr/>
        </p:nvSpPr>
        <p:spPr>
          <a:xfrm>
            <a:off x="8650224" y="3419856"/>
            <a:ext cx="2788920" cy="365760"/>
          </a:xfrm>
          <a:prstGeom prst="rect">
            <a:avLst/>
          </a:prstGeom>
          <a:noFill/>
          <a:ln/>
        </p:spPr>
        <p:txBody>
          <a:bodyPr wrap="square" lIns="0" tIns="0" rIns="0" bIns="0" rtlCol="0" anchor="ctr"/>
          <a:lstStyle/>
          <a:p>
            <a:pPr marL="0" indent="0">
              <a:buNone/>
            </a:pPr>
            <a:r>
              <a:rPr lang="en-US" b="1" dirty="0">
                <a:solidFill>
                  <a:srgbClr val="14213D"/>
                </a:solidFill>
                <a:latin typeface="Times New Roman" panose="02020603050405020304" pitchFamily="18" charset="0"/>
                <a:ea typeface="Cambria" pitchFamily="34" charset="-122"/>
                <a:cs typeface="Times New Roman" panose="02020603050405020304" pitchFamily="18" charset="0"/>
              </a:rPr>
              <a:t>Khách có nguy cơ rời bỏ</a:t>
            </a:r>
            <a:endParaRPr lang="en-US" dirty="0">
              <a:latin typeface="Times New Roman" panose="02020603050405020304" pitchFamily="18" charset="0"/>
              <a:cs typeface="Times New Roman" panose="02020603050405020304" pitchFamily="18" charset="0"/>
            </a:endParaRPr>
          </a:p>
        </p:txBody>
      </p:sp>
      <p:sp>
        <p:nvSpPr>
          <p:cNvPr id="18" name="Text 15"/>
          <p:cNvSpPr txBox="1"/>
          <p:nvPr/>
        </p:nvSpPr>
        <p:spPr>
          <a:xfrm>
            <a:off x="8311896" y="3931920"/>
            <a:ext cx="3108960" cy="1069288"/>
          </a:xfrm>
          <a:prstGeom prst="rect">
            <a:avLst/>
          </a:prstGeom>
          <a:noFill/>
          <a:ln/>
        </p:spPr>
        <p:txBody>
          <a:bodyPr wrap="square" lIns="0" tIns="0" rIns="0" bIns="0" rtlCol="0" anchor="t"/>
          <a:lstStyle/>
          <a:p>
            <a:pPr marL="0" indent="0">
              <a:buNone/>
            </a:pP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Tái kích hoạt: </a:t>
            </a:r>
            <a:r>
              <a:rPr lang="vi-VN" sz="1600" dirty="0">
                <a:solidFill>
                  <a:srgbClr val="1F2937"/>
                </a:solidFill>
                <a:latin typeface="Times New Roman" panose="02020603050405020304" pitchFamily="18" charset="0"/>
                <a:ea typeface="Calibri" pitchFamily="34" charset="-122"/>
                <a:cs typeface="Times New Roman" panose="02020603050405020304" pitchFamily="18" charset="0"/>
              </a:rPr>
              <a:t>E</a:t>
            </a:r>
            <a:r>
              <a:rPr lang="en-US" sz="1600" dirty="0">
                <a:solidFill>
                  <a:srgbClr val="1F2937"/>
                </a:solidFill>
                <a:latin typeface="Times New Roman" panose="02020603050405020304" pitchFamily="18" charset="0"/>
                <a:ea typeface="Calibri" pitchFamily="34" charset="-122"/>
                <a:cs typeface="Times New Roman" panose="02020603050405020304" pitchFamily="18" charset="0"/>
              </a:rPr>
              <a:t>mail nhắc nhở, ưu đãi có thời hạn, thông điệp theo lịch sử mua.</a:t>
            </a:r>
            <a:endParaRPr lang="en-US" sz="1600" dirty="0">
              <a:latin typeface="Times New Roman" panose="02020603050405020304" pitchFamily="18" charset="0"/>
              <a:cs typeface="Times New Roman" panose="02020603050405020304" pitchFamily="18" charset="0"/>
            </a:endParaRPr>
          </a:p>
        </p:txBody>
      </p:sp>
      <p:sp>
        <p:nvSpPr>
          <p:cNvPr id="19" name="Shape 16"/>
          <p:cNvSpPr/>
          <p:nvPr/>
        </p:nvSpPr>
        <p:spPr>
          <a:xfrm>
            <a:off x="548640" y="5440680"/>
            <a:ext cx="11091672" cy="777240"/>
          </a:xfrm>
          <a:prstGeom prst="roundRect">
            <a:avLst>
              <a:gd name="adj" fmla="val 9412"/>
            </a:avLst>
          </a:prstGeom>
          <a:solidFill>
            <a:schemeClr val="accent4">
              <a:lumMod val="40000"/>
              <a:lumOff val="60000"/>
            </a:schemeClr>
          </a:solidFill>
          <a:ln w="12700">
            <a:solidFill>
              <a:srgbClr val="14213D"/>
            </a:solidFill>
            <a:prstDash val="solid"/>
          </a:ln>
        </p:spPr>
      </p:sp>
      <p:sp>
        <p:nvSpPr>
          <p:cNvPr id="20" name="Text 17"/>
          <p:cNvSpPr txBox="1"/>
          <p:nvPr/>
        </p:nvSpPr>
        <p:spPr>
          <a:xfrm>
            <a:off x="822960" y="5440680"/>
            <a:ext cx="10728338" cy="77724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1 </a:t>
            </a:r>
            <a:r>
              <a:rPr lang="vi-VN" b="1" dirty="0">
                <a:latin typeface="Times New Roman" panose="02020603050405020304" pitchFamily="18" charset="0"/>
                <a:ea typeface="Calibri" pitchFamily="34" charset="-122"/>
                <a:cs typeface="Times New Roman" panose="02020603050405020304" pitchFamily="18" charset="0"/>
              </a:rPr>
              <a:t>B</a:t>
            </a:r>
            <a:r>
              <a:rPr lang="en-US" b="1" dirty="0" err="1">
                <a:latin typeface="Times New Roman" panose="02020603050405020304" pitchFamily="18" charset="0"/>
                <a:ea typeface="Calibri" pitchFamily="34" charset="-122"/>
                <a:cs typeface="Times New Roman" panose="02020603050405020304" pitchFamily="18" charset="0"/>
              </a:rPr>
              <a:t>ài</a:t>
            </a:r>
            <a:r>
              <a:rPr lang="en-US" b="1" dirty="0">
                <a:latin typeface="Times New Roman" panose="02020603050405020304" pitchFamily="18" charset="0"/>
                <a:ea typeface="Calibri" pitchFamily="34" charset="-122"/>
                <a:cs typeface="Times New Roman" panose="02020603050405020304" pitchFamily="18" charset="0"/>
              </a:rPr>
              <a:t> toán · 3 </a:t>
            </a:r>
            <a:r>
              <a:rPr lang="vi-VN" b="1" dirty="0">
                <a:latin typeface="Times New Roman" panose="02020603050405020304" pitchFamily="18" charset="0"/>
                <a:ea typeface="Calibri" pitchFamily="34" charset="-122"/>
                <a:cs typeface="Times New Roman" panose="02020603050405020304" pitchFamily="18" charset="0"/>
              </a:rPr>
              <a:t>G</a:t>
            </a:r>
            <a:r>
              <a:rPr lang="en-US" b="1" dirty="0" err="1">
                <a:latin typeface="Times New Roman" panose="02020603050405020304" pitchFamily="18" charset="0"/>
                <a:ea typeface="Calibri" pitchFamily="34" charset="-122"/>
                <a:cs typeface="Times New Roman" panose="02020603050405020304" pitchFamily="18" charset="0"/>
              </a:rPr>
              <a:t>óc</a:t>
            </a:r>
            <a:r>
              <a:rPr lang="en-US" b="1" dirty="0">
                <a:latin typeface="Times New Roman" panose="02020603050405020304" pitchFamily="18" charset="0"/>
                <a:ea typeface="Calibri" pitchFamily="34" charset="-122"/>
                <a:cs typeface="Times New Roman" panose="02020603050405020304" pitchFamily="18" charset="0"/>
              </a:rPr>
              <a:t> nhìn:  </a:t>
            </a:r>
            <a:r>
              <a:rPr lang="en-US" dirty="0">
                <a:latin typeface="Times New Roman" panose="02020603050405020304" pitchFamily="18" charset="0"/>
                <a:ea typeface="Calibri" pitchFamily="34" charset="-122"/>
                <a:cs typeface="Times New Roman" panose="02020603050405020304" pitchFamily="18" charset="0"/>
              </a:rPr>
              <a:t>MBA cho </a:t>
            </a:r>
            <a:r>
              <a:rPr lang="en-US" dirty="0" err="1">
                <a:latin typeface="Times New Roman" panose="02020603050405020304" pitchFamily="18" charset="0"/>
                <a:ea typeface="Calibri" pitchFamily="34" charset="-122"/>
                <a:cs typeface="Times New Roman" panose="02020603050405020304" pitchFamily="18" charset="0"/>
              </a:rPr>
              <a:t>biết</a:t>
            </a:r>
            <a:r>
              <a:rPr lang="en-US" dirty="0">
                <a:latin typeface="Times New Roman" panose="02020603050405020304" pitchFamily="18" charset="0"/>
                <a:ea typeface="Calibri" pitchFamily="34" charset="-122"/>
                <a:cs typeface="Times New Roman" panose="02020603050405020304" pitchFamily="18" charset="0"/>
              </a:rPr>
              <a:t> </a:t>
            </a:r>
            <a:r>
              <a:rPr lang="vi-VN" dirty="0">
                <a:latin typeface="Times New Roman" panose="02020603050405020304" pitchFamily="18" charset="0"/>
                <a:ea typeface="Calibri" pitchFamily="34" charset="-122"/>
                <a:cs typeface="Times New Roman" panose="02020603050405020304" pitchFamily="18" charset="0"/>
              </a:rPr>
              <a:t>bán gì</a:t>
            </a:r>
            <a:r>
              <a:rPr lang="en-US" dirty="0">
                <a:latin typeface="Times New Roman" panose="02020603050405020304" pitchFamily="18" charset="0"/>
                <a:ea typeface="Calibri" pitchFamily="34" charset="-122"/>
                <a:cs typeface="Times New Roman" panose="02020603050405020304" pitchFamily="18" charset="0"/>
              </a:rPr>
              <a:t>  ·  RFM cho </a:t>
            </a:r>
            <a:r>
              <a:rPr lang="en-US" dirty="0" err="1">
                <a:latin typeface="Times New Roman" panose="02020603050405020304" pitchFamily="18" charset="0"/>
                <a:ea typeface="Calibri" pitchFamily="34" charset="-122"/>
                <a:cs typeface="Times New Roman" panose="02020603050405020304" pitchFamily="18" charset="0"/>
              </a:rPr>
              <a:t>biết</a:t>
            </a:r>
            <a:r>
              <a:rPr lang="en-US" dirty="0">
                <a:latin typeface="Times New Roman" panose="02020603050405020304" pitchFamily="18" charset="0"/>
                <a:ea typeface="Calibri" pitchFamily="34" charset="-122"/>
                <a:cs typeface="Times New Roman" panose="02020603050405020304" pitchFamily="18" charset="0"/>
              </a:rPr>
              <a:t> </a:t>
            </a:r>
            <a:r>
              <a:rPr lang="vi-VN" dirty="0">
                <a:latin typeface="Times New Roman" panose="02020603050405020304" pitchFamily="18" charset="0"/>
                <a:ea typeface="Calibri" pitchFamily="34" charset="-122"/>
                <a:cs typeface="Times New Roman" panose="02020603050405020304" pitchFamily="18" charset="0"/>
              </a:rPr>
              <a:t>ai</a:t>
            </a:r>
            <a:r>
              <a:rPr lang="en-US" dirty="0">
                <a:latin typeface="Times New Roman" panose="02020603050405020304" pitchFamily="18" charset="0"/>
                <a:ea typeface="Calibri" pitchFamily="34" charset="-122"/>
                <a:cs typeface="Times New Roman" panose="02020603050405020304" pitchFamily="18" charset="0"/>
              </a:rPr>
              <a:t> đáng giá  ·  Churn cho </a:t>
            </a:r>
            <a:r>
              <a:rPr lang="en-US" dirty="0" err="1">
                <a:latin typeface="Times New Roman" panose="02020603050405020304" pitchFamily="18" charset="0"/>
                <a:ea typeface="Calibri" pitchFamily="34" charset="-122"/>
                <a:cs typeface="Times New Roman" panose="02020603050405020304" pitchFamily="18" charset="0"/>
              </a:rPr>
              <a:t>biết</a:t>
            </a:r>
            <a:r>
              <a:rPr lang="en-US" dirty="0">
                <a:latin typeface="Times New Roman" panose="02020603050405020304" pitchFamily="18" charset="0"/>
                <a:ea typeface="Calibri" pitchFamily="34" charset="-122"/>
                <a:cs typeface="Times New Roman" panose="02020603050405020304" pitchFamily="18" charset="0"/>
              </a:rPr>
              <a:t> </a:t>
            </a:r>
            <a:r>
              <a:rPr lang="vi-VN" dirty="0">
                <a:latin typeface="Times New Roman" panose="02020603050405020304" pitchFamily="18" charset="0"/>
                <a:ea typeface="Calibri" pitchFamily="34" charset="-122"/>
                <a:cs typeface="Times New Roman" panose="02020603050405020304" pitchFamily="18" charset="0"/>
              </a:rPr>
              <a:t>khi nào</a:t>
            </a:r>
            <a:r>
              <a:rPr lang="en-US" dirty="0">
                <a:latin typeface="Times New Roman" panose="02020603050405020304" pitchFamily="18" charset="0"/>
                <a:ea typeface="Calibri" pitchFamily="34" charset="-122"/>
                <a:cs typeface="Times New Roman" panose="02020603050405020304" pitchFamily="18" charset="0"/>
              </a:rPr>
              <a:t> cần can </a:t>
            </a:r>
            <a:r>
              <a:rPr lang="en-US" dirty="0" err="1">
                <a:latin typeface="Times New Roman" panose="02020603050405020304" pitchFamily="18" charset="0"/>
                <a:ea typeface="Calibri" pitchFamily="34" charset="-122"/>
                <a:cs typeface="Times New Roman" panose="02020603050405020304" pitchFamily="18" charset="0"/>
              </a:rPr>
              <a:t>thiệp</a:t>
            </a:r>
            <a:endParaRPr lang="en-US" dirty="0">
              <a:latin typeface="Times New Roman" panose="02020603050405020304" pitchFamily="18" charset="0"/>
              <a:cs typeface="Times New Roman" panose="02020603050405020304" pitchFamily="18" charset="0"/>
            </a:endParaRPr>
          </a:p>
        </p:txBody>
      </p:sp>
      <p:sp>
        <p:nvSpPr>
          <p:cNvPr id="21" name="Text 0">
            <a:extLst>
              <a:ext uri="{FF2B5EF4-FFF2-40B4-BE49-F238E27FC236}">
                <a16:creationId xmlns:a16="http://schemas.microsoft.com/office/drawing/2014/main" id="{742EC605-E78E-5A14-013A-0B521D773EF4}"/>
              </a:ext>
            </a:extLst>
          </p:cNvPr>
          <p:cNvSpPr txBox="1"/>
          <p:nvPr/>
        </p:nvSpPr>
        <p:spPr>
          <a:xfrm>
            <a:off x="548640" y="96102"/>
            <a:ext cx="9994392" cy="685800"/>
          </a:xfrm>
          <a:prstGeom prst="rect">
            <a:avLst/>
          </a:prstGeom>
          <a:noFill/>
          <a:ln/>
        </p:spPr>
        <p:txBody>
          <a:bodyPr wrap="square" lIns="0" tIns="0" rIns="0" bIns="0" rtlCol="0" anchor="ctr"/>
          <a:lstStyle/>
          <a:p>
            <a:pPr marL="0" indent="0">
              <a:buNone/>
            </a:pPr>
            <a:r>
              <a:rPr lang="vi-VN" sz="3000" b="1" dirty="0">
                <a:solidFill>
                  <a:srgbClr val="0B2A5B"/>
                </a:solidFill>
                <a:latin typeface="Times New Roman" pitchFamily="34" charset="0"/>
                <a:ea typeface="Times New Roman" pitchFamily="34" charset="-122"/>
                <a:cs typeface="Times New Roman" pitchFamily="34" charset="-120"/>
              </a:rPr>
              <a:t>Tổng hợp 3 kỹ thuật và hành động nghiệp vụ</a:t>
            </a:r>
            <a:endParaRPr lang="en-US" sz="3000" dirty="0"/>
          </a:p>
        </p:txBody>
      </p:sp>
      <p:sp>
        <p:nvSpPr>
          <p:cNvPr id="23" name="Text 1">
            <a:extLst>
              <a:ext uri="{FF2B5EF4-FFF2-40B4-BE49-F238E27FC236}">
                <a16:creationId xmlns:a16="http://schemas.microsoft.com/office/drawing/2014/main" id="{BFA8225A-8C14-CD77-6ECA-26C19066F2CE}"/>
              </a:ext>
            </a:extLst>
          </p:cNvPr>
          <p:cNvSpPr txBox="1"/>
          <p:nvPr/>
        </p:nvSpPr>
        <p:spPr>
          <a:xfrm>
            <a:off x="548640" y="729281"/>
            <a:ext cx="10515600" cy="365760"/>
          </a:xfrm>
          <a:prstGeom prst="rect">
            <a:avLst/>
          </a:prstGeom>
          <a:noFill/>
          <a:ln/>
        </p:spPr>
        <p:txBody>
          <a:bodyPr wrap="square" lIns="0" tIns="0" rIns="0" bIns="0" rtlCol="0" anchor="ctr"/>
          <a:lstStyle/>
          <a:p>
            <a:pPr marL="0" indent="0">
              <a:buNone/>
            </a:pPr>
            <a:r>
              <a:rPr lang="en-US" i="1" dirty="0">
                <a:latin typeface="Times New Roman" panose="02020603050405020304" pitchFamily="18" charset="0"/>
                <a:ea typeface="Calibri" pitchFamily="34" charset="-122"/>
                <a:cs typeface="Times New Roman" panose="02020603050405020304" pitchFamily="18" charset="0"/>
              </a:rPr>
              <a:t>Kết nối cả 3 kỹ thuật thành khuyến nghị hành động </a:t>
            </a:r>
            <a:r>
              <a:rPr lang="en-US" i="1" dirty="0" err="1">
                <a:latin typeface="Times New Roman" panose="02020603050405020304" pitchFamily="18" charset="0"/>
                <a:ea typeface="Calibri" pitchFamily="34" charset="-122"/>
                <a:cs typeface="Times New Roman" panose="02020603050405020304" pitchFamily="18" charset="0"/>
              </a:rPr>
              <a:t>cụ</a:t>
            </a:r>
            <a:r>
              <a:rPr lang="en-US" i="1" dirty="0">
                <a:latin typeface="Times New Roman" panose="02020603050405020304" pitchFamily="18" charset="0"/>
                <a:ea typeface="Calibri" pitchFamily="34" charset="-122"/>
                <a:cs typeface="Times New Roman" panose="02020603050405020304" pitchFamily="18" charset="0"/>
              </a:rPr>
              <a:t> </a:t>
            </a:r>
            <a:r>
              <a:rPr lang="en-US" i="1" dirty="0" err="1">
                <a:latin typeface="Times New Roman" panose="02020603050405020304" pitchFamily="18" charset="0"/>
                <a:ea typeface="Calibri" pitchFamily="34" charset="-122"/>
                <a:cs typeface="Times New Roman" panose="02020603050405020304" pitchFamily="18" charset="0"/>
              </a:rPr>
              <a:t>thể</a:t>
            </a:r>
            <a:endParaRPr lang="en-US" dirty="0">
              <a:latin typeface="Times New Roman" panose="02020603050405020304" pitchFamily="18" charset="0"/>
              <a:cs typeface="Times New Roman" panose="02020603050405020304" pitchFamily="18" charset="0"/>
            </a:endParaRPr>
          </a:p>
        </p:txBody>
      </p:sp>
      <p:sp>
        <p:nvSpPr>
          <p:cNvPr id="26" name="Text 2">
            <a:extLst>
              <a:ext uri="{FF2B5EF4-FFF2-40B4-BE49-F238E27FC236}">
                <a16:creationId xmlns:a16="http://schemas.microsoft.com/office/drawing/2014/main" id="{96E0497F-8FDD-D487-D92F-AC5DFC52271E}"/>
              </a:ext>
            </a:extLst>
          </p:cNvPr>
          <p:cNvSpPr txBox="1"/>
          <p:nvPr/>
        </p:nvSpPr>
        <p:spPr>
          <a:xfrm>
            <a:off x="552771" y="6347928"/>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9994392" cy="685800"/>
          </a:xfrm>
          <a:prstGeom prst="rect">
            <a:avLst/>
          </a:prstGeom>
          <a:noFill/>
          <a:ln/>
        </p:spPr>
        <p:txBody>
          <a:bodyPr wrap="square" lIns="0" tIns="0" rIns="0" bIns="0" rtlCol="0" anchor="ctr"/>
          <a:lstStyle/>
          <a:p>
            <a:pPr marL="0" indent="0">
              <a:buNone/>
            </a:pPr>
            <a:r>
              <a:rPr lang="en-US" sz="3000" b="1" dirty="0">
                <a:solidFill>
                  <a:srgbClr val="0B2A5B"/>
                </a:solidFill>
                <a:latin typeface="Times New Roman" pitchFamily="34" charset="0"/>
                <a:ea typeface="Times New Roman" pitchFamily="34" charset="-122"/>
                <a:cs typeface="Times New Roman" pitchFamily="34" charset="-120"/>
              </a:rPr>
              <a:t>Phân công công việc đến từng thành viên</a:t>
            </a:r>
            <a:endParaRPr lang="en-US" sz="3000" dirty="0"/>
          </a:p>
        </p:txBody>
      </p:sp>
      <p:sp>
        <p:nvSpPr>
          <p:cNvPr id="3" name="Text 1"/>
          <p:cNvSpPr txBox="1"/>
          <p:nvPr/>
        </p:nvSpPr>
        <p:spPr>
          <a:xfrm>
            <a:off x="548640" y="1005840"/>
            <a:ext cx="11091672" cy="365760"/>
          </a:xfrm>
          <a:prstGeom prst="rect">
            <a:avLst/>
          </a:prstGeom>
          <a:noFill/>
          <a:ln/>
        </p:spPr>
        <p:txBody>
          <a:bodyPr wrap="square" lIns="0" tIns="0" rIns="0" bIns="0" rtlCol="0" anchor="t"/>
          <a:lstStyle/>
          <a:p>
            <a:pPr marL="0" indent="0">
              <a:buNone/>
            </a:pPr>
            <a:r>
              <a:rPr lang="en-US" i="1" dirty="0">
                <a:latin typeface="Times New Roman" pitchFamily="34" charset="0"/>
                <a:ea typeface="Times New Roman" pitchFamily="34" charset="-122"/>
                <a:cs typeface="Times New Roman" pitchFamily="34" charset="-120"/>
              </a:rPr>
              <a:t>Mỗi thành viên sở hữu một mảng rõ ràng, có đầu ra bàn giao cụ thể</a:t>
            </a:r>
            <a:endParaRPr lang="en-US"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200" dirty="0">
                <a:solidFill>
                  <a:srgbClr val="5B6B82"/>
                </a:solidFill>
                <a:latin typeface="Times New Roman" pitchFamily="34" charset="0"/>
                <a:ea typeface="Times New Roman" pitchFamily="34" charset="-122"/>
                <a:cs typeface="Times New Roman" pitchFamily="34" charset="-120"/>
              </a:rPr>
              <a:t>31</a:t>
            </a:r>
            <a:endParaRPr lang="en-US" sz="1200" dirty="0"/>
          </a:p>
        </p:txBody>
      </p:sp>
      <p:sp>
        <p:nvSpPr>
          <p:cNvPr id="6" name="Shape 4"/>
          <p:cNvSpPr/>
          <p:nvPr/>
        </p:nvSpPr>
        <p:spPr>
          <a:xfrm>
            <a:off x="548640" y="1645920"/>
            <a:ext cx="3514344" cy="4434840"/>
          </a:xfrm>
          <a:prstGeom prst="rect">
            <a:avLst/>
          </a:prstGeom>
          <a:solidFill>
            <a:srgbClr val="EAF2FF"/>
          </a:solidFill>
          <a:ln w="9525">
            <a:solidFill>
              <a:srgbClr val="C9DAF2"/>
            </a:solidFill>
            <a:prstDash val="solid"/>
          </a:ln>
        </p:spPr>
      </p:sp>
      <p:sp>
        <p:nvSpPr>
          <p:cNvPr id="7" name="Shape 5"/>
          <p:cNvSpPr/>
          <p:nvPr/>
        </p:nvSpPr>
        <p:spPr>
          <a:xfrm>
            <a:off x="777240" y="1783080"/>
            <a:ext cx="640080" cy="640080"/>
          </a:xfrm>
          <a:prstGeom prst="ellipse">
            <a:avLst/>
          </a:prstGeom>
          <a:solidFill>
            <a:srgbClr val="1F6FEB"/>
          </a:solidFill>
          <a:ln w="12700">
            <a:solidFill>
              <a:srgbClr val="1F6FEB"/>
            </a:solidFill>
            <a:prstDash val="solid"/>
          </a:ln>
        </p:spPr>
      </p:sp>
      <p:pic>
        <p:nvPicPr>
          <p:cNvPr id="8" name="Image 0" descr="preencoded.png"/>
          <p:cNvPicPr>
            <a:picLocks noChangeAspect="1"/>
          </p:cNvPicPr>
          <p:nvPr/>
        </p:nvPicPr>
        <p:blipFill>
          <a:blip r:embed="rId3"/>
          <a:stretch>
            <a:fillRect/>
          </a:stretch>
        </p:blipFill>
        <p:spPr>
          <a:xfrm>
            <a:off x="930859" y="1936699"/>
            <a:ext cx="332842" cy="332842"/>
          </a:xfrm>
          <a:prstGeom prst="rect">
            <a:avLst/>
          </a:prstGeom>
        </p:spPr>
      </p:pic>
      <p:sp>
        <p:nvSpPr>
          <p:cNvPr id="9" name="Text 6"/>
          <p:cNvSpPr txBox="1"/>
          <p:nvPr/>
        </p:nvSpPr>
        <p:spPr>
          <a:xfrm>
            <a:off x="1554480" y="1783080"/>
            <a:ext cx="2371344" cy="347472"/>
          </a:xfrm>
          <a:prstGeom prst="rect">
            <a:avLst/>
          </a:prstGeom>
          <a:noFill/>
          <a:ln/>
        </p:spPr>
        <p:txBody>
          <a:bodyPr wrap="square" lIns="0" tIns="0" rIns="0" bIns="0" rtlCol="0" anchor="ctr"/>
          <a:lstStyle/>
          <a:p>
            <a:pPr marL="0" indent="0">
              <a:buNone/>
            </a:pPr>
            <a:r>
              <a:rPr lang="en-US" b="1" dirty="0">
                <a:solidFill>
                  <a:srgbClr val="0B2A5B"/>
                </a:solidFill>
                <a:latin typeface="Times New Roman" pitchFamily="34" charset="0"/>
                <a:ea typeface="Times New Roman" pitchFamily="34" charset="-122"/>
                <a:cs typeface="Times New Roman" pitchFamily="34" charset="-120"/>
              </a:rPr>
              <a:t>Trần Văn Khang</a:t>
            </a:r>
            <a:endParaRPr lang="en-US" dirty="0"/>
          </a:p>
        </p:txBody>
      </p:sp>
      <p:sp>
        <p:nvSpPr>
          <p:cNvPr id="10" name="Text 7"/>
          <p:cNvSpPr txBox="1"/>
          <p:nvPr/>
        </p:nvSpPr>
        <p:spPr>
          <a:xfrm>
            <a:off x="1554480" y="2130552"/>
            <a:ext cx="2371344" cy="274320"/>
          </a:xfrm>
          <a:prstGeom prst="rect">
            <a:avLst/>
          </a:prstGeom>
          <a:noFill/>
          <a:ln/>
        </p:spPr>
        <p:txBody>
          <a:bodyPr wrap="square" lIns="0" tIns="0" rIns="0" bIns="0" rtlCol="0" anchor="ctr"/>
          <a:lstStyle/>
          <a:p>
            <a:pPr marL="0" indent="0">
              <a:buNone/>
            </a:pPr>
            <a:r>
              <a:rPr lang="en-US" sz="1500" dirty="0">
                <a:latin typeface="Times New Roman" pitchFamily="34" charset="0"/>
                <a:ea typeface="Times New Roman" pitchFamily="34" charset="-122"/>
                <a:cs typeface="Times New Roman" pitchFamily="34" charset="-120"/>
              </a:rPr>
              <a:t>52400199</a:t>
            </a:r>
            <a:endParaRPr lang="en-US" sz="1500" dirty="0"/>
          </a:p>
        </p:txBody>
      </p:sp>
      <p:sp>
        <p:nvSpPr>
          <p:cNvPr id="11" name="Text 8"/>
          <p:cNvSpPr txBox="1"/>
          <p:nvPr/>
        </p:nvSpPr>
        <p:spPr>
          <a:xfrm>
            <a:off x="777240" y="2560320"/>
            <a:ext cx="3057144" cy="320040"/>
          </a:xfrm>
          <a:prstGeom prst="rect">
            <a:avLst/>
          </a:prstGeom>
          <a:noFill/>
          <a:ln/>
        </p:spPr>
        <p:txBody>
          <a:bodyPr wrap="square" lIns="0" tIns="0" rIns="0" bIns="0" rtlCol="0" anchor="ctr"/>
          <a:lstStyle/>
          <a:p>
            <a:pPr marL="0" indent="0">
              <a:buNone/>
            </a:pPr>
            <a:r>
              <a:rPr lang="en-US" sz="1500" b="1" i="1" dirty="0">
                <a:solidFill>
                  <a:srgbClr val="1F6FEB"/>
                </a:solidFill>
                <a:latin typeface="Times New Roman" pitchFamily="34" charset="0"/>
                <a:ea typeface="Times New Roman" pitchFamily="34" charset="-122"/>
                <a:cs typeface="Times New Roman" pitchFamily="34" charset="-120"/>
              </a:rPr>
              <a:t>Data &amp; Infrastructure Lead</a:t>
            </a:r>
            <a:endParaRPr lang="en-US" sz="1500" i="1" dirty="0"/>
          </a:p>
        </p:txBody>
      </p:sp>
      <p:sp>
        <p:nvSpPr>
          <p:cNvPr id="12" name="Text 9"/>
          <p:cNvSpPr txBox="1"/>
          <p:nvPr/>
        </p:nvSpPr>
        <p:spPr>
          <a:xfrm>
            <a:off x="777240" y="2926080"/>
            <a:ext cx="3057144" cy="274320"/>
          </a:xfrm>
          <a:prstGeom prst="rect">
            <a:avLst/>
          </a:prstGeom>
          <a:noFill/>
          <a:ln/>
        </p:spPr>
        <p:txBody>
          <a:bodyPr wrap="square" lIns="0" tIns="0" rIns="0" bIns="0" rtlCol="0" anchor="ctr"/>
          <a:lstStyle/>
          <a:p>
            <a:pPr marL="0" indent="0">
              <a:buNone/>
            </a:pPr>
            <a:r>
              <a:rPr lang="en-US" sz="1500" b="1" dirty="0">
                <a:solidFill>
                  <a:srgbClr val="1E8449"/>
                </a:solidFill>
                <a:latin typeface="Times New Roman" pitchFamily="34" charset="0"/>
                <a:ea typeface="Times New Roman" pitchFamily="34" charset="-122"/>
                <a:cs typeface="Times New Roman" pitchFamily="34" charset="-120"/>
              </a:rPr>
              <a:t>Đã hoàn thành</a:t>
            </a:r>
            <a:endParaRPr lang="en-US" sz="1500" dirty="0"/>
          </a:p>
        </p:txBody>
      </p:sp>
      <p:sp>
        <p:nvSpPr>
          <p:cNvPr id="13" name="Text 10"/>
          <p:cNvSpPr txBox="1"/>
          <p:nvPr/>
        </p:nvSpPr>
        <p:spPr>
          <a:xfrm>
            <a:off x="777240" y="3200400"/>
            <a:ext cx="3057144" cy="1600200"/>
          </a:xfrm>
          <a:prstGeom prst="rect">
            <a:avLst/>
          </a:prstGeom>
          <a:noFill/>
          <a:ln/>
        </p:spPr>
        <p:txBody>
          <a:bodyPr wrap="square" lIns="0" tIns="0" rIns="0" bIns="0" rtlCol="0" anchor="t"/>
          <a:lstStyle/>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Notebook 1: Data Understanding</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Notebook 2: Data Preparation</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Module Source/Utils, Preprocessing, RFM_Calculator</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3 </a:t>
            </a:r>
            <a:r>
              <a:rPr lang="vi-VN" sz="1500" dirty="0">
                <a:solidFill>
                  <a:srgbClr val="1A2B45"/>
                </a:solidFill>
                <a:latin typeface="Times New Roman" panose="02020603050405020304" pitchFamily="18" charset="0"/>
                <a:ea typeface="Times New Roman" pitchFamily="34" charset="-122"/>
                <a:cs typeface="Times New Roman" panose="02020603050405020304" pitchFamily="18" charset="0"/>
              </a:rPr>
              <a:t>F</a:t>
            </a:r>
            <a:r>
              <a:rPr lang="en-US" sz="1500" dirty="0" err="1">
                <a:solidFill>
                  <a:srgbClr val="1A2B45"/>
                </a:solidFill>
                <a:latin typeface="Times New Roman" panose="02020603050405020304" pitchFamily="18" charset="0"/>
                <a:ea typeface="Times New Roman" pitchFamily="34" charset="-122"/>
                <a:cs typeface="Times New Roman" panose="02020603050405020304" pitchFamily="18" charset="0"/>
              </a:rPr>
              <a:t>ile</a:t>
            </a: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 dữ liệu đầu ra</a:t>
            </a:r>
            <a:endParaRPr lang="en-US" sz="1500" dirty="0">
              <a:latin typeface="Times New Roman" panose="02020603050405020304" pitchFamily="18" charset="0"/>
              <a:cs typeface="Times New Roman" panose="02020603050405020304" pitchFamily="18" charset="0"/>
            </a:endParaRPr>
          </a:p>
        </p:txBody>
      </p:sp>
      <p:sp>
        <p:nvSpPr>
          <p:cNvPr id="14" name="Text 11"/>
          <p:cNvSpPr txBox="1"/>
          <p:nvPr/>
        </p:nvSpPr>
        <p:spPr>
          <a:xfrm>
            <a:off x="777240" y="4846320"/>
            <a:ext cx="3057144" cy="274320"/>
          </a:xfrm>
          <a:prstGeom prst="rect">
            <a:avLst/>
          </a:prstGeom>
          <a:noFill/>
          <a:ln/>
        </p:spPr>
        <p:txBody>
          <a:bodyPr wrap="square" lIns="0" tIns="0" rIns="0" bIns="0" rtlCol="0" anchor="ctr"/>
          <a:lstStyle/>
          <a:p>
            <a:pPr marL="0" indent="0">
              <a:buNone/>
            </a:pPr>
            <a:r>
              <a:rPr lang="en-US" sz="1500" b="1" dirty="0">
                <a:solidFill>
                  <a:srgbClr val="B9770E"/>
                </a:solidFill>
                <a:latin typeface="Times New Roman" pitchFamily="34" charset="0"/>
                <a:ea typeface="Times New Roman" pitchFamily="34" charset="-122"/>
                <a:cs typeface="Times New Roman" pitchFamily="34" charset="-120"/>
              </a:rPr>
              <a:t>Giai đoạn còn lại</a:t>
            </a:r>
            <a:endParaRPr lang="en-US" sz="1500" dirty="0"/>
          </a:p>
        </p:txBody>
      </p:sp>
      <p:sp>
        <p:nvSpPr>
          <p:cNvPr id="15" name="Text 12"/>
          <p:cNvSpPr txBox="1"/>
          <p:nvPr/>
        </p:nvSpPr>
        <p:spPr>
          <a:xfrm>
            <a:off x="777240" y="5120640"/>
            <a:ext cx="3057144" cy="914400"/>
          </a:xfrm>
          <a:prstGeom prst="rect">
            <a:avLst/>
          </a:prstGeom>
          <a:noFill/>
          <a:ln/>
        </p:spPr>
        <p:txBody>
          <a:bodyPr wrap="square" lIns="0" tIns="0" rIns="0" bIns="0" rtlCol="0" anchor="t"/>
          <a:lstStyle/>
          <a:p>
            <a:pPr marL="0" indent="0">
              <a:buNone/>
            </a:pPr>
            <a:r>
              <a:rPr lang="en-US" sz="1600" dirty="0">
                <a:solidFill>
                  <a:srgbClr val="1A2B45"/>
                </a:solidFill>
                <a:latin typeface="Times New Roman" pitchFamily="34" charset="0"/>
                <a:ea typeface="Times New Roman" pitchFamily="34" charset="-122"/>
                <a:cs typeface="Times New Roman" pitchFamily="34" charset="-120"/>
              </a:rPr>
              <a:t>Hỗ trợ kiểm tra rò rỉ dữ liệu; hoàn thiện tài liệu </a:t>
            </a:r>
            <a:r>
              <a:rPr lang="en-US" sz="1600" dirty="0" err="1">
                <a:solidFill>
                  <a:srgbClr val="1A2B45"/>
                </a:solidFill>
                <a:latin typeface="Times New Roman" pitchFamily="34" charset="0"/>
                <a:ea typeface="Times New Roman" pitchFamily="34" charset="-122"/>
                <a:cs typeface="Times New Roman" pitchFamily="34" charset="-120"/>
              </a:rPr>
              <a:t>hoá</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P</a:t>
            </a:r>
            <a:r>
              <a:rPr lang="en-US" sz="1600" dirty="0" err="1">
                <a:solidFill>
                  <a:srgbClr val="1A2B45"/>
                </a:solidFill>
                <a:latin typeface="Times New Roman" pitchFamily="34" charset="0"/>
                <a:ea typeface="Times New Roman" pitchFamily="34" charset="-122"/>
                <a:cs typeface="Times New Roman" pitchFamily="34" charset="-120"/>
              </a:rPr>
              <a:t>ipeline</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viết báo cáo cuối kỳ.</a:t>
            </a:r>
            <a:endParaRPr lang="en-US" sz="1600" dirty="0"/>
          </a:p>
        </p:txBody>
      </p:sp>
      <p:sp>
        <p:nvSpPr>
          <p:cNvPr id="16" name="Shape 13"/>
          <p:cNvSpPr/>
          <p:nvPr/>
        </p:nvSpPr>
        <p:spPr>
          <a:xfrm>
            <a:off x="4337304" y="1645920"/>
            <a:ext cx="3514344" cy="4434840"/>
          </a:xfrm>
          <a:prstGeom prst="rect">
            <a:avLst/>
          </a:prstGeom>
          <a:solidFill>
            <a:srgbClr val="EAF2FF"/>
          </a:solidFill>
          <a:ln w="9525">
            <a:solidFill>
              <a:srgbClr val="C9DAF2"/>
            </a:solidFill>
            <a:prstDash val="solid"/>
          </a:ln>
        </p:spPr>
      </p:sp>
      <p:sp>
        <p:nvSpPr>
          <p:cNvPr id="17" name="Shape 14"/>
          <p:cNvSpPr/>
          <p:nvPr/>
        </p:nvSpPr>
        <p:spPr>
          <a:xfrm>
            <a:off x="4565904" y="1783080"/>
            <a:ext cx="640080" cy="640080"/>
          </a:xfrm>
          <a:prstGeom prst="ellipse">
            <a:avLst/>
          </a:prstGeom>
          <a:solidFill>
            <a:srgbClr val="1F6FEB"/>
          </a:solidFill>
          <a:ln w="12700">
            <a:solidFill>
              <a:srgbClr val="1F6FEB"/>
            </a:solidFill>
            <a:prstDash val="solid"/>
          </a:ln>
        </p:spPr>
      </p:sp>
      <p:pic>
        <p:nvPicPr>
          <p:cNvPr id="18" name="Image 1" descr="preencoded.png"/>
          <p:cNvPicPr>
            <a:picLocks noChangeAspect="1"/>
          </p:cNvPicPr>
          <p:nvPr/>
        </p:nvPicPr>
        <p:blipFill>
          <a:blip r:embed="rId4"/>
          <a:stretch>
            <a:fillRect/>
          </a:stretch>
        </p:blipFill>
        <p:spPr>
          <a:xfrm>
            <a:off x="4719523" y="1936699"/>
            <a:ext cx="332842" cy="332842"/>
          </a:xfrm>
          <a:prstGeom prst="rect">
            <a:avLst/>
          </a:prstGeom>
        </p:spPr>
      </p:pic>
      <p:sp>
        <p:nvSpPr>
          <p:cNvPr id="19" name="Text 15"/>
          <p:cNvSpPr txBox="1"/>
          <p:nvPr/>
        </p:nvSpPr>
        <p:spPr>
          <a:xfrm>
            <a:off x="5343144" y="1783080"/>
            <a:ext cx="2371344" cy="347472"/>
          </a:xfrm>
          <a:prstGeom prst="rect">
            <a:avLst/>
          </a:prstGeom>
          <a:noFill/>
          <a:ln/>
        </p:spPr>
        <p:txBody>
          <a:bodyPr wrap="square" lIns="0" tIns="0" rIns="0" bIns="0" rtlCol="0" anchor="ctr"/>
          <a:lstStyle/>
          <a:p>
            <a:pPr marL="0" indent="0">
              <a:buNone/>
            </a:pPr>
            <a:r>
              <a:rPr lang="en-US" b="1" dirty="0">
                <a:solidFill>
                  <a:srgbClr val="0B2A5B"/>
                </a:solidFill>
                <a:latin typeface="Times New Roman" pitchFamily="34" charset="0"/>
                <a:ea typeface="Times New Roman" pitchFamily="34" charset="-122"/>
                <a:cs typeface="Times New Roman" pitchFamily="34" charset="-120"/>
              </a:rPr>
              <a:t>Trần Tấn Lực</a:t>
            </a:r>
            <a:endParaRPr lang="en-US" dirty="0"/>
          </a:p>
        </p:txBody>
      </p:sp>
      <p:sp>
        <p:nvSpPr>
          <p:cNvPr id="20" name="Text 16"/>
          <p:cNvSpPr txBox="1"/>
          <p:nvPr/>
        </p:nvSpPr>
        <p:spPr>
          <a:xfrm>
            <a:off x="5343144" y="2130552"/>
            <a:ext cx="2371344" cy="274320"/>
          </a:xfrm>
          <a:prstGeom prst="rect">
            <a:avLst/>
          </a:prstGeom>
          <a:noFill/>
          <a:ln/>
        </p:spPr>
        <p:txBody>
          <a:bodyPr wrap="square" lIns="0" tIns="0" rIns="0" bIns="0" rtlCol="0" anchor="ctr"/>
          <a:lstStyle/>
          <a:p>
            <a:pPr marL="0" indent="0">
              <a:buNone/>
            </a:pPr>
            <a:r>
              <a:rPr lang="en-US" sz="1500" dirty="0">
                <a:latin typeface="Times New Roman" pitchFamily="34" charset="0"/>
                <a:ea typeface="Times New Roman" pitchFamily="34" charset="-122"/>
                <a:cs typeface="Times New Roman" pitchFamily="34" charset="-120"/>
              </a:rPr>
              <a:t>52400055</a:t>
            </a:r>
            <a:endParaRPr lang="en-US" sz="1500" dirty="0"/>
          </a:p>
        </p:txBody>
      </p:sp>
      <p:sp>
        <p:nvSpPr>
          <p:cNvPr id="21" name="Text 17"/>
          <p:cNvSpPr txBox="1"/>
          <p:nvPr/>
        </p:nvSpPr>
        <p:spPr>
          <a:xfrm>
            <a:off x="4565904" y="2560320"/>
            <a:ext cx="3057144" cy="320040"/>
          </a:xfrm>
          <a:prstGeom prst="rect">
            <a:avLst/>
          </a:prstGeom>
          <a:noFill/>
          <a:ln/>
        </p:spPr>
        <p:txBody>
          <a:bodyPr wrap="square" lIns="0" tIns="0" rIns="0" bIns="0" rtlCol="0" anchor="ctr"/>
          <a:lstStyle/>
          <a:p>
            <a:pPr marL="0" indent="0">
              <a:buNone/>
            </a:pPr>
            <a:r>
              <a:rPr lang="en-US" sz="1500" b="1" i="1" dirty="0">
                <a:solidFill>
                  <a:srgbClr val="1F6FEB"/>
                </a:solidFill>
                <a:latin typeface="Times New Roman" pitchFamily="34" charset="0"/>
                <a:ea typeface="Times New Roman" pitchFamily="34" charset="-122"/>
                <a:cs typeface="Times New Roman" pitchFamily="34" charset="-120"/>
              </a:rPr>
              <a:t>Pattern Mining Lead</a:t>
            </a:r>
            <a:endParaRPr lang="en-US" sz="1500" i="1" dirty="0"/>
          </a:p>
        </p:txBody>
      </p:sp>
      <p:sp>
        <p:nvSpPr>
          <p:cNvPr id="22" name="Text 18"/>
          <p:cNvSpPr txBox="1"/>
          <p:nvPr/>
        </p:nvSpPr>
        <p:spPr>
          <a:xfrm>
            <a:off x="4565904" y="2926080"/>
            <a:ext cx="3057144" cy="274320"/>
          </a:xfrm>
          <a:prstGeom prst="rect">
            <a:avLst/>
          </a:prstGeom>
          <a:noFill/>
          <a:ln/>
        </p:spPr>
        <p:txBody>
          <a:bodyPr wrap="square" lIns="0" tIns="0" rIns="0" bIns="0" rtlCol="0" anchor="ctr"/>
          <a:lstStyle/>
          <a:p>
            <a:pPr marL="0" indent="0">
              <a:buNone/>
            </a:pPr>
            <a:r>
              <a:rPr lang="en-US" sz="1500" b="1" dirty="0">
                <a:solidFill>
                  <a:srgbClr val="1E8449"/>
                </a:solidFill>
                <a:latin typeface="Times New Roman" pitchFamily="34" charset="0"/>
                <a:ea typeface="Times New Roman" pitchFamily="34" charset="-122"/>
                <a:cs typeface="Times New Roman" pitchFamily="34" charset="-120"/>
              </a:rPr>
              <a:t>Đã hoàn thành</a:t>
            </a:r>
            <a:endParaRPr lang="en-US" sz="1500" dirty="0"/>
          </a:p>
        </p:txBody>
      </p:sp>
      <p:sp>
        <p:nvSpPr>
          <p:cNvPr id="23" name="Text 19"/>
          <p:cNvSpPr txBox="1"/>
          <p:nvPr/>
        </p:nvSpPr>
        <p:spPr>
          <a:xfrm>
            <a:off x="4565904" y="3200400"/>
            <a:ext cx="3057144" cy="1600200"/>
          </a:xfrm>
          <a:prstGeom prst="rect">
            <a:avLst/>
          </a:prstGeom>
          <a:noFill/>
          <a:ln/>
        </p:spPr>
        <p:txBody>
          <a:bodyPr wrap="square" lIns="0" tIns="0" rIns="0" bIns="0" rtlCol="0" anchor="t"/>
          <a:lstStyle/>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Notebook 3: Market Basket Analysis</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Notebook 4: RFM Clustering</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Cài đặt K-Medoids (PAM) thủ công</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Association_Rules &amp; Customer_Segments</a:t>
            </a:r>
            <a:endParaRPr lang="en-US" sz="1500" dirty="0">
              <a:latin typeface="Times New Roman" panose="02020603050405020304" pitchFamily="18" charset="0"/>
              <a:cs typeface="Times New Roman" panose="02020603050405020304" pitchFamily="18" charset="0"/>
            </a:endParaRPr>
          </a:p>
        </p:txBody>
      </p:sp>
      <p:sp>
        <p:nvSpPr>
          <p:cNvPr id="24" name="Text 20"/>
          <p:cNvSpPr txBox="1"/>
          <p:nvPr/>
        </p:nvSpPr>
        <p:spPr>
          <a:xfrm>
            <a:off x="4565904" y="4846320"/>
            <a:ext cx="3057144" cy="274320"/>
          </a:xfrm>
          <a:prstGeom prst="rect">
            <a:avLst/>
          </a:prstGeom>
          <a:noFill/>
          <a:ln/>
        </p:spPr>
        <p:txBody>
          <a:bodyPr wrap="square" lIns="0" tIns="0" rIns="0" bIns="0" rtlCol="0" anchor="ctr"/>
          <a:lstStyle/>
          <a:p>
            <a:pPr marL="0" indent="0">
              <a:buNone/>
            </a:pPr>
            <a:r>
              <a:rPr lang="en-US" sz="1500" b="1" dirty="0">
                <a:solidFill>
                  <a:srgbClr val="B9770E"/>
                </a:solidFill>
                <a:latin typeface="Times New Roman" pitchFamily="34" charset="0"/>
                <a:ea typeface="Times New Roman" pitchFamily="34" charset="-122"/>
                <a:cs typeface="Times New Roman" pitchFamily="34" charset="-120"/>
              </a:rPr>
              <a:t>Giai đoạn còn lại</a:t>
            </a:r>
            <a:endParaRPr lang="en-US" sz="1500" dirty="0"/>
          </a:p>
        </p:txBody>
      </p:sp>
      <p:sp>
        <p:nvSpPr>
          <p:cNvPr id="25" name="Text 21"/>
          <p:cNvSpPr txBox="1"/>
          <p:nvPr/>
        </p:nvSpPr>
        <p:spPr>
          <a:xfrm>
            <a:off x="4565904" y="5120640"/>
            <a:ext cx="3057144" cy="914400"/>
          </a:xfrm>
          <a:prstGeom prst="rect">
            <a:avLst/>
          </a:prstGeom>
          <a:noFill/>
          <a:ln/>
        </p:spPr>
        <p:txBody>
          <a:bodyPr wrap="square" lIns="0" tIns="0" rIns="0" bIns="0" rtlCol="0" anchor="t"/>
          <a:lstStyle/>
          <a:p>
            <a:pPr marL="0" indent="0">
              <a:buNone/>
            </a:pPr>
            <a:r>
              <a:rPr lang="en-US" sz="1600" dirty="0">
                <a:solidFill>
                  <a:srgbClr val="1A2B45"/>
                </a:solidFill>
                <a:latin typeface="Times New Roman" pitchFamily="34" charset="0"/>
                <a:ea typeface="Times New Roman" pitchFamily="34" charset="-122"/>
                <a:cs typeface="Times New Roman" pitchFamily="34" charset="-120"/>
              </a:rPr>
              <a:t>MBA riêng cho từng phân khúc; đánh giá độ ổn định </a:t>
            </a:r>
            <a:r>
              <a:rPr lang="en-US" sz="1600" dirty="0" err="1">
                <a:solidFill>
                  <a:srgbClr val="1A2B45"/>
                </a:solidFill>
                <a:latin typeface="Times New Roman" pitchFamily="34" charset="0"/>
                <a:ea typeface="Times New Roman" pitchFamily="34" charset="-122"/>
                <a:cs typeface="Times New Roman" pitchFamily="34" charset="-120"/>
              </a:rPr>
              <a:t>phân</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cụm.</a:t>
            </a:r>
            <a:endParaRPr lang="en-US" sz="1600" dirty="0"/>
          </a:p>
        </p:txBody>
      </p:sp>
      <p:sp>
        <p:nvSpPr>
          <p:cNvPr id="26" name="Shape 22"/>
          <p:cNvSpPr/>
          <p:nvPr/>
        </p:nvSpPr>
        <p:spPr>
          <a:xfrm>
            <a:off x="8125968" y="1645920"/>
            <a:ext cx="3514344" cy="4434840"/>
          </a:xfrm>
          <a:prstGeom prst="rect">
            <a:avLst/>
          </a:prstGeom>
          <a:solidFill>
            <a:srgbClr val="EAF2FF"/>
          </a:solidFill>
          <a:ln w="9525">
            <a:solidFill>
              <a:srgbClr val="C9DAF2"/>
            </a:solidFill>
            <a:prstDash val="solid"/>
          </a:ln>
        </p:spPr>
      </p:sp>
      <p:sp>
        <p:nvSpPr>
          <p:cNvPr id="27" name="Shape 23"/>
          <p:cNvSpPr/>
          <p:nvPr/>
        </p:nvSpPr>
        <p:spPr>
          <a:xfrm>
            <a:off x="8354568" y="1783080"/>
            <a:ext cx="640080" cy="640080"/>
          </a:xfrm>
          <a:prstGeom prst="ellipse">
            <a:avLst/>
          </a:prstGeom>
          <a:solidFill>
            <a:srgbClr val="1F6FEB"/>
          </a:solidFill>
          <a:ln w="12700">
            <a:solidFill>
              <a:srgbClr val="1F6FEB"/>
            </a:solidFill>
            <a:prstDash val="solid"/>
          </a:ln>
        </p:spPr>
      </p:sp>
      <p:pic>
        <p:nvPicPr>
          <p:cNvPr id="28" name="Image 2" descr="preencoded.png"/>
          <p:cNvPicPr>
            <a:picLocks noChangeAspect="1"/>
          </p:cNvPicPr>
          <p:nvPr/>
        </p:nvPicPr>
        <p:blipFill>
          <a:blip r:embed="rId5"/>
          <a:stretch>
            <a:fillRect/>
          </a:stretch>
        </p:blipFill>
        <p:spPr>
          <a:xfrm>
            <a:off x="8508187" y="1936699"/>
            <a:ext cx="332842" cy="332842"/>
          </a:xfrm>
          <a:prstGeom prst="rect">
            <a:avLst/>
          </a:prstGeom>
        </p:spPr>
      </p:pic>
      <p:sp>
        <p:nvSpPr>
          <p:cNvPr id="29" name="Text 24"/>
          <p:cNvSpPr txBox="1"/>
          <p:nvPr/>
        </p:nvSpPr>
        <p:spPr>
          <a:xfrm>
            <a:off x="9131808" y="1783080"/>
            <a:ext cx="2371344" cy="347472"/>
          </a:xfrm>
          <a:prstGeom prst="rect">
            <a:avLst/>
          </a:prstGeom>
          <a:noFill/>
          <a:ln/>
        </p:spPr>
        <p:txBody>
          <a:bodyPr wrap="square" lIns="0" tIns="0" rIns="0" bIns="0" rtlCol="0" anchor="ctr"/>
          <a:lstStyle/>
          <a:p>
            <a:pPr marL="0" indent="0">
              <a:buNone/>
            </a:pPr>
            <a:r>
              <a:rPr lang="en-US" b="1" dirty="0">
                <a:solidFill>
                  <a:srgbClr val="0B2A5B"/>
                </a:solidFill>
                <a:latin typeface="Times New Roman" pitchFamily="34" charset="0"/>
                <a:ea typeface="Times New Roman" pitchFamily="34" charset="-122"/>
                <a:cs typeface="Times New Roman" pitchFamily="34" charset="-120"/>
              </a:rPr>
              <a:t>Ngô Đức Huân</a:t>
            </a:r>
            <a:endParaRPr lang="en-US" dirty="0"/>
          </a:p>
        </p:txBody>
      </p:sp>
      <p:sp>
        <p:nvSpPr>
          <p:cNvPr id="30" name="Text 25"/>
          <p:cNvSpPr txBox="1"/>
          <p:nvPr/>
        </p:nvSpPr>
        <p:spPr>
          <a:xfrm>
            <a:off x="9131808" y="2130552"/>
            <a:ext cx="2371344" cy="274320"/>
          </a:xfrm>
          <a:prstGeom prst="rect">
            <a:avLst/>
          </a:prstGeom>
          <a:noFill/>
          <a:ln/>
        </p:spPr>
        <p:txBody>
          <a:bodyPr wrap="square" lIns="0" tIns="0" rIns="0" bIns="0" rtlCol="0" anchor="ctr"/>
          <a:lstStyle/>
          <a:p>
            <a:pPr marL="0" indent="0">
              <a:buNone/>
            </a:pPr>
            <a:r>
              <a:rPr lang="en-US" sz="1500" dirty="0">
                <a:latin typeface="Times New Roman" pitchFamily="34" charset="0"/>
                <a:ea typeface="Times New Roman" pitchFamily="34" charset="-122"/>
                <a:cs typeface="Times New Roman" pitchFamily="34" charset="-120"/>
              </a:rPr>
              <a:t>52400192</a:t>
            </a:r>
            <a:endParaRPr lang="en-US" sz="1500" dirty="0"/>
          </a:p>
        </p:txBody>
      </p:sp>
      <p:sp>
        <p:nvSpPr>
          <p:cNvPr id="31" name="Text 26"/>
          <p:cNvSpPr txBox="1"/>
          <p:nvPr/>
        </p:nvSpPr>
        <p:spPr>
          <a:xfrm>
            <a:off x="8354568" y="2560320"/>
            <a:ext cx="3057144" cy="320040"/>
          </a:xfrm>
          <a:prstGeom prst="rect">
            <a:avLst/>
          </a:prstGeom>
          <a:noFill/>
          <a:ln/>
        </p:spPr>
        <p:txBody>
          <a:bodyPr wrap="square" lIns="0" tIns="0" rIns="0" bIns="0" rtlCol="0" anchor="ctr"/>
          <a:lstStyle/>
          <a:p>
            <a:pPr marL="0" indent="0">
              <a:buNone/>
            </a:pPr>
            <a:r>
              <a:rPr lang="en-US" sz="1500" b="1" i="1" dirty="0">
                <a:solidFill>
                  <a:srgbClr val="1F6FEB"/>
                </a:solidFill>
                <a:latin typeface="Times New Roman" pitchFamily="34" charset="0"/>
                <a:ea typeface="Times New Roman" pitchFamily="34" charset="-122"/>
                <a:cs typeface="Times New Roman" pitchFamily="34" charset="-120"/>
              </a:rPr>
              <a:t>Classification &amp; Integration Lead</a:t>
            </a:r>
            <a:endParaRPr lang="en-US" sz="1500" i="1" dirty="0"/>
          </a:p>
        </p:txBody>
      </p:sp>
      <p:sp>
        <p:nvSpPr>
          <p:cNvPr id="32" name="Text 27"/>
          <p:cNvSpPr txBox="1"/>
          <p:nvPr/>
        </p:nvSpPr>
        <p:spPr>
          <a:xfrm>
            <a:off x="8354568" y="2926080"/>
            <a:ext cx="3057144" cy="274320"/>
          </a:xfrm>
          <a:prstGeom prst="rect">
            <a:avLst/>
          </a:prstGeom>
          <a:noFill/>
          <a:ln/>
        </p:spPr>
        <p:txBody>
          <a:bodyPr wrap="square" lIns="0" tIns="0" rIns="0" bIns="0" rtlCol="0" anchor="ctr"/>
          <a:lstStyle/>
          <a:p>
            <a:pPr marL="0" indent="0">
              <a:buNone/>
            </a:pPr>
            <a:r>
              <a:rPr lang="en-US" sz="1500" b="1" dirty="0">
                <a:solidFill>
                  <a:srgbClr val="1E8449"/>
                </a:solidFill>
                <a:latin typeface="Times New Roman" pitchFamily="34" charset="0"/>
                <a:ea typeface="Times New Roman" pitchFamily="34" charset="-122"/>
                <a:cs typeface="Times New Roman" pitchFamily="34" charset="-120"/>
              </a:rPr>
              <a:t>Đã hoàn thành</a:t>
            </a:r>
            <a:endParaRPr lang="en-US" sz="1500" dirty="0"/>
          </a:p>
        </p:txBody>
      </p:sp>
      <p:sp>
        <p:nvSpPr>
          <p:cNvPr id="33" name="Text 28"/>
          <p:cNvSpPr txBox="1"/>
          <p:nvPr/>
        </p:nvSpPr>
        <p:spPr>
          <a:xfrm>
            <a:off x="8354568" y="3200400"/>
            <a:ext cx="3057144" cy="1600200"/>
          </a:xfrm>
          <a:prstGeom prst="rect">
            <a:avLst/>
          </a:prstGeom>
          <a:noFill/>
          <a:ln/>
        </p:spPr>
        <p:txBody>
          <a:bodyPr wrap="square" lIns="0" tIns="0" rIns="0" bIns="0" rtlCol="0" anchor="t"/>
          <a:lstStyle/>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Notebook 5: Churn Classification</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Notebook 6: Evaluation &amp; Comparison</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Tách Train/Test theo thời gian, SMOTE</a:t>
            </a:r>
            <a:endParaRPr lang="en-US" sz="1500" dirty="0">
              <a:latin typeface="Times New Roman" panose="02020603050405020304" pitchFamily="18" charset="0"/>
              <a:cs typeface="Times New Roman" panose="02020603050405020304" pitchFamily="18" charset="0"/>
            </a:endParaRPr>
          </a:p>
          <a:p>
            <a:pPr marL="203200" indent="-203200">
              <a:spcAft>
                <a:spcPts val="200"/>
              </a:spcAft>
              <a:buSzPct val="100000"/>
              <a:buChar char="•"/>
            </a:pPr>
            <a:r>
              <a:rPr lang="en-US" sz="1500" dirty="0">
                <a:solidFill>
                  <a:srgbClr val="1A2B45"/>
                </a:solidFill>
                <a:latin typeface="Times New Roman" panose="02020603050405020304" pitchFamily="18" charset="0"/>
                <a:ea typeface="Times New Roman" pitchFamily="34" charset="-122"/>
                <a:cs typeface="Times New Roman" panose="02020603050405020304" pitchFamily="18" charset="0"/>
              </a:rPr>
              <a:t>Phân tích chéo RFM × Churn</a:t>
            </a:r>
            <a:endParaRPr lang="en-US" sz="1500" dirty="0">
              <a:latin typeface="Times New Roman" panose="02020603050405020304" pitchFamily="18" charset="0"/>
              <a:cs typeface="Times New Roman" panose="02020603050405020304" pitchFamily="18" charset="0"/>
            </a:endParaRPr>
          </a:p>
        </p:txBody>
      </p:sp>
      <p:sp>
        <p:nvSpPr>
          <p:cNvPr id="34" name="Text 29"/>
          <p:cNvSpPr txBox="1"/>
          <p:nvPr/>
        </p:nvSpPr>
        <p:spPr>
          <a:xfrm>
            <a:off x="8354568" y="4846320"/>
            <a:ext cx="3057144" cy="274320"/>
          </a:xfrm>
          <a:prstGeom prst="rect">
            <a:avLst/>
          </a:prstGeom>
          <a:noFill/>
          <a:ln/>
        </p:spPr>
        <p:txBody>
          <a:bodyPr wrap="square" lIns="0" tIns="0" rIns="0" bIns="0" rtlCol="0" anchor="ctr"/>
          <a:lstStyle/>
          <a:p>
            <a:pPr marL="0" indent="0">
              <a:buNone/>
            </a:pPr>
            <a:r>
              <a:rPr lang="en-US" sz="1500" b="1" dirty="0">
                <a:solidFill>
                  <a:srgbClr val="B9770E"/>
                </a:solidFill>
                <a:latin typeface="Times New Roman" pitchFamily="34" charset="0"/>
                <a:ea typeface="Times New Roman" pitchFamily="34" charset="-122"/>
                <a:cs typeface="Times New Roman" pitchFamily="34" charset="-120"/>
              </a:rPr>
              <a:t>Giai đoạn còn lại</a:t>
            </a:r>
            <a:endParaRPr lang="en-US" sz="1500" dirty="0"/>
          </a:p>
        </p:txBody>
      </p:sp>
      <p:sp>
        <p:nvSpPr>
          <p:cNvPr id="35" name="Text 30"/>
          <p:cNvSpPr txBox="1"/>
          <p:nvPr/>
        </p:nvSpPr>
        <p:spPr>
          <a:xfrm>
            <a:off x="8354568" y="5120640"/>
            <a:ext cx="3057144" cy="914400"/>
          </a:xfrm>
          <a:prstGeom prst="rect">
            <a:avLst/>
          </a:prstGeom>
          <a:noFill/>
          <a:ln/>
        </p:spPr>
        <p:txBody>
          <a:bodyPr wrap="square" lIns="0" tIns="0" rIns="0" bIns="0" rtlCol="0" anchor="t"/>
          <a:lstStyle/>
          <a:p>
            <a:pPr marL="0" indent="0">
              <a:buNone/>
            </a:pPr>
            <a:r>
              <a:rPr lang="en-US" sz="1600" dirty="0">
                <a:solidFill>
                  <a:srgbClr val="1A2B45"/>
                </a:solidFill>
                <a:latin typeface="Times New Roman" pitchFamily="34" charset="0"/>
                <a:ea typeface="Times New Roman" pitchFamily="34" charset="-122"/>
                <a:cs typeface="Times New Roman" pitchFamily="34" charset="-120"/>
              </a:rPr>
              <a:t>Tinh chỉnh siêu tham </a:t>
            </a:r>
            <a:r>
              <a:rPr lang="en-US" sz="1600" dirty="0" err="1">
                <a:solidFill>
                  <a:srgbClr val="1A2B45"/>
                </a:solidFill>
                <a:latin typeface="Times New Roman" pitchFamily="34" charset="0"/>
                <a:ea typeface="Times New Roman" pitchFamily="34" charset="-122"/>
                <a:cs typeface="Times New Roman" pitchFamily="34" charset="-120"/>
              </a:rPr>
              <a:t>số</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và        </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C</a:t>
            </a:r>
            <a:r>
              <a:rPr lang="en-US" sz="1600" dirty="0">
                <a:solidFill>
                  <a:srgbClr val="1A2B45"/>
                </a:solidFill>
                <a:latin typeface="Times New Roman" pitchFamily="34" charset="0"/>
                <a:ea typeface="Times New Roman" pitchFamily="34" charset="-122"/>
                <a:cs typeface="Times New Roman" pitchFamily="34" charset="-120"/>
              </a:rPr>
              <a:t>ross</a:t>
            </a:r>
            <a:r>
              <a:rPr lang="vi-VN" sz="1600" dirty="0">
                <a:solidFill>
                  <a:srgbClr val="1A2B45"/>
                </a:solidFill>
                <a:latin typeface="Times New Roman" pitchFamily="34" charset="0"/>
                <a:ea typeface="Times New Roman" pitchFamily="34" charset="-122"/>
                <a:cs typeface="Times New Roman" pitchFamily="34" charset="-120"/>
              </a:rPr>
              <a:t> V</a:t>
            </a:r>
            <a:r>
              <a:rPr lang="en-US" sz="1600" dirty="0" err="1">
                <a:solidFill>
                  <a:srgbClr val="1A2B45"/>
                </a:solidFill>
                <a:latin typeface="Times New Roman" pitchFamily="34" charset="0"/>
                <a:ea typeface="Times New Roman" pitchFamily="34" charset="-122"/>
                <a:cs typeface="Times New Roman" pitchFamily="34" charset="-120"/>
              </a:rPr>
              <a:t>alidation</a:t>
            </a:r>
            <a:r>
              <a:rPr lang="en-US" sz="1600" dirty="0">
                <a:solidFill>
                  <a:srgbClr val="1A2B45"/>
                </a:solidFill>
                <a:latin typeface="Times New Roman" pitchFamily="34" charset="0"/>
                <a:ea typeface="Times New Roman" pitchFamily="34" charset="-122"/>
                <a:cs typeface="Times New Roman" pitchFamily="34" charset="-120"/>
              </a:rPr>
              <a:t>; tối </a:t>
            </a:r>
            <a:r>
              <a:rPr lang="en-US" sz="1600" dirty="0" err="1">
                <a:solidFill>
                  <a:srgbClr val="1A2B45"/>
                </a:solidFill>
                <a:latin typeface="Times New Roman" pitchFamily="34" charset="0"/>
                <a:ea typeface="Times New Roman" pitchFamily="34" charset="-122"/>
                <a:cs typeface="Times New Roman" pitchFamily="34" charset="-120"/>
              </a:rPr>
              <a:t>ưu</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T</a:t>
            </a:r>
            <a:r>
              <a:rPr lang="en-US" sz="1600" dirty="0" err="1">
                <a:solidFill>
                  <a:srgbClr val="1A2B45"/>
                </a:solidFill>
                <a:latin typeface="Times New Roman" pitchFamily="34" charset="0"/>
                <a:ea typeface="Times New Roman" pitchFamily="34" charset="-122"/>
                <a:cs typeface="Times New Roman" pitchFamily="34" charset="-120"/>
              </a:rPr>
              <a:t>hreshold</a:t>
            </a:r>
            <a:r>
              <a:rPr lang="en-US" sz="1600" dirty="0">
                <a:solidFill>
                  <a:srgbClr val="1A2B45"/>
                </a:solidFill>
                <a:latin typeface="Times New Roman" pitchFamily="34" charset="0"/>
                <a:ea typeface="Times New Roman" pitchFamily="34" charset="-122"/>
                <a:cs typeface="Times New Roman" pitchFamily="34" charset="-120"/>
              </a:rPr>
              <a:t>; Permutation </a:t>
            </a:r>
            <a:r>
              <a:rPr lang="vi-VN" sz="1600" dirty="0">
                <a:solidFill>
                  <a:srgbClr val="1A2B45"/>
                </a:solidFill>
                <a:latin typeface="Times New Roman" pitchFamily="34" charset="0"/>
                <a:ea typeface="Times New Roman" pitchFamily="34" charset="-122"/>
                <a:cs typeface="Times New Roman" pitchFamily="34" charset="-120"/>
              </a:rPr>
              <a:t>Importance.</a:t>
            </a:r>
            <a:endParaRPr lang="en-US" sz="1600" dirty="0"/>
          </a:p>
        </p:txBody>
      </p:sp>
      <p:sp>
        <p:nvSpPr>
          <p:cNvPr id="37" name="Text 2">
            <a:extLst>
              <a:ext uri="{FF2B5EF4-FFF2-40B4-BE49-F238E27FC236}">
                <a16:creationId xmlns:a16="http://schemas.microsoft.com/office/drawing/2014/main" id="{316E9340-B063-0871-1B18-892DB2419A9E}"/>
              </a:ext>
            </a:extLst>
          </p:cNvPr>
          <p:cNvSpPr txBox="1"/>
          <p:nvPr/>
        </p:nvSpPr>
        <p:spPr>
          <a:xfrm>
            <a:off x="552771" y="6347928"/>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9994392" cy="685800"/>
          </a:xfrm>
          <a:prstGeom prst="rect">
            <a:avLst/>
          </a:prstGeom>
          <a:noFill/>
          <a:ln/>
        </p:spPr>
        <p:txBody>
          <a:bodyPr wrap="square" lIns="0" tIns="0" rIns="0" bIns="0" rtlCol="0" anchor="ctr"/>
          <a:lstStyle/>
          <a:p>
            <a:pPr marL="0" indent="0">
              <a:buNone/>
            </a:pPr>
            <a:r>
              <a:rPr lang="en-US" sz="3200" b="1" dirty="0">
                <a:solidFill>
                  <a:srgbClr val="0B2A5B"/>
                </a:solidFill>
                <a:latin typeface="Times New Roman" pitchFamily="34" charset="0"/>
                <a:ea typeface="Times New Roman" pitchFamily="34" charset="-122"/>
                <a:cs typeface="Times New Roman" pitchFamily="34" charset="-120"/>
              </a:rPr>
              <a:t>Hạn chế đã nhận diện và hướng xử lý</a:t>
            </a:r>
            <a:endParaRPr lang="en-US" sz="3200" dirty="0"/>
          </a:p>
        </p:txBody>
      </p:sp>
      <p:sp>
        <p:nvSpPr>
          <p:cNvPr id="3" name="Text 1"/>
          <p:cNvSpPr txBox="1"/>
          <p:nvPr/>
        </p:nvSpPr>
        <p:spPr>
          <a:xfrm>
            <a:off x="548640" y="1005840"/>
            <a:ext cx="11091672" cy="365760"/>
          </a:xfrm>
          <a:prstGeom prst="rect">
            <a:avLst/>
          </a:prstGeom>
          <a:noFill/>
          <a:ln/>
        </p:spPr>
        <p:txBody>
          <a:bodyPr wrap="square" lIns="0" tIns="0" rIns="0" bIns="0" rtlCol="0" anchor="t"/>
          <a:lstStyle/>
          <a:p>
            <a:pPr marL="0" indent="0">
              <a:buNone/>
            </a:pPr>
            <a:r>
              <a:rPr lang="en-US" sz="1600" i="1" dirty="0">
                <a:solidFill>
                  <a:srgbClr val="5B6B82"/>
                </a:solidFill>
                <a:latin typeface="Times New Roman" pitchFamily="34" charset="0"/>
                <a:ea typeface="Times New Roman" pitchFamily="34" charset="-122"/>
                <a:cs typeface="Times New Roman" pitchFamily="34" charset="-120"/>
              </a:rPr>
              <a:t>Tự đánh giá trung thực — nhóm chủ động chỉ ra các điểm yếu của chính mình</a:t>
            </a:r>
            <a:endParaRPr lang="en-US" sz="16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vi-VN" sz="1200" dirty="0">
                <a:solidFill>
                  <a:srgbClr val="5B6B82"/>
                </a:solidFill>
                <a:latin typeface="Times New Roman" pitchFamily="34" charset="0"/>
                <a:ea typeface="Times New Roman" pitchFamily="34" charset="-122"/>
                <a:cs typeface="Times New Roman" pitchFamily="34" charset="-120"/>
              </a:rPr>
              <a:t>32</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3698063551"/>
              </p:ext>
            </p:extLst>
          </p:nvPr>
        </p:nvGraphicFramePr>
        <p:xfrm>
          <a:off x="548640" y="1645920"/>
          <a:ext cx="11091672" cy="4480560"/>
        </p:xfrm>
        <a:graphic>
          <a:graphicData uri="http://schemas.openxmlformats.org/drawingml/2006/table">
            <a:tbl>
              <a:tblPr/>
              <a:tblGrid>
                <a:gridCol w="4114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182112">
                  <a:extLst>
                    <a:ext uri="{9D8B030D-6E8A-4147-A177-3AD203B41FA5}">
                      <a16:colId xmlns:a16="http://schemas.microsoft.com/office/drawing/2014/main" val="20003"/>
                    </a:ext>
                  </a:extLst>
                </a:gridCol>
              </a:tblGrid>
              <a:tr h="640080">
                <a:tc>
                  <a:txBody>
                    <a:bodyPr/>
                    <a:lstStyle/>
                    <a:p>
                      <a:pPr marL="0" indent="0" algn="l">
                        <a:buNone/>
                      </a:pPr>
                      <a:endParaRPr lang="en-US" sz="1600" dirty="0">
                        <a:solidFill>
                          <a:schemeClr val="tx1"/>
                        </a:solidFill>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l">
                        <a:buNone/>
                      </a:pPr>
                      <a:r>
                        <a:rPr lang="en-US" sz="1600" b="1" dirty="0">
                          <a:solidFill>
                            <a:schemeClr val="tx1"/>
                          </a:solidFill>
                          <a:latin typeface="Times New Roman" pitchFamily="34" charset="0"/>
                          <a:ea typeface="Times New Roman" pitchFamily="34" charset="-122"/>
                          <a:cs typeface="Times New Roman" pitchFamily="34" charset="-120"/>
                        </a:rPr>
                        <a:t>Hạn chế</a:t>
                      </a:r>
                      <a:endParaRPr lang="en-US" sz="1600" dirty="0">
                        <a:solidFill>
                          <a:schemeClr val="tx1"/>
                        </a:solidFill>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l">
                        <a:buNone/>
                      </a:pPr>
                      <a:r>
                        <a:rPr lang="en-US" sz="1600" b="1" dirty="0">
                          <a:solidFill>
                            <a:schemeClr val="tx1"/>
                          </a:solidFill>
                          <a:latin typeface="Times New Roman" pitchFamily="34" charset="0"/>
                          <a:ea typeface="Times New Roman" pitchFamily="34" charset="-122"/>
                          <a:cs typeface="Times New Roman" pitchFamily="34" charset="-120"/>
                        </a:rPr>
                        <a:t>Ảnh hưởng</a:t>
                      </a:r>
                      <a:endParaRPr lang="en-US" sz="1600" dirty="0">
                        <a:solidFill>
                          <a:schemeClr val="tx1"/>
                        </a:solidFill>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indent="0" algn="l">
                        <a:buNone/>
                      </a:pPr>
                      <a:r>
                        <a:rPr lang="en-US" sz="1600" b="1" dirty="0">
                          <a:solidFill>
                            <a:schemeClr val="tx1"/>
                          </a:solidFill>
                          <a:latin typeface="Times New Roman" pitchFamily="34" charset="0"/>
                          <a:ea typeface="Times New Roman" pitchFamily="34" charset="-122"/>
                          <a:cs typeface="Times New Roman" pitchFamily="34" charset="-120"/>
                        </a:rPr>
                        <a:t>Hướng xử lý</a:t>
                      </a:r>
                      <a:endParaRPr lang="en-US" sz="1600" dirty="0">
                        <a:solidFill>
                          <a:schemeClr val="tx1"/>
                        </a:solidFill>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640080">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1</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Cửa </a:t>
                      </a:r>
                      <a:r>
                        <a:rPr lang="en-US" sz="1600" dirty="0" err="1">
                          <a:solidFill>
                            <a:srgbClr val="1A2B45"/>
                          </a:solidFill>
                          <a:latin typeface="Times New Roman" pitchFamily="34" charset="0"/>
                          <a:ea typeface="Times New Roman" pitchFamily="34" charset="-122"/>
                          <a:cs typeface="Times New Roman" pitchFamily="34" charset="-120"/>
                        </a:rPr>
                        <a:t>sổ</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C</a:t>
                      </a:r>
                      <a:r>
                        <a:rPr lang="en-US" sz="1600" dirty="0" err="1">
                          <a:solidFill>
                            <a:srgbClr val="1A2B45"/>
                          </a:solidFill>
                          <a:latin typeface="Times New Roman" pitchFamily="34" charset="0"/>
                          <a:ea typeface="Times New Roman" pitchFamily="34" charset="-122"/>
                          <a:cs typeface="Times New Roman" pitchFamily="34" charset="-120"/>
                        </a:rPr>
                        <a:t>hurn</a:t>
                      </a:r>
                      <a:r>
                        <a:rPr lang="en-US" sz="1600" dirty="0">
                          <a:solidFill>
                            <a:srgbClr val="1A2B45"/>
                          </a:solidFill>
                          <a:latin typeface="Times New Roman" pitchFamily="34" charset="0"/>
                          <a:ea typeface="Times New Roman" pitchFamily="34" charset="-122"/>
                          <a:cs typeface="Times New Roman" pitchFamily="34" charset="-120"/>
                        </a:rPr>
                        <a:t> 70 ngày dùng chung cho mọi khách</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Khách mua mỗi 15 ngày và mỗi 120 ngày bị đánh giá cùng ngưỡng</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Ngưỡng cá nhân hoá theo AvgGapDays (hướng mở rộng)</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2</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P75 (70 ngày) tính trên toàn bộ dữ liệu, gồm cả giai đoạn </a:t>
                      </a:r>
                      <a:r>
                        <a:rPr lang="en-US" sz="1600" dirty="0" err="1">
                          <a:solidFill>
                            <a:srgbClr val="1A2B45"/>
                          </a:solidFill>
                          <a:latin typeface="Times New Roman" pitchFamily="34" charset="0"/>
                          <a:ea typeface="Times New Roman" pitchFamily="34" charset="-122"/>
                          <a:cs typeface="Times New Roman" pitchFamily="34" charset="-120"/>
                        </a:rPr>
                        <a:t>sau</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TRAIN</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Rủi ro rò rỉ nhẹ trong việc chọn tham số</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Tính lại P75 chỉ từ dữ </a:t>
                      </a:r>
                      <a:r>
                        <a:rPr lang="en-US" sz="1600" dirty="0" err="1">
                          <a:solidFill>
                            <a:srgbClr val="1A2B45"/>
                          </a:solidFill>
                          <a:latin typeface="Times New Roman" pitchFamily="34" charset="0"/>
                          <a:ea typeface="Times New Roman" pitchFamily="34" charset="-122"/>
                          <a:cs typeface="Times New Roman" pitchFamily="34" charset="-120"/>
                        </a:rPr>
                        <a:t>liệu</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TRAIN</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extLst>
                  <a:ext uri="{0D108BD9-81ED-4DB2-BD59-A6C34878D82A}">
                    <a16:rowId xmlns:a16="http://schemas.microsoft.com/office/drawing/2014/main" val="10002"/>
                  </a:ext>
                </a:extLst>
              </a:tr>
              <a:tr h="640080">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3</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Chưa tinh chỉnh siêu tham số; </a:t>
                      </a:r>
                      <a:r>
                        <a:rPr lang="en-US" sz="1600" dirty="0" err="1">
                          <a:solidFill>
                            <a:srgbClr val="1A2B45"/>
                          </a:solidFill>
                          <a:latin typeface="Times New Roman" pitchFamily="34" charset="0"/>
                          <a:ea typeface="Times New Roman" pitchFamily="34" charset="-122"/>
                          <a:cs typeface="Times New Roman" pitchFamily="34" charset="-120"/>
                        </a:rPr>
                        <a:t>chưa</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C</a:t>
                      </a:r>
                      <a:r>
                        <a:rPr lang="en-US" sz="1600" dirty="0">
                          <a:solidFill>
                            <a:srgbClr val="1A2B45"/>
                          </a:solidFill>
                          <a:latin typeface="Times New Roman" pitchFamily="34" charset="0"/>
                          <a:ea typeface="Times New Roman" pitchFamily="34" charset="-122"/>
                          <a:cs typeface="Times New Roman" pitchFamily="34" charset="-120"/>
                        </a:rPr>
                        <a:t>ross</a:t>
                      </a:r>
                      <a:r>
                        <a:rPr lang="vi-VN" sz="1600" dirty="0">
                          <a:solidFill>
                            <a:srgbClr val="1A2B45"/>
                          </a:solidFill>
                          <a:latin typeface="Times New Roman" pitchFamily="34" charset="0"/>
                          <a:ea typeface="Times New Roman" pitchFamily="34" charset="-122"/>
                          <a:cs typeface="Times New Roman" pitchFamily="34" charset="-120"/>
                        </a:rPr>
                        <a:t> V</a:t>
                      </a:r>
                      <a:r>
                        <a:rPr lang="en-US" sz="1600" dirty="0" err="1">
                          <a:solidFill>
                            <a:srgbClr val="1A2B45"/>
                          </a:solidFill>
                          <a:latin typeface="Times New Roman" pitchFamily="34" charset="0"/>
                          <a:ea typeface="Times New Roman" pitchFamily="34" charset="-122"/>
                          <a:cs typeface="Times New Roman" pitchFamily="34" charset="-120"/>
                        </a:rPr>
                        <a:t>alidation</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Kết quả có thể chưa tối ưu; chưa đo được độ ổn định</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GridSearch / RandomizedSearch + CV </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4</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Luật MBA khai phá trên toàn bộ giao dịch, chưa gắn phân khúc</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Chưa biết luật nào hiệu quả hơn theo từng phân khúc</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MBA riêng cho từng </a:t>
                      </a:r>
                      <a:r>
                        <a:rPr lang="en-US" sz="1600" dirty="0" err="1">
                          <a:solidFill>
                            <a:srgbClr val="1A2B45"/>
                          </a:solidFill>
                          <a:latin typeface="Times New Roman" pitchFamily="34" charset="0"/>
                          <a:ea typeface="Times New Roman" pitchFamily="34" charset="-122"/>
                          <a:cs typeface="Times New Roman" pitchFamily="34" charset="-120"/>
                        </a:rPr>
                        <a:t>phân</a:t>
                      </a:r>
                      <a:r>
                        <a:rPr lang="en-US" sz="1600" dirty="0">
                          <a:solidFill>
                            <a:srgbClr val="1A2B45"/>
                          </a:solidFill>
                          <a:latin typeface="Times New Roman" pitchFamily="34" charset="0"/>
                          <a:ea typeface="Times New Roman" pitchFamily="34" charset="-122"/>
                          <a:cs typeface="Times New Roman" pitchFamily="34" charset="-120"/>
                        </a:rPr>
                        <a:t> </a:t>
                      </a:r>
                      <a:r>
                        <a:rPr lang="en-US" sz="1600" dirty="0" err="1">
                          <a:solidFill>
                            <a:srgbClr val="1A2B45"/>
                          </a:solidFill>
                          <a:latin typeface="Times New Roman" pitchFamily="34" charset="0"/>
                          <a:ea typeface="Times New Roman" pitchFamily="34" charset="-122"/>
                          <a:cs typeface="Times New Roman" pitchFamily="34" charset="-120"/>
                        </a:rPr>
                        <a:t>khúc</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extLst>
                  <a:ext uri="{0D108BD9-81ED-4DB2-BD59-A6C34878D82A}">
                    <a16:rowId xmlns:a16="http://schemas.microsoft.com/office/drawing/2014/main" val="10004"/>
                  </a:ext>
                </a:extLst>
              </a:tr>
              <a:tr h="640080">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5</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28.6% khách chỉ mua 1 lần; 91.94% dữ liệu là UK</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Hành vi khách 1 lần khác biệt; khó tổng quát hoá ngoài UK</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Bài </a:t>
                      </a:r>
                      <a:r>
                        <a:rPr lang="en-US" sz="1600" dirty="0" err="1">
                          <a:solidFill>
                            <a:srgbClr val="1A2B45"/>
                          </a:solidFill>
                          <a:latin typeface="Times New Roman" pitchFamily="34" charset="0"/>
                          <a:ea typeface="Times New Roman" pitchFamily="34" charset="-122"/>
                          <a:cs typeface="Times New Roman" pitchFamily="34" charset="-120"/>
                        </a:rPr>
                        <a:t>toán</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R</a:t>
                      </a:r>
                      <a:r>
                        <a:rPr lang="en-US" sz="1600" dirty="0" err="1">
                          <a:solidFill>
                            <a:srgbClr val="1A2B45"/>
                          </a:solidFill>
                          <a:latin typeface="Times New Roman" pitchFamily="34" charset="0"/>
                          <a:ea typeface="Times New Roman" pitchFamily="34" charset="-122"/>
                          <a:cs typeface="Times New Roman" pitchFamily="34" charset="-120"/>
                        </a:rPr>
                        <a:t>epeat</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P</a:t>
                      </a:r>
                      <a:r>
                        <a:rPr lang="en-US" sz="1600" dirty="0" err="1">
                          <a:solidFill>
                            <a:srgbClr val="1A2B45"/>
                          </a:solidFill>
                          <a:latin typeface="Times New Roman" pitchFamily="34" charset="0"/>
                          <a:ea typeface="Times New Roman" pitchFamily="34" charset="-122"/>
                          <a:cs typeface="Times New Roman" pitchFamily="34" charset="-120"/>
                        </a:rPr>
                        <a:t>urchase</a:t>
                      </a:r>
                      <a:r>
                        <a:rPr lang="en-US" sz="1600" dirty="0">
                          <a:solidFill>
                            <a:srgbClr val="1A2B45"/>
                          </a:solidFill>
                          <a:latin typeface="Times New Roman" pitchFamily="34" charset="0"/>
                          <a:ea typeface="Times New Roman" pitchFamily="34" charset="-122"/>
                          <a:cs typeface="Times New Roman" pitchFamily="34" charset="-120"/>
                        </a:rPr>
                        <a:t> riêng; phân tích theo quốc gia</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6</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Cửa sổ </a:t>
                      </a:r>
                      <a:r>
                        <a:rPr lang="en-US" sz="1600" dirty="0" err="1">
                          <a:solidFill>
                            <a:srgbClr val="1A2B45"/>
                          </a:solidFill>
                          <a:latin typeface="Times New Roman" pitchFamily="34" charset="0"/>
                          <a:ea typeface="Times New Roman" pitchFamily="34" charset="-122"/>
                          <a:cs typeface="Times New Roman" pitchFamily="34" charset="-120"/>
                        </a:rPr>
                        <a:t>nhãn</a:t>
                      </a:r>
                      <a:r>
                        <a:rPr lang="en-US" sz="1600" dirty="0">
                          <a:solidFill>
                            <a:srgbClr val="1A2B45"/>
                          </a:solidFill>
                          <a:latin typeface="Times New Roman" pitchFamily="34" charset="0"/>
                          <a:ea typeface="Times New Roman" pitchFamily="34" charset="-122"/>
                          <a:cs typeface="Times New Roman" pitchFamily="34" charset="-120"/>
                        </a:rPr>
                        <a:t> </a:t>
                      </a:r>
                      <a:r>
                        <a:rPr lang="vi-VN" sz="1600" dirty="0">
                          <a:solidFill>
                            <a:srgbClr val="1A2B45"/>
                          </a:solidFill>
                          <a:latin typeface="Times New Roman" pitchFamily="34" charset="0"/>
                          <a:ea typeface="Times New Roman" pitchFamily="34" charset="-122"/>
                          <a:cs typeface="Times New Roman" pitchFamily="34" charset="-120"/>
                        </a:rPr>
                        <a:t>TEST</a:t>
                      </a:r>
                      <a:r>
                        <a:rPr lang="en-US" sz="1600" dirty="0">
                          <a:solidFill>
                            <a:srgbClr val="1A2B45"/>
                          </a:solidFill>
                          <a:latin typeface="Times New Roman" pitchFamily="34" charset="0"/>
                          <a:ea typeface="Times New Roman" pitchFamily="34" charset="-122"/>
                          <a:cs typeface="Times New Roman" pitchFamily="34" charset="-120"/>
                        </a:rPr>
                        <a:t> kết thúc đúng ngày cuối dữ liệu</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Chưa kiểm chứng trên giai đoạn xa hơn</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tc>
                  <a:txBody>
                    <a:bodyPr/>
                    <a:lstStyle/>
                    <a:p>
                      <a:pPr marL="0" indent="0" algn="l">
                        <a:buNone/>
                      </a:pPr>
                      <a:r>
                        <a:rPr lang="en-US" sz="1600" dirty="0">
                          <a:solidFill>
                            <a:srgbClr val="1A2B45"/>
                          </a:solidFill>
                          <a:latin typeface="Times New Roman" pitchFamily="34" charset="0"/>
                          <a:ea typeface="Times New Roman" pitchFamily="34" charset="-122"/>
                          <a:cs typeface="Times New Roman" pitchFamily="34" charset="-120"/>
                        </a:rPr>
                        <a:t>Ghi nhận là giới hạn của dữ liệu</a:t>
                      </a:r>
                      <a:endParaRPr lang="en-US" sz="1600" dirty="0">
                        <a:latin typeface="Times New Roman" charset="0"/>
                        <a:ea typeface="Times New Roman" charset="0"/>
                        <a:cs typeface="Times New Roman" charset="0"/>
                      </a:endParaRPr>
                    </a:p>
                  </a:txBody>
                  <a:tcPr marL="73152" marR="73152"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9FF"/>
                    </a:solidFill>
                  </a:tcPr>
                </a:tc>
                <a:extLst>
                  <a:ext uri="{0D108BD9-81ED-4DB2-BD59-A6C34878D82A}">
                    <a16:rowId xmlns:a16="http://schemas.microsoft.com/office/drawing/2014/main" val="10006"/>
                  </a:ext>
                </a:extLst>
              </a:tr>
            </a:tbl>
          </a:graphicData>
        </a:graphic>
      </p:graphicFrame>
      <p:sp>
        <p:nvSpPr>
          <p:cNvPr id="7" name="Text 2">
            <a:extLst>
              <a:ext uri="{FF2B5EF4-FFF2-40B4-BE49-F238E27FC236}">
                <a16:creationId xmlns:a16="http://schemas.microsoft.com/office/drawing/2014/main" id="{7883FE21-9C80-34E4-B62C-BD08FF94AAB6}"/>
              </a:ext>
            </a:extLst>
          </p:cNvPr>
          <p:cNvSpPr txBox="1"/>
          <p:nvPr/>
        </p:nvSpPr>
        <p:spPr>
          <a:xfrm>
            <a:off x="552771" y="6329266"/>
            <a:ext cx="8229600" cy="500741"/>
          </a:xfrm>
          <a:prstGeom prst="rect">
            <a:avLst/>
          </a:prstGeom>
          <a:noFill/>
          <a:ln/>
        </p:spPr>
        <p:txBody>
          <a:bodyPr wrap="square" lIns="0" tIns="0" rIns="0" bIns="0" rtlCol="0" anchor="ctr"/>
          <a:lstStyle/>
          <a:p>
            <a:pPr marL="0" indent="0">
              <a:buNone/>
            </a:pPr>
            <a:r>
              <a:rPr lang="en-US" sz="1300" dirty="0">
                <a:solidFill>
                  <a:srgbClr val="6B7280"/>
                </a:solidFill>
                <a:latin typeface="Times New Roman" panose="02020603050405020304" pitchFamily="18" charset="0"/>
                <a:ea typeface="Calibri" pitchFamily="34" charset="-122"/>
                <a:cs typeface="Times New Roman" panose="02020603050405020304" pitchFamily="18" charset="0"/>
              </a:rPr>
              <a:t>Customer Analytics for E-Commerce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Shape 0"/>
          <p:cNvSpPr/>
          <p:nvPr/>
        </p:nvSpPr>
        <p:spPr>
          <a:xfrm>
            <a:off x="8503920" y="-1463040"/>
            <a:ext cx="5669280" cy="5669280"/>
          </a:xfrm>
          <a:prstGeom prst="ellipse">
            <a:avLst/>
          </a:prstGeom>
          <a:solidFill>
            <a:srgbClr val="1F6FEB">
              <a:alpha val="22000"/>
            </a:srgbClr>
          </a:solidFill>
          <a:ln w="12700">
            <a:solidFill>
              <a:srgbClr val="1F6FEB"/>
            </a:solidFill>
            <a:prstDash val="solid"/>
          </a:ln>
        </p:spPr>
      </p:sp>
      <p:sp>
        <p:nvSpPr>
          <p:cNvPr id="3" name="Shape 1"/>
          <p:cNvSpPr/>
          <p:nvPr/>
        </p:nvSpPr>
        <p:spPr>
          <a:xfrm>
            <a:off x="-1371600" y="4206240"/>
            <a:ext cx="4206240" cy="4206240"/>
          </a:xfrm>
          <a:prstGeom prst="ellipse">
            <a:avLst/>
          </a:prstGeom>
          <a:solidFill>
            <a:srgbClr val="3B82C4">
              <a:alpha val="18000"/>
            </a:srgbClr>
          </a:solidFill>
          <a:ln w="12700">
            <a:solidFill>
              <a:srgbClr val="3B82C4"/>
            </a:solidFill>
            <a:prstDash val="solid"/>
          </a:ln>
        </p:spPr>
      </p:sp>
      <p:sp>
        <p:nvSpPr>
          <p:cNvPr id="4" name="Text 2"/>
          <p:cNvSpPr txBox="1"/>
          <p:nvPr/>
        </p:nvSpPr>
        <p:spPr>
          <a:xfrm>
            <a:off x="371475" y="2726055"/>
            <a:ext cx="11239500" cy="1198245"/>
          </a:xfrm>
          <a:prstGeom prst="rect">
            <a:avLst/>
          </a:prstGeom>
          <a:noFill/>
          <a:ln/>
        </p:spPr>
        <p:txBody>
          <a:bodyPr wrap="square" lIns="0" tIns="0" rIns="0" bIns="0" rtlCol="0" anchor="t"/>
          <a:lstStyle/>
          <a:p>
            <a:pPr marL="0" indent="0">
              <a:buNone/>
            </a:pPr>
            <a:r>
              <a:rPr lang="en-US" sz="5000" b="1" dirty="0">
                <a:latin typeface="Times New Roman" panose="02020603050405020304" pitchFamily="18" charset="0"/>
                <a:ea typeface="Times New Roman" pitchFamily="34" charset="-122"/>
                <a:cs typeface="Times New Roman" panose="02020603050405020304" pitchFamily="18" charset="0"/>
              </a:rPr>
              <a:t>Xin cảm </a:t>
            </a:r>
            <a:r>
              <a:rPr lang="en-US" sz="5000" b="1" dirty="0" err="1">
                <a:latin typeface="Times New Roman" panose="02020603050405020304" pitchFamily="18" charset="0"/>
                <a:ea typeface="Times New Roman" pitchFamily="34" charset="-122"/>
                <a:cs typeface="Times New Roman" panose="02020603050405020304" pitchFamily="18" charset="0"/>
              </a:rPr>
              <a:t>ơn</a:t>
            </a:r>
            <a:r>
              <a:rPr lang="en-US" sz="5000" b="1" dirty="0">
                <a:latin typeface="Times New Roman" panose="02020603050405020304" pitchFamily="18" charset="0"/>
                <a:ea typeface="Times New Roman" pitchFamily="34" charset="-122"/>
                <a:cs typeface="Times New Roman" panose="02020603050405020304" pitchFamily="18" charset="0"/>
              </a:rPr>
              <a:t> </a:t>
            </a:r>
            <a:r>
              <a:rPr lang="en-US" sz="5000" b="1" dirty="0" err="1">
                <a:latin typeface="Times New Roman" panose="02020603050405020304" pitchFamily="18" charset="0"/>
                <a:ea typeface="Times New Roman" pitchFamily="34" charset="-122"/>
                <a:cs typeface="Times New Roman" panose="02020603050405020304" pitchFamily="18" charset="0"/>
              </a:rPr>
              <a:t>thầy</a:t>
            </a:r>
            <a:r>
              <a:rPr lang="vi-VN" sz="5000" dirty="0">
                <a:latin typeface="Times New Roman" panose="02020603050405020304" pitchFamily="18" charset="0"/>
                <a:cs typeface="Times New Roman" panose="02020603050405020304" pitchFamily="18" charset="0"/>
              </a:rPr>
              <a:t> </a:t>
            </a:r>
            <a:r>
              <a:rPr lang="en-US" sz="5000" b="1" dirty="0" err="1">
                <a:latin typeface="Times New Roman" panose="02020603050405020304" pitchFamily="18" charset="0"/>
                <a:ea typeface="Times New Roman" pitchFamily="34" charset="-122"/>
                <a:cs typeface="Times New Roman" panose="02020603050405020304" pitchFamily="18" charset="0"/>
              </a:rPr>
              <a:t>và</a:t>
            </a:r>
            <a:r>
              <a:rPr lang="en-US" sz="5000" b="1" dirty="0">
                <a:latin typeface="Times New Roman" panose="02020603050405020304" pitchFamily="18" charset="0"/>
                <a:ea typeface="Times New Roman" pitchFamily="34" charset="-122"/>
                <a:cs typeface="Times New Roman" panose="02020603050405020304" pitchFamily="18" charset="0"/>
              </a:rPr>
              <a:t> các bạn đã lắng nghe</a:t>
            </a:r>
            <a:endParaRPr lang="en-US" sz="5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TotalTime>
  <Words>9767</Words>
  <Application>Microsoft Office PowerPoint</Application>
  <PresentationFormat>Widescreen</PresentationFormat>
  <Paragraphs>923</Paragraphs>
  <Slides>33</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Cambria</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TDTU - Data Mining Cao hoc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Nhom Track B - IT701220</dc:creator>
  <cp:lastModifiedBy>Lilith Litcht</cp:lastModifiedBy>
  <cp:revision>24</cp:revision>
  <dcterms:created xsi:type="dcterms:W3CDTF">2026-09-26T13:30:12Z</dcterms:created>
  <dcterms:modified xsi:type="dcterms:W3CDTF">2026-09-27T13:45:20Z</dcterms:modified>
</cp:coreProperties>
</file>